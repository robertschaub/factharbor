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3cef3cf4942ea" /><Relationship Type="http://schemas.openxmlformats.org/officeDocument/2006/relationships/extended-properties" Target="/docProps/app.xml" Id="R7fa76c66d6024521" /><Relationship Type="http://schemas.openxmlformats.org/officeDocument/2006/relationships/officeDocument" Target="/ppt/presentation.xml" Id="R4c4947c1fc86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1186e1fc1d4d48"/>
  </p:sldMasterIdLst>
  <p:notesMasterIdLst>
    <p:notesMasterId xmlns:r="http://schemas.openxmlformats.org/officeDocument/2006/relationships" r:id="R62d52180c6004977"/>
  </p:notesMasterIdLst>
  <p:sldIdLst>
    <p:sldId xmlns:r="http://schemas.openxmlformats.org/officeDocument/2006/relationships" id="256" r:id="Rac58675aec3d4ccc"/>
    <p:sldId xmlns:r="http://schemas.openxmlformats.org/officeDocument/2006/relationships" id="257" r:id="Rf9c7be41a69f44a6"/>
    <p:sldId xmlns:r="http://schemas.openxmlformats.org/officeDocument/2006/relationships" id="258" r:id="R82cd1c0cd3894de7"/>
    <p:sldId xmlns:r="http://schemas.openxmlformats.org/officeDocument/2006/relationships" id="259" r:id="R41ab95226bc044f6"/>
    <p:sldId xmlns:r="http://schemas.openxmlformats.org/officeDocument/2006/relationships" id="260" r:id="Rfbe01694d91c403b"/>
    <p:sldId xmlns:r="http://schemas.openxmlformats.org/officeDocument/2006/relationships" id="261" r:id="R3aefbf3d175f46da"/>
    <p:sldId xmlns:r="http://schemas.openxmlformats.org/officeDocument/2006/relationships" id="262" r:id="R84fce20b0b5242ee"/>
    <p:sldId xmlns:r="http://schemas.openxmlformats.org/officeDocument/2006/relationships" id="263" r:id="R458adc5517164b3d"/>
    <p:sldId xmlns:r="http://schemas.openxmlformats.org/officeDocument/2006/relationships" id="264" r:id="Re9b09cc7593f491a"/>
    <p:sldId xmlns:r="http://schemas.openxmlformats.org/officeDocument/2006/relationships" id="265" r:id="R38474f099dbc4936"/>
    <p:sldId xmlns:r="http://schemas.openxmlformats.org/officeDocument/2006/relationships" id="266" r:id="R07da14c5a89c40d9"/>
    <p:sldId xmlns:r="http://schemas.openxmlformats.org/officeDocument/2006/relationships" id="267" r:id="Ra29ce00c84304fa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186e1fc1d4d48" /><Relationship Type="http://schemas.openxmlformats.org/officeDocument/2006/relationships/theme" Target="/ppt/theme/theme1.xml" Id="Ra24c242764bf4b38" /><Relationship Type="http://schemas.openxmlformats.org/officeDocument/2006/relationships/notesMaster" Target="/ppt/notesMasters/notesMaster1.xml" Id="R62d52180c6004977" /><Relationship Type="http://schemas.openxmlformats.org/officeDocument/2006/relationships/presProps" Target="/ppt/presProps.xml" Id="R72f619549aa1424b" /><Relationship Type="http://schemas.openxmlformats.org/officeDocument/2006/relationships/viewProps" Target="/ppt/viewProps.xml" Id="Rdc7fc3dc88bf44b1" /><Relationship Type="http://schemas.openxmlformats.org/officeDocument/2006/relationships/tableStyles" Target="/ppt/tableStyles.xml" Id="R271a74abdff7466a" /><Relationship Type="http://schemas.openxmlformats.org/officeDocument/2006/relationships/slide" Target="/ppt/slides/slide1.xml" Id="Rac58675aec3d4ccc" /><Relationship Type="http://schemas.openxmlformats.org/officeDocument/2006/relationships/slide" Target="/ppt/slides/slide2.xml" Id="Rf9c7be41a69f44a6" /><Relationship Type="http://schemas.openxmlformats.org/officeDocument/2006/relationships/slide" Target="/ppt/slides/slide3.xml" Id="R82cd1c0cd3894de7" /><Relationship Type="http://schemas.openxmlformats.org/officeDocument/2006/relationships/slide" Target="/ppt/slides/slide4.xml" Id="R41ab95226bc044f6" /><Relationship Type="http://schemas.openxmlformats.org/officeDocument/2006/relationships/slide" Target="/ppt/slides/slide5.xml" Id="Rfbe01694d91c403b" /><Relationship Type="http://schemas.openxmlformats.org/officeDocument/2006/relationships/slide" Target="/ppt/slides/slide6.xml" Id="R3aefbf3d175f46da" /><Relationship Type="http://schemas.openxmlformats.org/officeDocument/2006/relationships/slide" Target="/ppt/slides/slide7.xml" Id="R84fce20b0b5242ee" /><Relationship Type="http://schemas.openxmlformats.org/officeDocument/2006/relationships/slide" Target="/ppt/slides/slide8.xml" Id="R458adc5517164b3d" /><Relationship Type="http://schemas.openxmlformats.org/officeDocument/2006/relationships/slide" Target="/ppt/slides/slide9.xml" Id="Re9b09cc7593f491a" /><Relationship Type="http://schemas.openxmlformats.org/officeDocument/2006/relationships/slide" Target="/ppt/slides/slide10.xml" Id="R38474f099dbc4936" /><Relationship Type="http://schemas.openxmlformats.org/officeDocument/2006/relationships/slide" Target="/ppt/slides/slide11.xml" Id="R07da14c5a89c40d9" /><Relationship Type="http://schemas.openxmlformats.org/officeDocument/2006/relationships/slide" Target="/ppt/slides/slide12.xml" Id="Ra29ce00c84304f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2b3a38e4f3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55ce2759b4d75" /><Relationship Type="http://schemas.openxmlformats.org/officeDocument/2006/relationships/notesMaster" Target="/ppt/notesMasters/notesMaster1.xml" Id="Rd2cdd8fc0461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43921fe594b47" /><Relationship Type="http://schemas.openxmlformats.org/officeDocument/2006/relationships/notesMaster" Target="/ppt/notesMasters/notesMaster1.xml" Id="R722c5200d7b34c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901ac2fad45d2" /><Relationship Type="http://schemas.openxmlformats.org/officeDocument/2006/relationships/notesMaster" Target="/ppt/notesMasters/notesMaster1.xml" Id="Rb60218c22a9e46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953f1ae084af9" /><Relationship Type="http://schemas.openxmlformats.org/officeDocument/2006/relationships/notesMaster" Target="/ppt/notesMasters/notesMaster1.xml" Id="R6427051675714a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513c681de41ee" /><Relationship Type="http://schemas.openxmlformats.org/officeDocument/2006/relationships/notesMaster" Target="/ppt/notesMasters/notesMaster1.xml" Id="Rb1137ba40e7643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f14b6de59f47ad" /><Relationship Type="http://schemas.openxmlformats.org/officeDocument/2006/relationships/notesMaster" Target="/ppt/notesMasters/notesMaster1.xml" Id="R9fcb764f762c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6f6ad6c518409f" /><Relationship Type="http://schemas.openxmlformats.org/officeDocument/2006/relationships/notesMaster" Target="/ppt/notesMasters/notesMaster1.xml" Id="R1e1c42e99d4d43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5997c5968e416d" /><Relationship Type="http://schemas.openxmlformats.org/officeDocument/2006/relationships/notesMaster" Target="/ppt/notesMasters/notesMaster1.xml" Id="R36cd3dce747d4d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34746e19a54116" /><Relationship Type="http://schemas.openxmlformats.org/officeDocument/2006/relationships/notesMaster" Target="/ppt/notesMasters/notesMaster1.xml" Id="Rc65c168d14fd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f6adc76a8940d6" /><Relationship Type="http://schemas.openxmlformats.org/officeDocument/2006/relationships/notesMaster" Target="/ppt/notesMasters/notesMaster1.xml" Id="Rffa2248038784b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2ae1cab9ae4358" /><Relationship Type="http://schemas.openxmlformats.org/officeDocument/2006/relationships/notesMaster" Target="/ppt/notesMasters/notesMaster1.xml" Id="R78222ec864084a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0a5799c5264320" /><Relationship Type="http://schemas.openxmlformats.org/officeDocument/2006/relationships/notesMaster" Target="/ppt/notesMasters/notesMaster1.xml" Id="R8b0b7683077243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871be4bb449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459b089caf4a95" /><Relationship Type="http://schemas.openxmlformats.org/officeDocument/2006/relationships/slideLayout" Target="/ppt/slideLayouts/slideLayout2.xml" Id="R493f246260654b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3f246260654b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3aa3b8c2a49f9" /><Relationship Type="http://schemas.openxmlformats.org/officeDocument/2006/relationships/notesSlide" Target="/ppt/notesSlides/notesSlide1.xml" Id="R7626ffa036214e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c5fd68936149ae" /><Relationship Type="http://schemas.openxmlformats.org/officeDocument/2006/relationships/notesSlide" Target="/ppt/notesSlides/notesSlide2.xml" Id="R0383d6ae8dbf4c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b1ffc2a6c44ce7" /><Relationship Type="http://schemas.openxmlformats.org/officeDocument/2006/relationships/notesSlide" Target="/ppt/notesSlides/notesSlide3.xml" Id="R275ed21e0c6d4c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9b8d60c5e9433f" /><Relationship Type="http://schemas.openxmlformats.org/officeDocument/2006/relationships/notesSlide" Target="/ppt/notesSlides/notesSlide4.xml" Id="R004ab5e48f4f4b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b49845b1914ba9" /><Relationship Type="http://schemas.openxmlformats.org/officeDocument/2006/relationships/notesSlide" Target="/ppt/notesSlides/notesSlide5.xml" Id="R5db2e35489fe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f7225a0bc2470f" /><Relationship Type="http://schemas.openxmlformats.org/officeDocument/2006/relationships/notesSlide" Target="/ppt/notesSlides/notesSlide6.xml" Id="Rf3b620d0eafa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bfc50ca732412a" /><Relationship Type="http://schemas.openxmlformats.org/officeDocument/2006/relationships/notesSlide" Target="/ppt/notesSlides/notesSlide7.xml" Id="Raefee7d2fafa4c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2fe75786d41fd" /><Relationship Type="http://schemas.openxmlformats.org/officeDocument/2006/relationships/notesSlide" Target="/ppt/notesSlides/notesSlide8.xml" Id="Rbdd1444e0f0a49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f4a7c0952348cd" /><Relationship Type="http://schemas.openxmlformats.org/officeDocument/2006/relationships/notesSlide" Target="/ppt/notesSlides/notesSlide9.xml" Id="R6246effee9804e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114e98da1e40cb" /><Relationship Type="http://schemas.openxmlformats.org/officeDocument/2006/relationships/notesSlide" Target="/ppt/notesSlides/notesSlide10.xml" Id="R46ccbb7dd455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e68a76f4f34abd" /><Relationship Type="http://schemas.openxmlformats.org/officeDocument/2006/relationships/notesSlide" Target="/ppt/notesSlides/notesSlide11.xml" Id="R12bfef9da6df44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45fcce5fda4340" /><Relationship Type="http://schemas.openxmlformats.org/officeDocument/2006/relationships/notesSlide" Target="/ppt/notesSlides/notesSlide12.xml" Id="Rc5ae31b108824d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ckground">
            <a:extLst xmlns:a="http://schemas.openxmlformats.org/drawingml/2006/main">
              <a:ext uri="{FF2B5EF4-FFF2-40B4-BE49-F238E27FC236}">
                <a16:creationId xmlns:a16="http://schemas.microsoft.com/office/drawing/2014/main" id="{6300E24A-4AD1-4741-83AD-FB724F8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cover-blue-plane">
            <a:extLst xmlns:a="http://schemas.openxmlformats.org/drawingml/2006/main">
              <a:ext uri="{FF2B5EF4-FFF2-40B4-BE49-F238E27FC236}">
                <a16:creationId xmlns:a16="http://schemas.microsoft.com/office/drawing/2014/main" id="{504C3C57-0382-4CD5-968C-C3E2046B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</p:spPr>
      </p:sp>
      <p:sp>
        <p:nvSpPr>
          <p:cNvPr id="3" name="cover-teal-bar">
            <a:extLst xmlns:a="http://schemas.openxmlformats.org/drawingml/2006/main">
              <a:ext uri="{FF2B5EF4-FFF2-40B4-BE49-F238E27FC236}">
                <a16:creationId xmlns:a16="http://schemas.microsoft.com/office/drawing/2014/main" id="{04D69DCF-5F76-4976-BF41-56FB327B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3"/>
          </a:solidFill>
        </p:spPr>
      </p:sp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BDEC454E-2A25-4827-949F-B362ADC5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556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FACTHARBOR</a:t>
            </a:r>
          </a:p>
        </p:txBody>
      </p:sp>
      <p:sp>
        <p:nvSpPr>
          <p:cNvPr id="5" name="cover-status-1">
            <a:extLst xmlns:a="http://schemas.openxmlformats.org/drawingml/2006/main">
              <a:ext uri="{FF2B5EF4-FFF2-40B4-BE49-F238E27FC236}">
                <a16:creationId xmlns:a16="http://schemas.microsoft.com/office/drawing/2014/main" id="{D939D0A7-56E8-4CF0-A48B-9B000042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556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Proceed</a:t>
            </a:r>
          </a:p>
        </p:txBody>
      </p:sp>
      <p:sp>
        <p:nvSpPr>
          <p:cNvPr id="6" name="cover-status-2">
            <a:extLst xmlns:a="http://schemas.openxmlformats.org/drawingml/2006/main">
              <a:ext uri="{FF2B5EF4-FFF2-40B4-BE49-F238E27FC236}">
                <a16:creationId xmlns:a16="http://schemas.microsoft.com/office/drawing/2014/main" id="{B7228954-49BE-41B2-9F53-6B738F49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5562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FD7D2"/>
                </a:solidFill>
              </a:defRPr>
            </a:pPr>
            <a:r>
              <a:rPr sz="3150" b="1">
                <a:solidFill>
                  <a:srgbClr val="BFD7D2"/>
                </a:solidFill>
              </a:rPr>
              <a:t>Hold cutover</a:t>
            </a:r>
          </a:p>
        </p:txBody>
      </p:sp>
      <p:sp>
        <p:nvSpPr>
          <p:cNvPr id="7" name="cover-status-3">
            <a:extLst xmlns:a="http://schemas.openxmlformats.org/drawingml/2006/main">
              <a:ext uri="{FF2B5EF4-FFF2-40B4-BE49-F238E27FC236}">
                <a16:creationId xmlns:a16="http://schemas.microsoft.com/office/drawing/2014/main" id="{B973868A-987F-40DD-A64D-7ABF01D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5562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FD7D2"/>
                </a:solidFill>
              </a:defRPr>
            </a:pPr>
            <a:r>
              <a:rPr sz="3150" b="1">
                <a:solidFill>
                  <a:srgbClr val="BFD7D2"/>
                </a:solidFill>
              </a:rPr>
              <a:t>Run the gates</a:t>
            </a:r>
          </a:p>
        </p:txBody>
      </p:sp>
      <p:sp>
        <p:nvSpPr>
          <p:cNvPr id="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EA4F4F1-362C-4FEE-9EC1-D3077A9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620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3"/>
          </a:solidFill>
          <a:ln xmlns:a="http://schemas.openxmlformats.org/drawingml/2006/main" w="0">
            <a:solidFill>
              <a:srgbClr val="2F8F83"/>
            </a:solidFill>
            <a:prstDash val="solid"/>
          </a:ln>
        </p:spPr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0518904-7A4C-423E-9414-AB850681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43000"/>
            <a:ext cx="10344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17202A"/>
                </a:solidFill>
              </a:defRPr>
            </a:pPr>
            <a:r>
              <a:rPr sz="7800" b="1">
                <a:solidFill>
                  <a:srgbClr val="17202A"/>
                </a:solidFill>
              </a:rPr>
              <a:t>V2 Pipeline</a:t>
            </a:r>
          </a:p>
        </p:txBody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D90DD4D-39DD-4D1B-B242-EE791246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47950"/>
            <a:ext cx="10344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B59"/>
                </a:solidFill>
              </a:defRPr>
            </a:pPr>
            <a:r>
              <a:rPr sz="4200" b="1">
                <a:solidFill>
                  <a:srgbClr val="183B59"/>
                </a:solidFill>
              </a:rPr>
              <a:t>Leadership Execution Bridge</a:t>
            </a:r>
          </a:p>
        </p:txBody>
      </p:sp>
      <p:sp>
        <p:nvSpPr>
          <p:cNvPr id="11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8ACD108C-B9B6-411C-81D1-02FE0714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88392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>
                <a:solidFill>
                  <a:srgbClr val="536171"/>
                </a:solidFill>
              </a:defRPr>
            </a:pPr>
            <a:r>
              <a:rPr sz="2100">
                <a:solidFill>
                  <a:srgbClr val="536171"/>
                </a:solidFill>
              </a:rPr>
              <a:t>A decision deck that connects architecture intent to the next implementable work orders, control points, and evidence leaders can inspect.</a:t>
            </a:r>
          </a:p>
        </p:txBody>
      </p:sp>
      <p:sp>
        <p:nvSpPr>
          <p:cNvPr id="12" name="cover-date">
            <a:extLst xmlns:a="http://schemas.openxmlformats.org/drawingml/2006/main">
              <a:ext uri="{FF2B5EF4-FFF2-40B4-BE49-F238E27FC236}">
                <a16:creationId xmlns:a16="http://schemas.microsoft.com/office/drawing/2014/main" id="{6855D31B-AFDC-4FAF-9528-330F55E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86300"/>
            <a:ext cx="1034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8096"/>
                </a:solidFill>
              </a:defRPr>
            </a:pPr>
            <a:r>
              <a:rPr sz="1200">
                <a:solidFill>
                  <a:srgbClr val="718096"/>
                </a:solidFill>
              </a:rPr>
              <a:t>Prepared as External Advisor, Senior Architect, and LLM Expert | 2026-05-16</a:t>
            </a:r>
          </a:p>
        </p:txBody>
      </p:sp>
    </p:spTree>
    <p:extLst>
      <p:ext uri="{BB962C8B-B14F-4D97-AF65-F5344CB8AC3E}">
        <p14:creationId xmlns:p14="http://schemas.microsoft.com/office/powerpoint/2010/main" val="8583563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C38159-5148-4F09-91B4-6AB2D01A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47AB9A3-240D-4F60-957C-6D58FF75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LEADERSHIP DECISION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FA4BA5-6040-4A67-9A35-913D32A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Fund the next gates, not a cutover.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14145B2-1FB9-4493-B034-16FA3D3F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3258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V2 is the right architectural direction, but it is still a hidden execution track. The next decision is execution discipline, not launch approval.</a:t>
            </a:r>
          </a:p>
        </p:txBody>
      </p:sp>
      <p:sp>
        <p:nvSpPr>
          <p:cNvPr id="5" name="label-do">
            <a:extLst xmlns:a="http://schemas.openxmlformats.org/drawingml/2006/main">
              <a:ext uri="{FF2B5EF4-FFF2-40B4-BE49-F238E27FC236}">
                <a16:creationId xmlns:a16="http://schemas.microsoft.com/office/drawing/2014/main" id="{2942C6DD-13C4-4BCC-8339-6B51495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09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7C59"/>
                </a:solidFill>
              </a:defRPr>
            </a:pPr>
            <a:r>
              <a:rPr sz="1275" b="1">
                <a:solidFill>
                  <a:srgbClr val="3D7C59"/>
                </a:solidFill>
              </a:rPr>
              <a:t>DO</a:t>
            </a:r>
          </a:p>
        </p:txBody>
      </p:sp>
      <p:sp>
        <p:nvSpPr>
          <p:cNvPr id="6" name="decision-title-DO">
            <a:extLst xmlns:a="http://schemas.openxmlformats.org/drawingml/2006/main">
              <a:ext uri="{FF2B5EF4-FFF2-40B4-BE49-F238E27FC236}">
                <a16:creationId xmlns:a16="http://schemas.microsoft.com/office/drawing/2014/main" id="{12649995-39F7-4CAF-B2B8-955ADC2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3314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Continue V2 as the clean replacement.</a:t>
            </a:r>
          </a:p>
        </p:txBody>
      </p:sp>
      <p:sp>
        <p:nvSpPr>
          <p:cNvPr id="7" name="decision-rule-DO">
            <a:extLst xmlns:a="http://schemas.openxmlformats.org/drawingml/2006/main">
              <a:ext uri="{FF2B5EF4-FFF2-40B4-BE49-F238E27FC236}">
                <a16:creationId xmlns:a16="http://schemas.microsoft.com/office/drawing/2014/main" id="{8B16F3D8-FDC1-408F-B1D3-1F196F7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C59"/>
          </a:solidFill>
          <a:ln xmlns:a="http://schemas.openxmlformats.org/drawingml/2006/main" w="0">
            <a:solidFill>
              <a:srgbClr val="3D7C59"/>
            </a:solidFill>
            <a:prstDash val="solid"/>
          </a:ln>
        </p:spPr>
      </p:sp>
      <p:sp>
        <p:nvSpPr>
          <p:cNvPr id="8" name="decision-copy-DO">
            <a:extLst xmlns:a="http://schemas.openxmlformats.org/drawingml/2006/main">
              <a:ext uri="{FF2B5EF4-FFF2-40B4-BE49-F238E27FC236}">
                <a16:creationId xmlns:a16="http://schemas.microsoft.com/office/drawing/2014/main" id="{38559726-0210-4A56-B746-6A4D2BD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40767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Protect the new pipeline shape and keep V1 in maintenance mode until V2 can prove a full hidden flow.</a:t>
            </a:r>
          </a:p>
        </p:txBody>
      </p:sp>
      <p:sp>
        <p:nvSpPr>
          <p:cNvPr id="9" name="label-hold">
            <a:extLst xmlns:a="http://schemas.openxmlformats.org/drawingml/2006/main">
              <a:ext uri="{FF2B5EF4-FFF2-40B4-BE49-F238E27FC236}">
                <a16:creationId xmlns:a16="http://schemas.microsoft.com/office/drawing/2014/main" id="{CCE95880-FF96-469A-8B38-B9E9CA8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671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4F45"/>
                </a:solidFill>
              </a:defRPr>
            </a:pPr>
            <a:r>
              <a:rPr sz="1275" b="1">
                <a:solidFill>
                  <a:srgbClr val="A84F45"/>
                </a:solidFill>
              </a:rPr>
              <a:t>HOLD</a:t>
            </a:r>
          </a:p>
        </p:txBody>
      </p:sp>
      <p:sp>
        <p:nvSpPr>
          <p:cNvPr id="10" name="decision-title-HOLD">
            <a:extLst xmlns:a="http://schemas.openxmlformats.org/drawingml/2006/main">
              <a:ext uri="{FF2B5EF4-FFF2-40B4-BE49-F238E27FC236}">
                <a16:creationId xmlns:a16="http://schemas.microsoft.com/office/drawing/2014/main" id="{9B4D8EDD-87A0-47D7-A56A-83DCAEB2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29050"/>
            <a:ext cx="3962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Do not expose meaningful V2 output yet.</a:t>
            </a:r>
          </a:p>
        </p:txBody>
      </p:sp>
      <p:sp>
        <p:nvSpPr>
          <p:cNvPr id="11" name="decision-rule-HOLD">
            <a:extLst xmlns:a="http://schemas.openxmlformats.org/drawingml/2006/main">
              <a:ext uri="{FF2B5EF4-FFF2-40B4-BE49-F238E27FC236}">
                <a16:creationId xmlns:a16="http://schemas.microsoft.com/office/drawing/2014/main" id="{9BE144D6-9FC4-4FAF-97EC-FB6CECEC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387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F45"/>
          </a:solidFill>
          <a:ln xmlns:a="http://schemas.openxmlformats.org/drawingml/2006/main" w="0">
            <a:solidFill>
              <a:srgbClr val="A84F45"/>
            </a:solidFill>
            <a:prstDash val="solid"/>
          </a:ln>
        </p:spPr>
      </p:sp>
      <p:sp>
        <p:nvSpPr>
          <p:cNvPr id="12" name="decision-copy-HOLD">
            <a:extLst xmlns:a="http://schemas.openxmlformats.org/drawingml/2006/main">
              <a:ext uri="{FF2B5EF4-FFF2-40B4-BE49-F238E27FC236}">
                <a16:creationId xmlns:a16="http://schemas.microsoft.com/office/drawing/2014/main" id="{0F71E5E5-C83E-46FB-B9DD-D67A826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67300"/>
            <a:ext cx="38100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Current public behavior remains damaged/pre-cutover. Leadership should block any UI/API success semantics until evidence gates pass.</a:t>
            </a:r>
          </a:p>
        </p:txBody>
      </p:sp>
      <p:sp>
        <p:nvSpPr>
          <p:cNvPr id="13" name="label-run">
            <a:extLst xmlns:a="http://schemas.openxmlformats.org/drawingml/2006/main">
              <a:ext uri="{FF2B5EF4-FFF2-40B4-BE49-F238E27FC236}">
                <a16:creationId xmlns:a16="http://schemas.microsoft.com/office/drawing/2014/main" id="{6B496383-B622-4BAC-8313-A8BCA68A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467100"/>
            <a:ext cx="30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B8C"/>
                </a:solidFill>
              </a:defRPr>
            </a:pPr>
            <a:r>
              <a:rPr sz="1275" b="1">
                <a:solidFill>
                  <a:srgbClr val="235B8C"/>
                </a:solidFill>
              </a:rPr>
              <a:t>RUN</a:t>
            </a:r>
          </a:p>
        </p:txBody>
      </p:sp>
      <p:sp>
        <p:nvSpPr>
          <p:cNvPr id="14" name="decision-title-RUN">
            <a:extLst xmlns:a="http://schemas.openxmlformats.org/drawingml/2006/main">
              <a:ext uri="{FF2B5EF4-FFF2-40B4-BE49-F238E27FC236}">
                <a16:creationId xmlns:a16="http://schemas.microsoft.com/office/drawing/2014/main" id="{061C1755-78E8-43F7-8C68-5793673F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829050"/>
            <a:ext cx="3790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Convert approvals into work orders.</a:t>
            </a:r>
          </a:p>
        </p:txBody>
      </p:sp>
      <p:sp>
        <p:nvSpPr>
          <p:cNvPr id="15" name="decision-rule-RUN">
            <a:extLst xmlns:a="http://schemas.openxmlformats.org/drawingml/2006/main">
              <a:ext uri="{FF2B5EF4-FFF2-40B4-BE49-F238E27FC236}">
                <a16:creationId xmlns:a16="http://schemas.microsoft.com/office/drawing/2014/main" id="{81D71838-DD60-4227-9B8B-C963A21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8387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B8C"/>
          </a:solidFill>
          <a:ln xmlns:a="http://schemas.openxmlformats.org/drawingml/2006/main" w="0">
            <a:solidFill>
              <a:srgbClr val="235B8C"/>
            </a:solidFill>
            <a:prstDash val="solid"/>
          </a:ln>
        </p:spPr>
      </p:sp>
      <p:sp>
        <p:nvSpPr>
          <p:cNvPr id="16" name="decision-copy-RUN">
            <a:extLst xmlns:a="http://schemas.openxmlformats.org/drawingml/2006/main">
              <a:ext uri="{FF2B5EF4-FFF2-40B4-BE49-F238E27FC236}">
                <a16:creationId xmlns:a16="http://schemas.microsoft.com/office/drawing/2014/main" id="{0D83F803-6732-4729-9F3F-DC422FC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067300"/>
            <a:ext cx="40195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Each approval needs allowed files, verifiers, stop conditions, and a dated evidence artifact.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C0225C-CE8D-4E37-9609-236A2515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292228-C6E5-46E5-942B-E8C955C6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11509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3F3259-3CC7-4388-98ED-AC40AA93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9DF4374-E333-4DA1-9493-D7B3DD6E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CURRENT STATE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6788A2-843A-4365-8BD9-6D2EDE95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The system has a hidden spine, not a public product path.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8D16FE-B92E-4982-8D86-4C0564FA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496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This is enough to proceed with controlled implementation. It is not enough to claim analysis quality or launch readiness.</a:t>
            </a:r>
          </a:p>
        </p:txBody>
      </p:sp>
      <p:sp>
        <p:nvSpPr>
          <p:cNvPr id="5" name="status-badge-DONE">
            <a:extLst xmlns:a="http://schemas.openxmlformats.org/drawingml/2006/main">
              <a:ext uri="{FF2B5EF4-FFF2-40B4-BE49-F238E27FC236}">
                <a16:creationId xmlns:a16="http://schemas.microsoft.com/office/drawing/2014/main" id="{B5372132-EA6B-453D-9B1E-0674488C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474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D7C59"/>
          </a:solidFill>
        </p:spPr>
      </p:sp>
      <p:sp>
        <p:nvSpPr>
          <p:cNvPr id="6" name="status-text-DONE">
            <a:extLst xmlns:a="http://schemas.openxmlformats.org/drawingml/2006/main">
              <a:ext uri="{FF2B5EF4-FFF2-40B4-BE49-F238E27FC236}">
                <a16:creationId xmlns:a16="http://schemas.microsoft.com/office/drawing/2014/main" id="{6BEB34F9-4C40-4ABA-9618-CBE8ACD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7" name="status-title-DONE">
            <a:extLst xmlns:a="http://schemas.openxmlformats.org/drawingml/2006/main">
              <a:ext uri="{FF2B5EF4-FFF2-40B4-BE49-F238E27FC236}">
                <a16:creationId xmlns:a16="http://schemas.microsoft.com/office/drawing/2014/main" id="{9EFD38AE-4703-4CAF-9A5A-367B26B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1474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2A"/>
                </a:solidFill>
              </a:defRPr>
            </a:pPr>
            <a:r>
              <a:rPr sz="2400" b="1">
                <a:solidFill>
                  <a:srgbClr val="17202A"/>
                </a:solidFill>
              </a:rPr>
              <a:t>Hidden Claim Understanding plus source transport owner</a:t>
            </a:r>
          </a:p>
        </p:txBody>
      </p:sp>
      <p:sp>
        <p:nvSpPr>
          <p:cNvPr id="8" name="status-body-DONE">
            <a:extLst xmlns:a="http://schemas.openxmlformats.org/drawingml/2006/main">
              <a:ext uri="{FF2B5EF4-FFF2-40B4-BE49-F238E27FC236}">
                <a16:creationId xmlns:a16="http://schemas.microsoft.com/office/drawing/2014/main" id="{24ECA1DE-A7E9-476D-98CF-E3690FB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76700"/>
            <a:ext cx="11372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725">
                <a:solidFill>
                  <a:srgbClr val="536171"/>
                </a:solidFill>
              </a:defRPr>
            </a:pPr>
            <a:r>
              <a:rPr sz="1725">
                <a:solidFill>
                  <a:srgbClr val="536171"/>
                </a:solidFill>
              </a:rPr>
              <a:t>Claim Understanding and source packet transport have real pre-cutover machinery. Public result remains intentionally damaged.</a:t>
            </a:r>
          </a:p>
        </p:txBody>
      </p:sp>
      <p:sp>
        <p:nvSpPr>
          <p:cNvPr id="9" name="status-badge-READY">
            <a:extLst xmlns:a="http://schemas.openxmlformats.org/drawingml/2006/main">
              <a:ext uri="{FF2B5EF4-FFF2-40B4-BE49-F238E27FC236}">
                <a16:creationId xmlns:a16="http://schemas.microsoft.com/office/drawing/2014/main" id="{DC40383B-2B34-4BBA-8F68-8D4AE475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428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35B8C"/>
          </a:solidFill>
        </p:spPr>
      </p:sp>
      <p:sp>
        <p:nvSpPr>
          <p:cNvPr id="10" name="status-text-READY">
            <a:extLst xmlns:a="http://schemas.openxmlformats.org/drawingml/2006/main">
              <a:ext uri="{FF2B5EF4-FFF2-40B4-BE49-F238E27FC236}">
                <a16:creationId xmlns:a16="http://schemas.microsoft.com/office/drawing/2014/main" id="{7376A935-A8A7-4422-807F-92A0D0D7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11" name="status-title-READY">
            <a:extLst xmlns:a="http://schemas.openxmlformats.org/drawingml/2006/main">
              <a:ext uri="{FF2B5EF4-FFF2-40B4-BE49-F238E27FC236}">
                <a16:creationId xmlns:a16="http://schemas.microsoft.com/office/drawing/2014/main" id="{616D8CB8-4154-4A93-8E5B-0D055842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43500"/>
            <a:ext cx="1474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2A"/>
                </a:solidFill>
              </a:defRPr>
            </a:pPr>
            <a:r>
              <a:rPr sz="2400" b="1">
                <a:solidFill>
                  <a:srgbClr val="17202A"/>
                </a:solidFill>
              </a:rPr>
              <a:t>2D-A fixture/control parser runner protocol</a:t>
            </a:r>
          </a:p>
        </p:txBody>
      </p:sp>
      <p:sp>
        <p:nvSpPr>
          <p:cNvPr id="12" name="status-body-READY">
            <a:extLst xmlns:a="http://schemas.openxmlformats.org/drawingml/2006/main">
              <a:ext uri="{FF2B5EF4-FFF2-40B4-BE49-F238E27FC236}">
                <a16:creationId xmlns:a16="http://schemas.microsoft.com/office/drawing/2014/main" id="{F8F0EED4-9DB3-41F8-97B3-B6A8FD7E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62600"/>
            <a:ext cx="11258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725">
                <a:solidFill>
                  <a:srgbClr val="536171"/>
                </a:solidFill>
              </a:defRPr>
            </a:pPr>
            <a:r>
              <a:rPr sz="1725">
                <a:solidFill>
                  <a:srgbClr val="536171"/>
                </a:solidFill>
              </a:rPr>
              <a:t>Current status documents now show deputy approval. The next implementable work order is fixture/control-only child-process protocol.</a:t>
            </a:r>
          </a:p>
        </p:txBody>
      </p:sp>
      <p:sp>
        <p:nvSpPr>
          <p:cNvPr id="13" name="status-badge-BLOCKED">
            <a:extLst xmlns:a="http://schemas.openxmlformats.org/drawingml/2006/main">
              <a:ext uri="{FF2B5EF4-FFF2-40B4-BE49-F238E27FC236}">
                <a16:creationId xmlns:a16="http://schemas.microsoft.com/office/drawing/2014/main" id="{0DBFD1B7-26A1-4700-8744-CE494DDE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3382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A84F45"/>
          </a:solidFill>
        </p:spPr>
      </p:sp>
      <p:sp>
        <p:nvSpPr>
          <p:cNvPr id="14" name="status-text-BLOCKED">
            <a:extLst xmlns:a="http://schemas.openxmlformats.org/drawingml/2006/main">
              <a:ext uri="{FF2B5EF4-FFF2-40B4-BE49-F238E27FC236}">
                <a16:creationId xmlns:a16="http://schemas.microsoft.com/office/drawing/2014/main" id="{86332D42-CC7C-47CB-B57A-33CF550E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15" name="status-title-BLOCKED">
            <a:extLst xmlns:a="http://schemas.openxmlformats.org/drawingml/2006/main">
              <a:ext uri="{FF2B5EF4-FFF2-40B4-BE49-F238E27FC236}">
                <a16:creationId xmlns:a16="http://schemas.microsoft.com/office/drawing/2014/main" id="{40B3A446-960B-41D4-8315-A76C792D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629400"/>
            <a:ext cx="1474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2A"/>
                </a:solidFill>
              </a:defRPr>
            </a:pPr>
            <a:r>
              <a:rPr sz="2400" b="1">
                <a:solidFill>
                  <a:srgbClr val="17202A"/>
                </a:solidFill>
              </a:rPr>
              <a:t>Real-byte parsing, evidence semantics, verdict, and cutover</a:t>
            </a:r>
          </a:p>
        </p:txBody>
      </p:sp>
      <p:sp>
        <p:nvSpPr>
          <p:cNvPr id="16" name="status-body-BLOCKED">
            <a:extLst xmlns:a="http://schemas.openxmlformats.org/drawingml/2006/main">
              <a:ext uri="{FF2B5EF4-FFF2-40B4-BE49-F238E27FC236}">
                <a16:creationId xmlns:a16="http://schemas.microsoft.com/office/drawing/2014/main" id="{0ABCF41E-59E8-47DA-B794-93900B6C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7067550"/>
            <a:ext cx="923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725">
                <a:solidFill>
                  <a:srgbClr val="536171"/>
                </a:solidFill>
              </a:defRPr>
            </a:pPr>
            <a:r>
              <a:rPr sz="1725">
                <a:solidFill>
                  <a:srgbClr val="536171"/>
                </a:solidFill>
              </a:rPr>
              <a:t>These require later isolation, evidence lifecycle, sufficiency, hidden integration, and public cutover gates.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CE79889-9EB5-41AE-8103-01CC03A7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13711DB-CEAD-4EEA-9A1A-413B91E1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39824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9B8B89-2BDD-4BF4-974B-AF7CCF94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36D1FD9-5973-4BDB-8B3B-FE61F36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EXECUTION BRIDGE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8A93EB-9C58-42E0-BA26-8A193BC1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Leadership controls the levers; engineering produces evidence.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7991F1-1126-4C4F-9B4B-3F7B6B3E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877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The bridge makes governance executable by translating each strategic concern into a work order and a visible proof artifact.</a:t>
            </a:r>
          </a:p>
        </p:txBody>
      </p:sp>
      <p:sp>
        <p:nvSpPr>
          <p:cNvPr id="5" name="label-leadership-lever">
            <a:extLst xmlns:a="http://schemas.openxmlformats.org/drawingml/2006/main">
              <a:ext uri="{FF2B5EF4-FFF2-40B4-BE49-F238E27FC236}">
                <a16:creationId xmlns:a16="http://schemas.microsoft.com/office/drawing/2014/main" id="{57788EAF-B1EA-4869-B130-5B1FC98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27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B8C"/>
                </a:solidFill>
              </a:defRPr>
            </a:pPr>
            <a:r>
              <a:rPr sz="1275" b="1">
                <a:solidFill>
                  <a:srgbClr val="235B8C"/>
                </a:solidFill>
              </a:rPr>
              <a:t>LEADERSHIP LEVER</a:t>
            </a:r>
          </a:p>
        </p:txBody>
      </p:sp>
      <p:sp>
        <p:nvSpPr>
          <p:cNvPr id="6" name="label-engineering-work-order">
            <a:extLst xmlns:a="http://schemas.openxmlformats.org/drawingml/2006/main">
              <a:ext uri="{FF2B5EF4-FFF2-40B4-BE49-F238E27FC236}">
                <a16:creationId xmlns:a16="http://schemas.microsoft.com/office/drawing/2014/main" id="{AAB2C8E5-C281-4F8D-BED5-8F37C02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1924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B8C"/>
                </a:solidFill>
              </a:defRPr>
            </a:pPr>
            <a:r>
              <a:rPr sz="1275" b="1">
                <a:solidFill>
                  <a:srgbClr val="235B8C"/>
                </a:solidFill>
              </a:rPr>
              <a:t>ENGINEERING WORK ORDER</a:t>
            </a:r>
          </a:p>
        </p:txBody>
      </p:sp>
      <p:sp>
        <p:nvSpPr>
          <p:cNvPr id="7" name="label-evidence-to-inspect">
            <a:extLst xmlns:a="http://schemas.openxmlformats.org/drawingml/2006/main">
              <a:ext uri="{FF2B5EF4-FFF2-40B4-BE49-F238E27FC236}">
                <a16:creationId xmlns:a16="http://schemas.microsoft.com/office/drawing/2014/main" id="{62121F13-1508-48FF-9B4D-884E46A3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467100"/>
            <a:ext cx="1485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B8C"/>
                </a:solidFill>
              </a:defRPr>
            </a:pPr>
            <a:r>
              <a:rPr sz="1275" b="1">
                <a:solidFill>
                  <a:srgbClr val="235B8C"/>
                </a:solidFill>
              </a:rPr>
              <a:t>EVIDENCE TO INSPECT</a:t>
            </a:r>
          </a:p>
        </p:txBody>
      </p:sp>
      <p:sp>
        <p:nvSpPr>
          <p:cNvPr id="8" name="bridge-rule">
            <a:extLst xmlns:a="http://schemas.openxmlformats.org/drawingml/2006/main">
              <a:ext uri="{FF2B5EF4-FFF2-40B4-BE49-F238E27FC236}">
                <a16:creationId xmlns:a16="http://schemas.microsoft.com/office/drawing/2014/main" id="{8E501F2E-BE07-4501-9046-D8FCD5B4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661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9" name="lever-dot-Approval discipline">
            <a:extLst xmlns:a="http://schemas.openxmlformats.org/drawingml/2006/main">
              <a:ext uri="{FF2B5EF4-FFF2-40B4-BE49-F238E27FC236}">
                <a16:creationId xmlns:a16="http://schemas.microsoft.com/office/drawing/2014/main" id="{4D269FD5-41E4-47A2-B049-CC42330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83"/>
          </a:solidFill>
        </p:spPr>
      </p:sp>
      <p:sp>
        <p:nvSpPr>
          <p:cNvPr id="10" name="lever-text-Approval discipline">
            <a:extLst xmlns:a="http://schemas.openxmlformats.org/drawingml/2006/main">
              <a:ext uri="{FF2B5EF4-FFF2-40B4-BE49-F238E27FC236}">
                <a16:creationId xmlns:a16="http://schemas.microsoft.com/office/drawing/2014/main" id="{AC65F9F1-E904-4459-A742-349B09AE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17202A"/>
                </a:solidFill>
              </a:defRPr>
            </a:pPr>
            <a:r>
              <a:rPr sz="1950" b="1">
                <a:solidFill>
                  <a:srgbClr val="17202A"/>
                </a:solidFill>
              </a:rPr>
              <a:t>Approval discipline</a:t>
            </a:r>
          </a:p>
        </p:txBody>
      </p:sp>
      <p:sp>
        <p:nvSpPr>
          <p:cNvPr id="11" name="work-Approval discipline">
            <a:extLst xmlns:a="http://schemas.openxmlformats.org/drawingml/2006/main">
              <a:ext uri="{FF2B5EF4-FFF2-40B4-BE49-F238E27FC236}">
                <a16:creationId xmlns:a16="http://schemas.microsoft.com/office/drawing/2014/main" id="{06909A9E-4BB5-4ACB-A277-D0E4C73C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10050"/>
            <a:ext cx="601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V2-X2 Gate Register v0</a:t>
            </a:r>
          </a:p>
        </p:txBody>
      </p:sp>
      <p:sp>
        <p:nvSpPr>
          <p:cNvPr id="12" name="evidence-Approval discipline">
            <a:extLst xmlns:a="http://schemas.openxmlformats.org/drawingml/2006/main">
              <a:ext uri="{FF2B5EF4-FFF2-40B4-BE49-F238E27FC236}">
                <a16:creationId xmlns:a16="http://schemas.microsoft.com/office/drawing/2014/main" id="{5C5DF41B-7300-4E7C-996B-C1F2D019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210050"/>
            <a:ext cx="5429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A failing validation script when executable tasks drift from approval state.</a:t>
            </a:r>
          </a:p>
        </p:txBody>
      </p:sp>
      <p:sp>
        <p:nvSpPr>
          <p:cNvPr id="13" name="lever-dot-Security posture">
            <a:extLst xmlns:a="http://schemas.openxmlformats.org/drawingml/2006/main">
              <a:ext uri="{FF2B5EF4-FFF2-40B4-BE49-F238E27FC236}">
                <a16:creationId xmlns:a16="http://schemas.microsoft.com/office/drawing/2014/main" id="{AFCDD739-F020-4383-A4C3-5E0B99DB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C59"/>
          </a:solidFill>
        </p:spPr>
      </p:sp>
      <p:sp>
        <p:nvSpPr>
          <p:cNvPr id="14" name="lever-text-Security posture">
            <a:extLst xmlns:a="http://schemas.openxmlformats.org/drawingml/2006/main">
              <a:ext uri="{FF2B5EF4-FFF2-40B4-BE49-F238E27FC236}">
                <a16:creationId xmlns:a16="http://schemas.microsoft.com/office/drawing/2014/main" id="{F0413034-34EA-4AC0-A3E3-D5DDA974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76850"/>
            <a:ext cx="1676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17202A"/>
                </a:solidFill>
              </a:defRPr>
            </a:pPr>
            <a:r>
              <a:rPr sz="1950" b="1">
                <a:solidFill>
                  <a:srgbClr val="17202A"/>
                </a:solidFill>
              </a:rPr>
              <a:t>Security posture</a:t>
            </a:r>
          </a:p>
        </p:txBody>
      </p:sp>
      <p:sp>
        <p:nvSpPr>
          <p:cNvPr id="15" name="work-Security posture">
            <a:extLst xmlns:a="http://schemas.openxmlformats.org/drawingml/2006/main">
              <a:ext uri="{FF2B5EF4-FFF2-40B4-BE49-F238E27FC236}">
                <a16:creationId xmlns:a16="http://schemas.microsoft.com/office/drawing/2014/main" id="{F21EF3D8-E370-4D07-B478-0F36FB5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76850"/>
            <a:ext cx="601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V2-X1 2D-A runner protocol</a:t>
            </a:r>
          </a:p>
        </p:txBody>
      </p:sp>
      <p:sp>
        <p:nvSpPr>
          <p:cNvPr id="16" name="evidence-Security posture">
            <a:extLst xmlns:a="http://schemas.openxmlformats.org/drawingml/2006/main">
              <a:ext uri="{FF2B5EF4-FFF2-40B4-BE49-F238E27FC236}">
                <a16:creationId xmlns:a16="http://schemas.microsoft.com/office/drawing/2014/main" id="{F0276C3B-80E5-4E86-AA4C-406459C9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276850"/>
            <a:ext cx="5429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Focused tests proving fixture/control-only child process and terminal disposal.</a:t>
            </a:r>
          </a:p>
        </p:txBody>
      </p:sp>
      <p:sp>
        <p:nvSpPr>
          <p:cNvPr id="17" name="lever-dot-Product safety">
            <a:extLst xmlns:a="http://schemas.openxmlformats.org/drawingml/2006/main">
              <a:ext uri="{FF2B5EF4-FFF2-40B4-BE49-F238E27FC236}">
                <a16:creationId xmlns:a16="http://schemas.microsoft.com/office/drawing/2014/main" id="{11D2CB28-31BE-4C70-9E07-5D034B7A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F45"/>
          </a:solidFill>
        </p:spPr>
      </p:sp>
      <p:sp>
        <p:nvSpPr>
          <p:cNvPr id="18" name="lever-text-Product safety">
            <a:extLst xmlns:a="http://schemas.openxmlformats.org/drawingml/2006/main">
              <a:ext uri="{FF2B5EF4-FFF2-40B4-BE49-F238E27FC236}">
                <a16:creationId xmlns:a16="http://schemas.microsoft.com/office/drawing/2014/main" id="{E17D9D73-291C-4233-9CC7-D28AC69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24600"/>
            <a:ext cx="1485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17202A"/>
                </a:solidFill>
              </a:defRPr>
            </a:pPr>
            <a:r>
              <a:rPr sz="1950" b="1">
                <a:solidFill>
                  <a:srgbClr val="17202A"/>
                </a:solidFill>
              </a:rPr>
              <a:t>Product safety</a:t>
            </a:r>
          </a:p>
        </p:txBody>
      </p:sp>
      <p:sp>
        <p:nvSpPr>
          <p:cNvPr id="19" name="work-Product safety">
            <a:extLst xmlns:a="http://schemas.openxmlformats.org/drawingml/2006/main">
              <a:ext uri="{FF2B5EF4-FFF2-40B4-BE49-F238E27FC236}">
                <a16:creationId xmlns:a16="http://schemas.microsoft.com/office/drawing/2014/main" id="{148C8E0E-0842-4ECD-8BB4-FC5C46E9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324600"/>
            <a:ext cx="601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V2-X4 public cutover guard</a:t>
            </a:r>
          </a:p>
        </p:txBody>
      </p:sp>
      <p:sp>
        <p:nvSpPr>
          <p:cNvPr id="20" name="evidence-Product safety">
            <a:extLst xmlns:a="http://schemas.openxmlformats.org/drawingml/2006/main">
              <a:ext uri="{FF2B5EF4-FFF2-40B4-BE49-F238E27FC236}">
                <a16:creationId xmlns:a16="http://schemas.microsoft.com/office/drawing/2014/main" id="{191314E5-75B8-42E4-9416-66CE171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3246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Compatibility tests proving pre-cutover V2 cannot surface success semantics.</a:t>
            </a:r>
          </a:p>
        </p:txBody>
      </p:sp>
      <p:sp>
        <p:nvSpPr>
          <p:cNvPr id="21" name="lever-dot-Quality proof">
            <a:extLst xmlns:a="http://schemas.openxmlformats.org/drawingml/2006/main">
              <a:ext uri="{FF2B5EF4-FFF2-40B4-BE49-F238E27FC236}">
                <a16:creationId xmlns:a16="http://schemas.microsoft.com/office/drawing/2014/main" id="{08B2DCA8-35C2-4AFE-B489-81BD9A68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5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B8C"/>
          </a:solidFill>
        </p:spPr>
      </p:sp>
      <p:sp>
        <p:nvSpPr>
          <p:cNvPr id="22" name="lever-text-Quality proof">
            <a:extLst xmlns:a="http://schemas.openxmlformats.org/drawingml/2006/main">
              <a:ext uri="{FF2B5EF4-FFF2-40B4-BE49-F238E27FC236}">
                <a16:creationId xmlns:a16="http://schemas.microsoft.com/office/drawing/2014/main" id="{5D11431E-A972-49C3-87F2-FDD09883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353300"/>
            <a:ext cx="137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17202A"/>
                </a:solidFill>
              </a:defRPr>
            </a:pPr>
            <a:r>
              <a:rPr sz="1950" b="1">
                <a:solidFill>
                  <a:srgbClr val="17202A"/>
                </a:solidFill>
              </a:rPr>
              <a:t>Quality proof</a:t>
            </a:r>
          </a:p>
        </p:txBody>
      </p:sp>
      <p:sp>
        <p:nvSpPr>
          <p:cNvPr id="23" name="work-Quality proof">
            <a:extLst xmlns:a="http://schemas.openxmlformats.org/drawingml/2006/main">
              <a:ext uri="{FF2B5EF4-FFF2-40B4-BE49-F238E27FC236}">
                <a16:creationId xmlns:a16="http://schemas.microsoft.com/office/drawing/2014/main" id="{3EA08689-5B93-44F5-94AF-095645A9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7353300"/>
            <a:ext cx="601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V2-X5 hidden integration harness</a:t>
            </a:r>
          </a:p>
        </p:txBody>
      </p:sp>
      <p:sp>
        <p:nvSpPr>
          <p:cNvPr id="24" name="evidence-Quality proof">
            <a:extLst xmlns:a="http://schemas.openxmlformats.org/drawingml/2006/main">
              <a:ext uri="{FF2B5EF4-FFF2-40B4-BE49-F238E27FC236}">
                <a16:creationId xmlns:a16="http://schemas.microsoft.com/office/drawing/2014/main" id="{76ECF060-AA80-4DDC-9425-E925D123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3533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A no-public-output test from accepted ClaimContract to query-plan handoff.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4A70D58-1BAB-47FD-886C-4E5059C6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984B027-1672-4886-9F76-44CAA72F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5702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0BB9B0-C8D2-4587-AE86-A1317160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E7B9221-D2E6-4DD4-A900-35A908B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EXECUTION RUNWAY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7CAEF0-1998-400E-9F7B-59E198EB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Six work orders make the next sprint executable.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FDA35C-037F-45B2-87DE-CFC44CEA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3639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The sequence is intentionally conservative: finish approved protocol work, add a gate register, repair drift, then harden cutover and hidden integration.</a:t>
            </a:r>
          </a:p>
        </p:txBody>
      </p:sp>
      <p:sp>
        <p:nvSpPr>
          <p:cNvPr id="5" name="runway-line">
            <a:extLst xmlns:a="http://schemas.openxmlformats.org/drawingml/2006/main">
              <a:ext uri="{FF2B5EF4-FFF2-40B4-BE49-F238E27FC236}">
                <a16:creationId xmlns:a16="http://schemas.microsoft.com/office/drawing/2014/main" id="{7624DDE1-00D6-440F-B6C3-9B1B1ED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661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6" name="runway-dot-X0">
            <a:extLst xmlns:a="http://schemas.openxmlformats.org/drawingml/2006/main">
              <a:ext uri="{FF2B5EF4-FFF2-40B4-BE49-F238E27FC236}">
                <a16:creationId xmlns:a16="http://schemas.microsoft.com/office/drawing/2014/main" id="{2721B13D-9571-4EA9-9D4F-04E01D8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C59"/>
          </a:solidFill>
        </p:spPr>
      </p:sp>
      <p:sp>
        <p:nvSpPr>
          <p:cNvPr id="7" name="runway-tag-X0">
            <a:extLst xmlns:a="http://schemas.openxmlformats.org/drawingml/2006/main">
              <a:ext uri="{FF2B5EF4-FFF2-40B4-BE49-F238E27FC236}">
                <a16:creationId xmlns:a16="http://schemas.microsoft.com/office/drawing/2014/main" id="{AA876CD9-B69C-4946-B67D-37E5068E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7C59"/>
                </a:solidFill>
              </a:defRPr>
            </a:pPr>
            <a:r>
              <a:rPr sz="1575" b="1">
                <a:solidFill>
                  <a:srgbClr val="3D7C59"/>
                </a:solidFill>
              </a:rPr>
              <a:t>X0</a:t>
            </a:r>
          </a:p>
        </p:txBody>
      </p:sp>
      <p:sp>
        <p:nvSpPr>
          <p:cNvPr id="8" name="runway-title-X0">
            <a:extLst xmlns:a="http://schemas.openxmlformats.org/drawingml/2006/main">
              <a:ext uri="{FF2B5EF4-FFF2-40B4-BE49-F238E27FC236}">
                <a16:creationId xmlns:a16="http://schemas.microsoft.com/office/drawing/2014/main" id="{B7D8B460-0124-4DE0-8D03-6F948732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5086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Confirm approval</a:t>
            </a:r>
          </a:p>
        </p:txBody>
      </p:sp>
      <p:sp>
        <p:nvSpPr>
          <p:cNvPr id="9" name="runway-owner-X0">
            <a:extLst xmlns:a="http://schemas.openxmlformats.org/drawingml/2006/main">
              <a:ext uri="{FF2B5EF4-FFF2-40B4-BE49-F238E27FC236}">
                <a16:creationId xmlns:a16="http://schemas.microsoft.com/office/drawing/2014/main" id="{93814407-8D37-4376-92C0-31345539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508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536171"/>
                </a:solidFill>
              </a:defRPr>
            </a:pPr>
            <a:r>
              <a:rPr sz="1575">
                <a:solidFill>
                  <a:srgbClr val="536171"/>
                </a:solidFill>
              </a:rPr>
              <a:t>Deputy reviewers</a:t>
            </a:r>
          </a:p>
        </p:txBody>
      </p:sp>
      <p:sp>
        <p:nvSpPr>
          <p:cNvPr id="10" name="runway-state-X0">
            <a:extLst xmlns:a="http://schemas.openxmlformats.org/drawingml/2006/main">
              <a:ext uri="{FF2B5EF4-FFF2-40B4-BE49-F238E27FC236}">
                <a16:creationId xmlns:a16="http://schemas.microsoft.com/office/drawing/2014/main" id="{B95AD973-0EC1-404C-B18D-652E4169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508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718096"/>
                </a:solidFill>
              </a:defRPr>
            </a:pPr>
            <a:r>
              <a:rPr sz="1125" b="1">
                <a:solidFill>
                  <a:srgbClr val="718096"/>
                </a:solidFill>
              </a:rPr>
              <a:t>DOCS ACCEPTED</a:t>
            </a:r>
          </a:p>
        </p:txBody>
      </p:sp>
      <p:sp>
        <p:nvSpPr>
          <p:cNvPr id="11" name="runway-dot-X1">
            <a:extLst xmlns:a="http://schemas.openxmlformats.org/drawingml/2006/main">
              <a:ext uri="{FF2B5EF4-FFF2-40B4-BE49-F238E27FC236}">
                <a16:creationId xmlns:a16="http://schemas.microsoft.com/office/drawing/2014/main" id="{5BD89428-1F01-45AA-97A4-464C4E59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B8C"/>
          </a:solidFill>
        </p:spPr>
      </p:sp>
      <p:sp>
        <p:nvSpPr>
          <p:cNvPr id="12" name="runway-tag-X1">
            <a:extLst xmlns:a="http://schemas.openxmlformats.org/drawingml/2006/main">
              <a:ext uri="{FF2B5EF4-FFF2-40B4-BE49-F238E27FC236}">
                <a16:creationId xmlns:a16="http://schemas.microsoft.com/office/drawing/2014/main" id="{0CCFE962-B883-4C1E-8653-DA6DE07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5B8C"/>
                </a:solidFill>
              </a:defRPr>
            </a:pPr>
            <a:r>
              <a:rPr sz="1575" b="1">
                <a:solidFill>
                  <a:srgbClr val="235B8C"/>
                </a:solidFill>
              </a:rPr>
              <a:t>X1</a:t>
            </a:r>
          </a:p>
        </p:txBody>
      </p:sp>
      <p:sp>
        <p:nvSpPr>
          <p:cNvPr id="13" name="runway-title-X1">
            <a:extLst xmlns:a="http://schemas.openxmlformats.org/drawingml/2006/main">
              <a:ext uri="{FF2B5EF4-FFF2-40B4-BE49-F238E27FC236}">
                <a16:creationId xmlns:a16="http://schemas.microsoft.com/office/drawing/2014/main" id="{474F0293-D7C6-4388-B0D5-34CE15C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5086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2D-A protocol</a:t>
            </a:r>
          </a:p>
        </p:txBody>
      </p:sp>
      <p:sp>
        <p:nvSpPr>
          <p:cNvPr id="14" name="runway-owner-X1">
            <a:extLst xmlns:a="http://schemas.openxmlformats.org/drawingml/2006/main">
              <a:ext uri="{FF2B5EF4-FFF2-40B4-BE49-F238E27FC236}">
                <a16:creationId xmlns:a16="http://schemas.microsoft.com/office/drawing/2014/main" id="{20B8C304-36DB-49B4-90C8-0B8A2AD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508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536171"/>
                </a:solidFill>
              </a:defRPr>
            </a:pPr>
            <a:r>
              <a:rPr sz="1575">
                <a:solidFill>
                  <a:srgbClr val="536171"/>
                </a:solidFill>
              </a:rPr>
              <a:t>Runtime owner</a:t>
            </a:r>
          </a:p>
        </p:txBody>
      </p:sp>
      <p:sp>
        <p:nvSpPr>
          <p:cNvPr id="15" name="runway-state-X1">
            <a:extLst xmlns:a="http://schemas.openxmlformats.org/drawingml/2006/main">
              <a:ext uri="{FF2B5EF4-FFF2-40B4-BE49-F238E27FC236}">
                <a16:creationId xmlns:a16="http://schemas.microsoft.com/office/drawing/2014/main" id="{E55210B5-EE5E-4FE3-AA35-61C269AE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91200"/>
            <a:ext cx="508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718096"/>
                </a:solidFill>
              </a:defRPr>
            </a:pPr>
            <a:r>
              <a:rPr sz="1125" b="1">
                <a:solidFill>
                  <a:srgbClr val="718096"/>
                </a:solidFill>
              </a:rPr>
              <a:t>FIRST CODE TASK</a:t>
            </a:r>
          </a:p>
        </p:txBody>
      </p:sp>
      <p:sp>
        <p:nvSpPr>
          <p:cNvPr id="16" name="runway-dot-X2">
            <a:extLst xmlns:a="http://schemas.openxmlformats.org/drawingml/2006/main">
              <a:ext uri="{FF2B5EF4-FFF2-40B4-BE49-F238E27FC236}">
                <a16:creationId xmlns:a16="http://schemas.microsoft.com/office/drawing/2014/main" id="{86FAB5D4-69C4-43FE-A238-09AC6E7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83"/>
          </a:solidFill>
        </p:spPr>
      </p:sp>
      <p:sp>
        <p:nvSpPr>
          <p:cNvPr id="17" name="runway-tag-X2">
            <a:extLst xmlns:a="http://schemas.openxmlformats.org/drawingml/2006/main">
              <a:ext uri="{FF2B5EF4-FFF2-40B4-BE49-F238E27FC236}">
                <a16:creationId xmlns:a16="http://schemas.microsoft.com/office/drawing/2014/main" id="{553781A5-7441-4CC7-9D07-55EC8B2E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7338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F83"/>
                </a:solidFill>
              </a:defRPr>
            </a:pPr>
            <a:r>
              <a:rPr sz="1575" b="1">
                <a:solidFill>
                  <a:srgbClr val="2F8F83"/>
                </a:solidFill>
              </a:rPr>
              <a:t>X2</a:t>
            </a:r>
          </a:p>
        </p:txBody>
      </p:sp>
      <p:sp>
        <p:nvSpPr>
          <p:cNvPr id="18" name="runway-title-X2">
            <a:extLst xmlns:a="http://schemas.openxmlformats.org/drawingml/2006/main">
              <a:ext uri="{FF2B5EF4-FFF2-40B4-BE49-F238E27FC236}">
                <a16:creationId xmlns:a16="http://schemas.microsoft.com/office/drawing/2014/main" id="{49DA00B6-0186-476E-A334-7BA680BE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95750"/>
            <a:ext cx="5086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Gate Register v0</a:t>
            </a:r>
          </a:p>
        </p:txBody>
      </p:sp>
      <p:sp>
        <p:nvSpPr>
          <p:cNvPr id="19" name="runway-owner-X2">
            <a:extLst xmlns:a="http://schemas.openxmlformats.org/drawingml/2006/main">
              <a:ext uri="{FF2B5EF4-FFF2-40B4-BE49-F238E27FC236}">
                <a16:creationId xmlns:a16="http://schemas.microsoft.com/office/drawing/2014/main" id="{6C3663BA-F8EE-488C-ACBF-5C24305F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05400"/>
            <a:ext cx="508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536171"/>
                </a:solidFill>
              </a:defRPr>
            </a:pPr>
            <a:r>
              <a:rPr sz="1575">
                <a:solidFill>
                  <a:srgbClr val="536171"/>
                </a:solidFill>
              </a:rPr>
              <a:t>Architecture</a:t>
            </a:r>
          </a:p>
        </p:txBody>
      </p:sp>
      <p:sp>
        <p:nvSpPr>
          <p:cNvPr id="20" name="runway-state-X2">
            <a:extLst xmlns:a="http://schemas.openxmlformats.org/drawingml/2006/main">
              <a:ext uri="{FF2B5EF4-FFF2-40B4-BE49-F238E27FC236}">
                <a16:creationId xmlns:a16="http://schemas.microsoft.com/office/drawing/2014/main" id="{D7794139-7A2A-4F73-8BDB-7ABAC62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791200"/>
            <a:ext cx="508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718096"/>
                </a:solidFill>
              </a:defRPr>
            </a:pPr>
            <a:r>
              <a:rPr sz="1125" b="1">
                <a:solidFill>
                  <a:srgbClr val="718096"/>
                </a:solidFill>
              </a:rPr>
              <a:t>NEXT CONTROL</a:t>
            </a:r>
          </a:p>
        </p:txBody>
      </p:sp>
      <p:sp>
        <p:nvSpPr>
          <p:cNvPr id="21" name="runway-dot-X3">
            <a:extLst xmlns:a="http://schemas.openxmlformats.org/drawingml/2006/main">
              <a:ext uri="{FF2B5EF4-FFF2-40B4-BE49-F238E27FC236}">
                <a16:creationId xmlns:a16="http://schemas.microsoft.com/office/drawing/2014/main" id="{6151E0B2-CAE6-413B-B5D6-9B5F50E5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1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92F"/>
          </a:solidFill>
        </p:spPr>
      </p:sp>
      <p:sp>
        <p:nvSpPr>
          <p:cNvPr id="22" name="runway-tag-X3">
            <a:extLst xmlns:a="http://schemas.openxmlformats.org/drawingml/2006/main">
              <a:ext uri="{FF2B5EF4-FFF2-40B4-BE49-F238E27FC236}">
                <a16:creationId xmlns:a16="http://schemas.microsoft.com/office/drawing/2014/main" id="{1B0556FB-0034-4D94-8C82-A77BCD3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151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8892F"/>
                </a:solidFill>
              </a:defRPr>
            </a:pPr>
            <a:r>
              <a:rPr sz="1575" b="1">
                <a:solidFill>
                  <a:srgbClr val="C8892F"/>
                </a:solidFill>
              </a:rPr>
              <a:t>X3</a:t>
            </a:r>
          </a:p>
        </p:txBody>
      </p:sp>
      <p:sp>
        <p:nvSpPr>
          <p:cNvPr id="23" name="runway-title-X3">
            <a:extLst xmlns:a="http://schemas.openxmlformats.org/drawingml/2006/main">
              <a:ext uri="{FF2B5EF4-FFF2-40B4-BE49-F238E27FC236}">
                <a16:creationId xmlns:a16="http://schemas.microsoft.com/office/drawing/2014/main" id="{D81FDE45-AD4B-411C-BBB1-A291B5D8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96100"/>
            <a:ext cx="5086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Query drift</a:t>
            </a:r>
          </a:p>
        </p:txBody>
      </p:sp>
      <p:sp>
        <p:nvSpPr>
          <p:cNvPr id="24" name="runway-owner-X3">
            <a:extLst xmlns:a="http://schemas.openxmlformats.org/drawingml/2006/main">
              <a:ext uri="{FF2B5EF4-FFF2-40B4-BE49-F238E27FC236}">
                <a16:creationId xmlns:a16="http://schemas.microsoft.com/office/drawing/2014/main" id="{F6C4FDBD-7C41-48EE-B886-0C53706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05750"/>
            <a:ext cx="508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536171"/>
                </a:solidFill>
              </a:defRPr>
            </a:pPr>
            <a:r>
              <a:rPr sz="1575">
                <a:solidFill>
                  <a:srgbClr val="536171"/>
                </a:solidFill>
              </a:rPr>
              <a:t>LLM + gateway</a:t>
            </a:r>
          </a:p>
        </p:txBody>
      </p:sp>
      <p:sp>
        <p:nvSpPr>
          <p:cNvPr id="25" name="runway-state-X3">
            <a:extLst xmlns:a="http://schemas.openxmlformats.org/drawingml/2006/main">
              <a:ext uri="{FF2B5EF4-FFF2-40B4-BE49-F238E27FC236}">
                <a16:creationId xmlns:a16="http://schemas.microsoft.com/office/drawing/2014/main" id="{3455864C-F5EE-4588-91F5-037CCBD4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91550"/>
            <a:ext cx="508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718096"/>
                </a:solidFill>
              </a:defRPr>
            </a:pPr>
            <a:r>
              <a:rPr sz="1125" b="1">
                <a:solidFill>
                  <a:srgbClr val="718096"/>
                </a:solidFill>
              </a:rPr>
              <a:t>PROMPT APPROVAL</a:t>
            </a:r>
          </a:p>
        </p:txBody>
      </p:sp>
      <p:sp>
        <p:nvSpPr>
          <p:cNvPr id="26" name="runway-dot-X4">
            <a:extLst xmlns:a="http://schemas.openxmlformats.org/drawingml/2006/main">
              <a:ext uri="{FF2B5EF4-FFF2-40B4-BE49-F238E27FC236}">
                <a16:creationId xmlns:a16="http://schemas.microsoft.com/office/drawing/2014/main" id="{BA904FD7-50DF-410A-9C32-3D74D63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51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F45"/>
          </a:solidFill>
        </p:spPr>
      </p:sp>
      <p:sp>
        <p:nvSpPr>
          <p:cNvPr id="27" name="runway-tag-X4">
            <a:extLst xmlns:a="http://schemas.openxmlformats.org/drawingml/2006/main">
              <a:ext uri="{FF2B5EF4-FFF2-40B4-BE49-F238E27FC236}">
                <a16:creationId xmlns:a16="http://schemas.microsoft.com/office/drawing/2014/main" id="{7FB4FDF8-A59B-4218-A3E3-8EBD6B55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5151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4F45"/>
                </a:solidFill>
              </a:defRPr>
            </a:pPr>
            <a:r>
              <a:rPr sz="1575" b="1">
                <a:solidFill>
                  <a:srgbClr val="A84F45"/>
                </a:solidFill>
              </a:rPr>
              <a:t>X4</a:t>
            </a:r>
          </a:p>
        </p:txBody>
      </p:sp>
      <p:sp>
        <p:nvSpPr>
          <p:cNvPr id="28" name="runway-title-X4">
            <a:extLst xmlns:a="http://schemas.openxmlformats.org/drawingml/2006/main">
              <a:ext uri="{FF2B5EF4-FFF2-40B4-BE49-F238E27FC236}">
                <a16:creationId xmlns:a16="http://schemas.microsoft.com/office/drawing/2014/main" id="{5CA88675-DF9F-417C-A01B-A311F0F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896100"/>
            <a:ext cx="5086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Cutover guard</a:t>
            </a:r>
          </a:p>
        </p:txBody>
      </p:sp>
      <p:sp>
        <p:nvSpPr>
          <p:cNvPr id="29" name="runway-owner-X4">
            <a:extLst xmlns:a="http://schemas.openxmlformats.org/drawingml/2006/main">
              <a:ext uri="{FF2B5EF4-FFF2-40B4-BE49-F238E27FC236}">
                <a16:creationId xmlns:a16="http://schemas.microsoft.com/office/drawing/2014/main" id="{DDDB47A1-9889-401D-A1F9-681727DF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905750"/>
            <a:ext cx="508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536171"/>
                </a:solidFill>
              </a:defRPr>
            </a:pPr>
            <a:r>
              <a:rPr sz="1575">
                <a:solidFill>
                  <a:srgbClr val="536171"/>
                </a:solidFill>
              </a:rPr>
              <a:t>API + web</a:t>
            </a:r>
          </a:p>
        </p:txBody>
      </p:sp>
      <p:sp>
        <p:nvSpPr>
          <p:cNvPr id="30" name="runway-state-X4">
            <a:extLst xmlns:a="http://schemas.openxmlformats.org/drawingml/2006/main">
              <a:ext uri="{FF2B5EF4-FFF2-40B4-BE49-F238E27FC236}">
                <a16:creationId xmlns:a16="http://schemas.microsoft.com/office/drawing/2014/main" id="{A381B24F-2901-4626-98BB-ED87C9E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591550"/>
            <a:ext cx="508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718096"/>
                </a:solidFill>
              </a:defRPr>
            </a:pPr>
            <a:r>
              <a:rPr sz="1125" b="1">
                <a:solidFill>
                  <a:srgbClr val="718096"/>
                </a:solidFill>
              </a:rPr>
              <a:t>FAIL CLOSED</a:t>
            </a:r>
          </a:p>
        </p:txBody>
      </p:sp>
      <p:sp>
        <p:nvSpPr>
          <p:cNvPr id="31" name="runway-dot-X5">
            <a:extLst xmlns:a="http://schemas.openxmlformats.org/drawingml/2006/main">
              <a:ext uri="{FF2B5EF4-FFF2-40B4-BE49-F238E27FC236}">
                <a16:creationId xmlns:a16="http://schemas.microsoft.com/office/drawing/2014/main" id="{49926318-9CA3-4DE4-AD89-D03735A9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51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9"/>
          </a:solidFill>
        </p:spPr>
      </p:sp>
      <p:sp>
        <p:nvSpPr>
          <p:cNvPr id="32" name="runway-tag-X5">
            <a:extLst xmlns:a="http://schemas.openxmlformats.org/drawingml/2006/main">
              <a:ext uri="{FF2B5EF4-FFF2-40B4-BE49-F238E27FC236}">
                <a16:creationId xmlns:a16="http://schemas.microsoft.com/office/drawing/2014/main" id="{F5FA8C1E-83E5-45F0-AE2B-123AEDA5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51510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9"/>
                </a:solidFill>
              </a:defRPr>
            </a:pPr>
            <a:r>
              <a:rPr sz="1575" b="1">
                <a:solidFill>
                  <a:srgbClr val="183B59"/>
                </a:solidFill>
              </a:rPr>
              <a:t>X5</a:t>
            </a:r>
          </a:p>
        </p:txBody>
      </p:sp>
      <p:sp>
        <p:nvSpPr>
          <p:cNvPr id="33" name="runway-title-X5">
            <a:extLst xmlns:a="http://schemas.openxmlformats.org/drawingml/2006/main">
              <a:ext uri="{FF2B5EF4-FFF2-40B4-BE49-F238E27FC236}">
                <a16:creationId xmlns:a16="http://schemas.microsoft.com/office/drawing/2014/main" id="{604D063E-BE12-4B8D-ACD0-CC9AA7A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896100"/>
            <a:ext cx="5086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17202A"/>
                </a:solidFill>
              </a:defRPr>
            </a:pPr>
            <a:r>
              <a:rPr sz="2175" b="1">
                <a:solidFill>
                  <a:srgbClr val="17202A"/>
                </a:solidFill>
              </a:rPr>
              <a:t>Hidden harness</a:t>
            </a:r>
          </a:p>
        </p:txBody>
      </p:sp>
      <p:sp>
        <p:nvSpPr>
          <p:cNvPr id="34" name="runway-owner-X5">
            <a:extLst xmlns:a="http://schemas.openxmlformats.org/drawingml/2006/main">
              <a:ext uri="{FF2B5EF4-FFF2-40B4-BE49-F238E27FC236}">
                <a16:creationId xmlns:a16="http://schemas.microsoft.com/office/drawing/2014/main" id="{B0DCE99D-F969-457C-8577-DE80FB69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905750"/>
            <a:ext cx="508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536171"/>
                </a:solidFill>
              </a:defRPr>
            </a:pPr>
            <a:r>
              <a:rPr sz="1575">
                <a:solidFill>
                  <a:srgbClr val="536171"/>
                </a:solidFill>
              </a:rPr>
              <a:t>Runtime</a:t>
            </a:r>
          </a:p>
        </p:txBody>
      </p:sp>
      <p:sp>
        <p:nvSpPr>
          <p:cNvPr id="35" name="runway-state-X5">
            <a:extLst xmlns:a="http://schemas.openxmlformats.org/drawingml/2006/main">
              <a:ext uri="{FF2B5EF4-FFF2-40B4-BE49-F238E27FC236}">
                <a16:creationId xmlns:a16="http://schemas.microsoft.com/office/drawing/2014/main" id="{9CE70C74-3878-44A0-BBA5-5E3D3D25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8591550"/>
            <a:ext cx="508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1">
                <a:solidFill>
                  <a:srgbClr val="718096"/>
                </a:solidFill>
              </a:defRPr>
            </a:pPr>
            <a:r>
              <a:rPr sz="1125" b="1">
                <a:solidFill>
                  <a:srgbClr val="718096"/>
                </a:solidFill>
              </a:rPr>
              <a:t>NO LIVE JOBS</a:t>
            </a:r>
          </a:p>
        </p:txBody>
      </p:sp>
      <p:sp>
        <p:nvSpPr>
          <p:cNvPr id="3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92A6197-7B4C-40DF-BBDA-E7E9DC28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3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F0BA6C-1400-44A1-859C-D72A5536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40237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AABC4AC-3498-4F46-B523-83E28015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920D38C-33EF-4A14-93FA-CB370AFE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LEADERSHIP ASKS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EE78FF-3F06-462B-AB3B-627A1232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Three decisions connect leadership to execution this week.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734BF4-F96A-4CBD-AF68-4CFCC0CC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3030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These are concrete approvals with boundaries. They avoid the failure mode of approving architecture while leaving execution ambiguous.</a:t>
            </a:r>
          </a:p>
        </p:txBody>
      </p:sp>
      <p:sp>
        <p:nvSpPr>
          <p:cNvPr id="5" name="ask-number-01">
            <a:extLst xmlns:a="http://schemas.openxmlformats.org/drawingml/2006/main">
              <a:ext uri="{FF2B5EF4-FFF2-40B4-BE49-F238E27FC236}">
                <a16:creationId xmlns:a16="http://schemas.microsoft.com/office/drawing/2014/main" id="{B0255CDE-8CC9-4F54-A5F9-53C820F7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914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D7C59"/>
                </a:solidFill>
              </a:defRPr>
            </a:pPr>
            <a:r>
              <a:rPr sz="4350" b="1">
                <a:solidFill>
                  <a:srgbClr val="3D7C59"/>
                </a:solidFill>
              </a:rPr>
              <a:t>01</a:t>
            </a:r>
          </a:p>
        </p:txBody>
      </p:sp>
      <p:sp>
        <p:nvSpPr>
          <p:cNvPr id="6" name="ask-title-01">
            <a:extLst xmlns:a="http://schemas.openxmlformats.org/drawingml/2006/main">
              <a:ext uri="{FF2B5EF4-FFF2-40B4-BE49-F238E27FC236}">
                <a16:creationId xmlns:a16="http://schemas.microsoft.com/office/drawing/2014/main" id="{0186E528-7D8C-48FA-9B43-B76DCD2E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67100"/>
            <a:ext cx="1543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Accept 2D-A as the active approved source package.</a:t>
            </a:r>
          </a:p>
        </p:txBody>
      </p:sp>
      <p:sp>
        <p:nvSpPr>
          <p:cNvPr id="7" name="ask-body-01">
            <a:extLst xmlns:a="http://schemas.openxmlformats.org/drawingml/2006/main">
              <a:ext uri="{FF2B5EF4-FFF2-40B4-BE49-F238E27FC236}">
                <a16:creationId xmlns:a16="http://schemas.microsoft.com/office/drawing/2014/main" id="{5691A4A0-697B-4265-BF25-0C48889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43350"/>
            <a:ext cx="1062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If the current dirty approval edits stand, X0 is done. Engineering can start X1 inside the exact allowed file envelope.</a:t>
            </a:r>
          </a:p>
        </p:txBody>
      </p:sp>
      <p:sp>
        <p:nvSpPr>
          <p:cNvPr id="8" name="ask-number-02">
            <a:extLst xmlns:a="http://schemas.openxmlformats.org/drawingml/2006/main">
              <a:ext uri="{FF2B5EF4-FFF2-40B4-BE49-F238E27FC236}">
                <a16:creationId xmlns:a16="http://schemas.microsoft.com/office/drawing/2014/main" id="{C4EA582A-A8AB-4199-9D71-AEBBD750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914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8F83"/>
                </a:solidFill>
              </a:defRPr>
            </a:pPr>
            <a:r>
              <a:rPr sz="4350" b="1">
                <a:solidFill>
                  <a:srgbClr val="2F8F83"/>
                </a:solidFill>
              </a:rPr>
              <a:t>02</a:t>
            </a:r>
          </a:p>
        </p:txBody>
      </p:sp>
      <p:sp>
        <p:nvSpPr>
          <p:cNvPr id="9" name="ask-title-02">
            <a:extLst xmlns:a="http://schemas.openxmlformats.org/drawingml/2006/main">
              <a:ext uri="{FF2B5EF4-FFF2-40B4-BE49-F238E27FC236}">
                <a16:creationId xmlns:a16="http://schemas.microsoft.com/office/drawing/2014/main" id="{16E7135A-71E5-443B-B9D6-44821190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52950"/>
            <a:ext cx="1543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Require Gate Register v0 before more executable gates accumulate.</a:t>
            </a:r>
          </a:p>
        </p:txBody>
      </p:sp>
      <p:sp>
        <p:nvSpPr>
          <p:cNvPr id="10" name="ask-body-02">
            <a:extLst xmlns:a="http://schemas.openxmlformats.org/drawingml/2006/main">
              <a:ext uri="{FF2B5EF4-FFF2-40B4-BE49-F238E27FC236}">
                <a16:creationId xmlns:a16="http://schemas.microsoft.com/office/drawing/2014/main" id="{7D213654-3E78-44F2-895B-F75D88A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29200"/>
            <a:ext cx="950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Leadership should inspect a register diff, not prose memory, before treating a V2 gateway as approved.</a:t>
            </a:r>
          </a:p>
        </p:txBody>
      </p:sp>
      <p:sp>
        <p:nvSpPr>
          <p:cNvPr id="11" name="ask-number-03">
            <a:extLst xmlns:a="http://schemas.openxmlformats.org/drawingml/2006/main">
              <a:ext uri="{FF2B5EF4-FFF2-40B4-BE49-F238E27FC236}">
                <a16:creationId xmlns:a16="http://schemas.microsoft.com/office/drawing/2014/main" id="{1B986B32-152B-495B-A009-E13EE579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914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A84F45"/>
                </a:solidFill>
              </a:defRPr>
            </a:pPr>
            <a:r>
              <a:rPr sz="4350" b="1">
                <a:solidFill>
                  <a:srgbClr val="A84F45"/>
                </a:solidFill>
              </a:rPr>
              <a:t>03</a:t>
            </a:r>
          </a:p>
        </p:txBody>
      </p:sp>
      <p:sp>
        <p:nvSpPr>
          <p:cNvPr id="12" name="ask-title-03">
            <a:extLst xmlns:a="http://schemas.openxmlformats.org/drawingml/2006/main">
              <a:ext uri="{FF2B5EF4-FFF2-40B4-BE49-F238E27FC236}">
                <a16:creationId xmlns:a16="http://schemas.microsoft.com/office/drawing/2014/main" id="{88197129-54F5-4179-8194-A365E7BD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57850"/>
            <a:ext cx="1543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Keep the public and live boundary closed.</a:t>
            </a:r>
          </a:p>
        </p:txBody>
      </p:sp>
      <p:sp>
        <p:nvSpPr>
          <p:cNvPr id="13" name="ask-body-03">
            <a:extLst xmlns:a="http://schemas.openxmlformats.org/drawingml/2006/main">
              <a:ext uri="{FF2B5EF4-FFF2-40B4-BE49-F238E27FC236}">
                <a16:creationId xmlns:a16="http://schemas.microsoft.com/office/drawing/2014/main" id="{913DA483-5332-4130-B358-60A37EB8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134100"/>
            <a:ext cx="10801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No meaningful V2 API/UI/report output, live jobs, broad validation, SR, or cache IO until hidden gates have evidence.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C3FD6F-91A8-4591-93DE-2B92D93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1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FE25E5B-5B69-4B64-9286-F5ED6C2F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22663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3297A1F-81A7-401C-ACFC-1FA7FD2B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8E1679F-7A31-4303-AB44-BA88A7D5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FIRST ENGINEERING TICKET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81BBC3-17AD-4EF2-8973-0225C2A5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V2-X1 is narrow enough to implement now.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5675AD-B260-4A83-BA0E-36F196B7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95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The ticket succeeds only if it stays fixture/control-only. Any real fetched-byte parsing belongs to later OS-level isolation work.</a:t>
            </a:r>
          </a:p>
        </p:txBody>
      </p:sp>
      <p:sp>
        <p:nvSpPr>
          <p:cNvPr id="5" name="gate-name-Allowed files">
            <a:extLst xmlns:a="http://schemas.openxmlformats.org/drawingml/2006/main">
              <a:ext uri="{FF2B5EF4-FFF2-40B4-BE49-F238E27FC236}">
                <a16:creationId xmlns:a16="http://schemas.microsoft.com/office/drawing/2014/main" id="{883CD40E-3945-4E45-8233-2699E151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067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F83"/>
                </a:solidFill>
              </a:defRPr>
            </a:pPr>
            <a:r>
              <a:rPr sz="1500" b="1">
                <a:solidFill>
                  <a:srgbClr val="2F8F83"/>
                </a:solidFill>
              </a:rPr>
              <a:t>Allowed files</a:t>
            </a:r>
          </a:p>
        </p:txBody>
      </p:sp>
      <p:sp>
        <p:nvSpPr>
          <p:cNvPr id="6" name="gate-value-Allowed files">
            <a:extLst xmlns:a="http://schemas.openxmlformats.org/drawingml/2006/main">
              <a:ext uri="{FF2B5EF4-FFF2-40B4-BE49-F238E27FC236}">
                <a16:creationId xmlns:a16="http://schemas.microsoft.com/office/drawing/2014/main" id="{3D02F053-8FA0-41BB-BEA1-635260E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81400"/>
            <a:ext cx="5353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Parser, packet sink, runner protocol, worker CJS, focused runtime tests, boundary guard.</a:t>
            </a:r>
          </a:p>
        </p:txBody>
      </p:sp>
      <p:sp>
        <p:nvSpPr>
          <p:cNvPr id="7" name="gate-name-Required behavior">
            <a:extLst xmlns:a="http://schemas.openxmlformats.org/drawingml/2006/main">
              <a:ext uri="{FF2B5EF4-FFF2-40B4-BE49-F238E27FC236}">
                <a16:creationId xmlns:a16="http://schemas.microsoft.com/office/drawing/2014/main" id="{6E23AC16-A824-4A7F-9ED5-CD8C630A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30670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F83"/>
                </a:solidFill>
              </a:defRPr>
            </a:pPr>
            <a:r>
              <a:rPr sz="1500" b="1">
                <a:solidFill>
                  <a:srgbClr val="2F8F83"/>
                </a:solidFill>
              </a:rPr>
              <a:t>Required behavior</a:t>
            </a:r>
          </a:p>
        </p:txBody>
      </p:sp>
      <p:sp>
        <p:nvSpPr>
          <p:cNvPr id="8" name="gate-value-Required behavior">
            <a:extLst xmlns:a="http://schemas.openxmlformats.org/drawingml/2006/main">
              <a:ext uri="{FF2B5EF4-FFF2-40B4-BE49-F238E27FC236}">
                <a16:creationId xmlns:a16="http://schemas.microsoft.com/office/drawing/2014/main" id="{7CA0F209-70EB-4D50-9624-2CF8A64F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48200"/>
            <a:ext cx="53530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Child process via process.execPath, shell:false, windowsHide:true, pipe stdio, stripped env, disposal on terminal paths.</a:t>
            </a:r>
          </a:p>
        </p:txBody>
      </p:sp>
      <p:sp>
        <p:nvSpPr>
          <p:cNvPr id="9" name="gate-name-Verifier">
            <a:extLst xmlns:a="http://schemas.openxmlformats.org/drawingml/2006/main">
              <a:ext uri="{FF2B5EF4-FFF2-40B4-BE49-F238E27FC236}">
                <a16:creationId xmlns:a16="http://schemas.microsoft.com/office/drawing/2014/main" id="{A04C2FC0-5D27-4B24-BB1D-DD7CDBB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3067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F83"/>
                </a:solidFill>
              </a:defRPr>
            </a:pPr>
            <a:r>
              <a:rPr sz="1500" b="1">
                <a:solidFill>
                  <a:srgbClr val="2F8F83"/>
                </a:solidFill>
              </a:rPr>
              <a:t>Verifier</a:t>
            </a:r>
          </a:p>
        </p:txBody>
      </p:sp>
      <p:sp>
        <p:nvSpPr>
          <p:cNvPr id="10" name="gate-value-Verifier">
            <a:extLst xmlns:a="http://schemas.openxmlformats.org/drawingml/2006/main">
              <a:ext uri="{FF2B5EF4-FFF2-40B4-BE49-F238E27FC236}">
                <a16:creationId xmlns:a16="http://schemas.microsoft.com/office/drawing/2014/main" id="{B4AF75E8-D4F4-4D6C-932D-0BAED887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19800"/>
            <a:ext cx="5353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Focused analyzer-v2-runtime tests, source-acquisition tests, analyzer-v2 tests, web build, git diff checks.</a:t>
            </a:r>
          </a:p>
        </p:txBody>
      </p:sp>
      <p:sp>
        <p:nvSpPr>
          <p:cNvPr id="11" name="label-stop-if">
            <a:extLst xmlns:a="http://schemas.openxmlformats.org/drawingml/2006/main">
              <a:ext uri="{FF2B5EF4-FFF2-40B4-BE49-F238E27FC236}">
                <a16:creationId xmlns:a16="http://schemas.microsoft.com/office/drawing/2014/main" id="{44CB6D92-4714-4E6B-A89D-CD62598A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671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4F45"/>
                </a:solidFill>
              </a:defRPr>
            </a:pPr>
            <a:r>
              <a:rPr sz="1275" b="1">
                <a:solidFill>
                  <a:srgbClr val="A84F45"/>
                </a:solidFill>
              </a:rPr>
              <a:t>STOP IF</a:t>
            </a:r>
          </a:p>
        </p:txBody>
      </p:sp>
      <p:sp>
        <p:nvSpPr>
          <p:cNvPr id="12" name="bullet-dot-A dev-only loader">
            <a:extLst xmlns:a="http://schemas.openxmlformats.org/drawingml/2006/main">
              <a:ext uri="{FF2B5EF4-FFF2-40B4-BE49-F238E27FC236}">
                <a16:creationId xmlns:a16="http://schemas.microsoft.com/office/drawing/2014/main" id="{A39A6CF5-0030-4561-AE55-B9B68B43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29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F45"/>
          </a:solidFill>
        </p:spPr>
      </p:sp>
      <p:sp>
        <p:nvSpPr>
          <p:cNvPr id="13" name="bullet-text-A dev-only loader">
            <a:extLst xmlns:a="http://schemas.openxmlformats.org/drawingml/2006/main">
              <a:ext uri="{FF2B5EF4-FFF2-40B4-BE49-F238E27FC236}">
                <a16:creationId xmlns:a16="http://schemas.microsoft.com/office/drawing/2014/main" id="{322A7881-504E-41EA-A028-DA032472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29050"/>
            <a:ext cx="687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A dev-only loader is needed.</a:t>
            </a:r>
          </a:p>
        </p:txBody>
      </p:sp>
      <p:sp>
        <p:nvSpPr>
          <p:cNvPr id="14" name="bullet-dot-Inherited env, fil">
            <a:extLst xmlns:a="http://schemas.openxmlformats.org/drawingml/2006/main">
              <a:ext uri="{FF2B5EF4-FFF2-40B4-BE49-F238E27FC236}">
                <a16:creationId xmlns:a16="http://schemas.microsoft.com/office/drawing/2014/main" id="{9680F4F7-7DFE-46EA-9422-D203CA7F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F45"/>
          </a:solidFill>
        </p:spPr>
      </p:sp>
      <p:sp>
        <p:nvSpPr>
          <p:cNvPr id="15" name="bullet-text-Inherited env, fil">
            <a:extLst xmlns:a="http://schemas.openxmlformats.org/drawingml/2006/main">
              <a:ext uri="{FF2B5EF4-FFF2-40B4-BE49-F238E27FC236}">
                <a16:creationId xmlns:a16="http://schemas.microsoft.com/office/drawing/2014/main" id="{2F79D6AC-BF86-476C-AB13-44676E7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24350"/>
            <a:ext cx="687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Inherited env, filesystem, network, worker threads, vm, native addons, provider/cache/SR imports are needed.</a:t>
            </a:r>
          </a:p>
        </p:txBody>
      </p:sp>
      <p:sp>
        <p:nvSpPr>
          <p:cNvPr id="16" name="bullet-dot-Real fetched bytes">
            <a:extLst xmlns:a="http://schemas.openxmlformats.org/drawingml/2006/main">
              <a:ext uri="{FF2B5EF4-FFF2-40B4-BE49-F238E27FC236}">
                <a16:creationId xmlns:a16="http://schemas.microsoft.com/office/drawing/2014/main" id="{14FEBEE3-0AB9-4D39-A6E6-3311DDA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62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F45"/>
          </a:solidFill>
        </p:spPr>
      </p:sp>
      <p:sp>
        <p:nvSpPr>
          <p:cNvPr id="17" name="bullet-text-Real fetched bytes">
            <a:extLst xmlns:a="http://schemas.openxmlformats.org/drawingml/2006/main">
              <a:ext uri="{FF2B5EF4-FFF2-40B4-BE49-F238E27FC236}">
                <a16:creationId xmlns:a16="http://schemas.microsoft.com/office/drawing/2014/main" id="{0B1650E2-74E0-4475-83F5-C5EF6958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62550"/>
            <a:ext cx="687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Real fetched bytes are consumed.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3823606-5D0D-497C-85C6-1EFA2A6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EA42573-DC06-4EA8-82DC-CF843001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06709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8CF235-523F-44C1-A665-DE4D5F20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C34E67E-BC76-413F-B9D2-BE490D1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GOVERNANCE TICKET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917D8-45B9-4394-8E60-E8AC166A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V2-X2 makes approval state observable.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ADFE3B-D11B-4445-8367-E2C5F3C9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3468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The Gate Register is not a second authority. It is the machine-readable view that reveals whether source packages, policy, prompt sections, and verifiers agree.</a:t>
            </a:r>
          </a:p>
        </p:txBody>
      </p:sp>
      <p:sp>
        <p:nvSpPr>
          <p:cNvPr id="5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1C46AF2-229A-4CB8-BF01-26D87BAA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7543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F8F83"/>
                </a:solidFill>
              </a:defRPr>
            </a:pPr>
            <a:r>
              <a:rPr sz="5400" b="1">
                <a:solidFill>
                  <a:srgbClr val="2F8F83"/>
                </a:solidFill>
              </a:rPr>
              <a:t>1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F555226-AACA-4997-ACDA-E3A05ADC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3219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register row per executable V2 gate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14165780-47A6-4E3D-9F2A-E18E117D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7543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A84F45"/>
                </a:solidFill>
              </a:defRPr>
            </a:pPr>
            <a:r>
              <a:rPr sz="5400" b="1">
                <a:solidFill>
                  <a:srgbClr val="A84F45"/>
                </a:solidFill>
              </a:rPr>
              <a:t>0</a:t>
            </a:r>
          </a:p>
        </p:txBody>
      </p:sp>
      <p:sp>
        <p:nvSpPr>
          <p:cNvPr id="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7430F344-C08D-4A56-91B3-41E72025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828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silent drift tolerated</a:t>
            </a:r>
          </a:p>
        </p:txBody>
      </p:sp>
      <p:sp>
        <p:nvSpPr>
          <p:cNvPr id="9" name="metric-value-5">
            <a:extLst xmlns:a="http://schemas.openxmlformats.org/drawingml/2006/main">
              <a:ext uri="{FF2B5EF4-FFF2-40B4-BE49-F238E27FC236}">
                <a16:creationId xmlns:a16="http://schemas.microsoft.com/office/drawing/2014/main" id="{66EF760F-0928-4736-9EA3-5AB5B4B2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7543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35B8C"/>
                </a:solidFill>
              </a:defRPr>
            </a:pPr>
            <a:r>
              <a:rPr sz="5400" b="1">
                <a:solidFill>
                  <a:srgbClr val="235B8C"/>
                </a:solidFill>
              </a:rPr>
              <a:t>5</a:t>
            </a:r>
          </a:p>
        </p:txBody>
      </p:sp>
      <p:sp>
        <p:nvSpPr>
          <p:cNvPr id="10" name="metric-label-5">
            <a:extLst xmlns:a="http://schemas.openxmlformats.org/drawingml/2006/main">
              <a:ext uri="{FF2B5EF4-FFF2-40B4-BE49-F238E27FC236}">
                <a16:creationId xmlns:a16="http://schemas.microsoft.com/office/drawing/2014/main" id="{C65D7A4B-9995-457C-BDE6-04B8975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29450"/>
            <a:ext cx="3695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minimum evidence fields leaders inspect</a:t>
            </a:r>
          </a:p>
        </p:txBody>
      </p:sp>
      <p:sp>
        <p:nvSpPr>
          <p:cNvPr id="11" name="gate-name-What it stores">
            <a:extLst xmlns:a="http://schemas.openxmlformats.org/drawingml/2006/main">
              <a:ext uri="{FF2B5EF4-FFF2-40B4-BE49-F238E27FC236}">
                <a16:creationId xmlns:a16="http://schemas.microsoft.com/office/drawing/2014/main" id="{68BFCD3E-C4A8-4EF6-BD61-7405164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29146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F83"/>
                </a:solidFill>
              </a:defRPr>
            </a:pPr>
            <a:r>
              <a:rPr sz="1500" b="1">
                <a:solidFill>
                  <a:srgbClr val="2F8F83"/>
                </a:solidFill>
              </a:rPr>
              <a:t>What it stores</a:t>
            </a:r>
          </a:p>
        </p:txBody>
      </p:sp>
      <p:sp>
        <p:nvSpPr>
          <p:cNvPr id="12" name="gate-value-What it stores">
            <a:extLst xmlns:a="http://schemas.openxmlformats.org/drawingml/2006/main">
              <a:ext uri="{FF2B5EF4-FFF2-40B4-BE49-F238E27FC236}">
                <a16:creationId xmlns:a16="http://schemas.microsoft.com/office/drawing/2014/main" id="{3074451D-3493-47DA-8F1D-ABC82568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81400"/>
            <a:ext cx="50863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sliceId, taskId, status, prompt profile, schema, policies, source package, approval pointer, allowed files, verifiers, live eligibility.</a:t>
            </a:r>
          </a:p>
        </p:txBody>
      </p:sp>
      <p:sp>
        <p:nvSpPr>
          <p:cNvPr id="13" name="gate-name-What it catches">
            <a:extLst xmlns:a="http://schemas.openxmlformats.org/drawingml/2006/main">
              <a:ext uri="{FF2B5EF4-FFF2-40B4-BE49-F238E27FC236}">
                <a16:creationId xmlns:a16="http://schemas.microsoft.com/office/drawing/2014/main" id="{0BF13614-5DA1-4ADF-A60D-75C9BE61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14900"/>
            <a:ext cx="2914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F83"/>
                </a:solidFill>
              </a:defRPr>
            </a:pPr>
            <a:r>
              <a:rPr sz="1500" b="1">
                <a:solidFill>
                  <a:srgbClr val="2F8F83"/>
                </a:solidFill>
              </a:rPr>
              <a:t>What it catches</a:t>
            </a:r>
          </a:p>
        </p:txBody>
      </p:sp>
      <p:sp>
        <p:nvSpPr>
          <p:cNvPr id="14" name="gate-value-What it catches">
            <a:extLst xmlns:a="http://schemas.openxmlformats.org/drawingml/2006/main">
              <a:ext uri="{FF2B5EF4-FFF2-40B4-BE49-F238E27FC236}">
                <a16:creationId xmlns:a16="http://schemas.microsoft.com/office/drawing/2014/main" id="{7FA623C9-661D-470F-95FD-10779D0F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914900"/>
            <a:ext cx="5086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Query planning executable in gateway policy while static policy or prompt metadata still lag.</a:t>
            </a:r>
          </a:p>
        </p:txBody>
      </p:sp>
      <p:sp>
        <p:nvSpPr>
          <p:cNvPr id="15" name="gate-name-What it prevents">
            <a:extLst xmlns:a="http://schemas.openxmlformats.org/drawingml/2006/main">
              <a:ext uri="{FF2B5EF4-FFF2-40B4-BE49-F238E27FC236}">
                <a16:creationId xmlns:a16="http://schemas.microsoft.com/office/drawing/2014/main" id="{6AC7133B-8E28-4620-92FD-96E80E2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2914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F83"/>
                </a:solidFill>
              </a:defRPr>
            </a:pPr>
            <a:r>
              <a:rPr sz="1500" b="1">
                <a:solidFill>
                  <a:srgbClr val="2F8F83"/>
                </a:solidFill>
              </a:rPr>
              <a:t>What it prevents</a:t>
            </a:r>
          </a:p>
        </p:txBody>
      </p:sp>
      <p:sp>
        <p:nvSpPr>
          <p:cNvPr id="16" name="gate-value-What it prevents">
            <a:extLst xmlns:a="http://schemas.openxmlformats.org/drawingml/2006/main">
              <a:ext uri="{FF2B5EF4-FFF2-40B4-BE49-F238E27FC236}">
                <a16:creationId xmlns:a16="http://schemas.microsoft.com/office/drawing/2014/main" id="{8152F576-6FE2-4DDC-B83A-5920ACFC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905500"/>
            <a:ext cx="5086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536171"/>
                </a:solidFill>
              </a:defRPr>
            </a:pPr>
            <a:r>
              <a:rPr sz="1800">
                <a:solidFill>
                  <a:srgbClr val="536171"/>
                </a:solidFill>
              </a:rPr>
              <a:t>Architecture approval turning into hidden execution without a testable evidence trail.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CA7E88-6866-4667-A9F2-B75163EF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49EC516-1176-434B-8EAB-56EBB960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3729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9EC286-93F0-474B-8CF7-D80E30A2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4B0380A-B256-4E14-BA73-D76C9CDC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SAFETY TICKET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5974A1-17F9-49E2-9964-FF65592D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Public cutover must be blocked by contract, not convention.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DF693C-24B4-47C1-904F-AE0C89AF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31064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V2 can contain future fields before it is public-ready. Compatibility layers must refuse to treat partial V2 as a successful report.</a:t>
            </a:r>
          </a:p>
        </p:txBody>
      </p:sp>
      <p:sp>
        <p:nvSpPr>
          <p:cNvPr id="5" name="safety-bottom-line">
            <a:extLst xmlns:a="http://schemas.openxmlformats.org/drawingml/2006/main">
              <a:ext uri="{FF2B5EF4-FFF2-40B4-BE49-F238E27FC236}">
                <a16:creationId xmlns:a16="http://schemas.microsoft.com/office/drawing/2014/main" id="{A01293AB-C19A-46C0-94D4-98A84B23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6611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17202A"/>
                </a:solidFill>
              </a:defRPr>
            </a:pPr>
            <a:r>
              <a:rPr sz="2850" b="1">
                <a:solidFill>
                  <a:srgbClr val="17202A"/>
                </a:solidFill>
              </a:rPr>
              <a:t>Cutover discussion begins only after hidden evidence lifecycle and compatibility guards are green.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F6FF6B-B3CA-4776-8E34-9AF44F03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A77F3CD-311A-42EE-8D80-E0C7F27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4182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4FA7096-862B-46A5-83D1-79066C48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DA08080-6407-4F56-A9F5-02458B8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30/60/90 PATH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64B39F-F2A8-4B3F-921A-4F5AA3D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The plan keeps momentum without pretending V2 is launch-ready.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C9819D8-FA04-4382-B908-0E5A7C6F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1734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Leadership should review evidence bundles at each checkpoint, not ask for another broad architecture narrative.</a:t>
            </a:r>
          </a:p>
        </p:txBody>
      </p:sp>
      <p:sp>
        <p:nvSpPr>
          <p:cNvPr id="5" name="label-0-2-weeks">
            <a:extLst xmlns:a="http://schemas.openxmlformats.org/drawingml/2006/main">
              <a:ext uri="{FF2B5EF4-FFF2-40B4-BE49-F238E27FC236}">
                <a16:creationId xmlns:a16="http://schemas.microsoft.com/office/drawing/2014/main" id="{B8DB85AE-FED9-41F5-B313-DE1E9EB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723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7C59"/>
                </a:solidFill>
              </a:defRPr>
            </a:pPr>
            <a:r>
              <a:rPr sz="1275" b="1">
                <a:solidFill>
                  <a:srgbClr val="3D7C59"/>
                </a:solidFill>
              </a:rPr>
              <a:t>0-2 WEEKS</a:t>
            </a:r>
          </a:p>
        </p:txBody>
      </p:sp>
      <p:sp>
        <p:nvSpPr>
          <p:cNvPr id="6" name="timeline-title-0-2 WEEKS">
            <a:extLst xmlns:a="http://schemas.openxmlformats.org/drawingml/2006/main">
              <a:ext uri="{FF2B5EF4-FFF2-40B4-BE49-F238E27FC236}">
                <a16:creationId xmlns:a16="http://schemas.microsoft.com/office/drawing/2014/main" id="{0846E00C-FEA8-40E0-A909-26B2B144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2876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Protocol and controls</a:t>
            </a:r>
          </a:p>
        </p:txBody>
      </p:sp>
      <p:sp>
        <p:nvSpPr>
          <p:cNvPr id="7" name="bullet-dot-X1 2D-A implementa">
            <a:extLst xmlns:a="http://schemas.openxmlformats.org/drawingml/2006/main">
              <a:ext uri="{FF2B5EF4-FFF2-40B4-BE49-F238E27FC236}">
                <a16:creationId xmlns:a16="http://schemas.microsoft.com/office/drawing/2014/main" id="{B9F71C0F-8120-4F1F-ABE2-FADFB9D5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C59"/>
          </a:solidFill>
        </p:spPr>
      </p:sp>
      <p:sp>
        <p:nvSpPr>
          <p:cNvPr id="8" name="bullet-text-X1 2D-A implementa">
            <a:extLst xmlns:a="http://schemas.openxmlformats.org/drawingml/2006/main">
              <a:ext uri="{FF2B5EF4-FFF2-40B4-BE49-F238E27FC236}">
                <a16:creationId xmlns:a16="http://schemas.microsoft.com/office/drawing/2014/main" id="{24CB390B-CDEA-4C83-9322-16CED2B6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X1 2D-A implementation</a:t>
            </a:r>
          </a:p>
        </p:txBody>
      </p:sp>
      <p:sp>
        <p:nvSpPr>
          <p:cNvPr id="9" name="bullet-dot-X2 Gate Register v">
            <a:extLst xmlns:a="http://schemas.openxmlformats.org/drawingml/2006/main">
              <a:ext uri="{FF2B5EF4-FFF2-40B4-BE49-F238E27FC236}">
                <a16:creationId xmlns:a16="http://schemas.microsoft.com/office/drawing/2014/main" id="{A6E418A5-819B-4F5A-B65B-46E7E23A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C59"/>
          </a:solidFill>
        </p:spPr>
      </p:sp>
      <p:sp>
        <p:nvSpPr>
          <p:cNvPr id="10" name="bullet-text-X2 Gate Register v">
            <a:extLst xmlns:a="http://schemas.openxmlformats.org/drawingml/2006/main">
              <a:ext uri="{FF2B5EF4-FFF2-40B4-BE49-F238E27FC236}">
                <a16:creationId xmlns:a16="http://schemas.microsoft.com/office/drawing/2014/main" id="{53EB8BE1-430B-4559-9E04-94E763A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X2 Gate Register v0</a:t>
            </a:r>
          </a:p>
        </p:txBody>
      </p:sp>
      <p:sp>
        <p:nvSpPr>
          <p:cNvPr id="11" name="bullet-dot-X3-A policy drift">
            <a:extLst xmlns:a="http://schemas.openxmlformats.org/drawingml/2006/main">
              <a:ext uri="{FF2B5EF4-FFF2-40B4-BE49-F238E27FC236}">
                <a16:creationId xmlns:a16="http://schemas.microsoft.com/office/drawing/2014/main" id="{94AD70F7-90C6-46B6-A4E6-A5876D03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C59"/>
          </a:solidFill>
        </p:spPr>
      </p:sp>
      <p:sp>
        <p:nvSpPr>
          <p:cNvPr id="12" name="bullet-text-X3-A policy drift">
            <a:extLst xmlns:a="http://schemas.openxmlformats.org/drawingml/2006/main">
              <a:ext uri="{FF2B5EF4-FFF2-40B4-BE49-F238E27FC236}">
                <a16:creationId xmlns:a16="http://schemas.microsoft.com/office/drawing/2014/main" id="{14C359A4-FCD8-48C4-9A31-0C1CBDFC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X3-A policy drift plan</a:t>
            </a:r>
          </a:p>
        </p:txBody>
      </p:sp>
      <p:sp>
        <p:nvSpPr>
          <p:cNvPr id="13" name="label-2-4-weeks">
            <a:extLst xmlns:a="http://schemas.openxmlformats.org/drawingml/2006/main">
              <a:ext uri="{FF2B5EF4-FFF2-40B4-BE49-F238E27FC236}">
                <a16:creationId xmlns:a16="http://schemas.microsoft.com/office/drawing/2014/main" id="{BCB7FBB7-9860-4404-9AE6-3EDF8AA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67100"/>
            <a:ext cx="723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B8C"/>
                </a:solidFill>
              </a:defRPr>
            </a:pPr>
            <a:r>
              <a:rPr sz="1275" b="1">
                <a:solidFill>
                  <a:srgbClr val="235B8C"/>
                </a:solidFill>
              </a:rPr>
              <a:t>2-4 WEEKS</a:t>
            </a:r>
          </a:p>
        </p:txBody>
      </p:sp>
      <p:sp>
        <p:nvSpPr>
          <p:cNvPr id="14" name="timeline-title-2-4 WEEKS">
            <a:extLst xmlns:a="http://schemas.openxmlformats.org/drawingml/2006/main">
              <a:ext uri="{FF2B5EF4-FFF2-40B4-BE49-F238E27FC236}">
                <a16:creationId xmlns:a16="http://schemas.microsoft.com/office/drawing/2014/main" id="{394211D0-1512-411B-8444-E013FBD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30861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Safety and hidden flow</a:t>
            </a:r>
          </a:p>
        </p:txBody>
      </p:sp>
      <p:sp>
        <p:nvSpPr>
          <p:cNvPr id="15" name="bullet-dot-X3-B prompt metada">
            <a:extLst xmlns:a="http://schemas.openxmlformats.org/drawingml/2006/main">
              <a:ext uri="{FF2B5EF4-FFF2-40B4-BE49-F238E27FC236}">
                <a16:creationId xmlns:a16="http://schemas.microsoft.com/office/drawing/2014/main" id="{71EA193D-9790-4714-B8BA-ABED1018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91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B8C"/>
          </a:solidFill>
        </p:spPr>
      </p:sp>
      <p:sp>
        <p:nvSpPr>
          <p:cNvPr id="16" name="bullet-text-X3-B prompt metada">
            <a:extLst xmlns:a="http://schemas.openxmlformats.org/drawingml/2006/main">
              <a:ext uri="{FF2B5EF4-FFF2-40B4-BE49-F238E27FC236}">
                <a16:creationId xmlns:a16="http://schemas.microsoft.com/office/drawing/2014/main" id="{00586F4A-0A48-4AD5-A03A-A5F84EB2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9110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X3-B prompt metadata if approved</a:t>
            </a:r>
          </a:p>
        </p:txBody>
      </p:sp>
      <p:sp>
        <p:nvSpPr>
          <p:cNvPr id="17" name="bullet-dot-X4 public cutover">
            <a:extLst xmlns:a="http://schemas.openxmlformats.org/drawingml/2006/main">
              <a:ext uri="{FF2B5EF4-FFF2-40B4-BE49-F238E27FC236}">
                <a16:creationId xmlns:a16="http://schemas.microsoft.com/office/drawing/2014/main" id="{5FD3E965-B14E-4ADA-9C52-48734868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29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B8C"/>
          </a:solidFill>
        </p:spPr>
      </p:sp>
      <p:sp>
        <p:nvSpPr>
          <p:cNvPr id="18" name="bullet-text-X4 public cutover">
            <a:extLst xmlns:a="http://schemas.openxmlformats.org/drawingml/2006/main">
              <a:ext uri="{FF2B5EF4-FFF2-40B4-BE49-F238E27FC236}">
                <a16:creationId xmlns:a16="http://schemas.microsoft.com/office/drawing/2014/main" id="{8F6C99BA-556A-4BB7-8996-0FD70027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X4 public cutover guard</a:t>
            </a:r>
          </a:p>
        </p:txBody>
      </p:sp>
      <p:sp>
        <p:nvSpPr>
          <p:cNvPr id="19" name="bullet-dot-X5 hidden integrat">
            <a:extLst xmlns:a="http://schemas.openxmlformats.org/drawingml/2006/main">
              <a:ext uri="{FF2B5EF4-FFF2-40B4-BE49-F238E27FC236}">
                <a16:creationId xmlns:a16="http://schemas.microsoft.com/office/drawing/2014/main" id="{FBE44E97-1EF9-4E63-9527-9D430340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886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B8C"/>
          </a:solidFill>
        </p:spPr>
      </p:sp>
      <p:sp>
        <p:nvSpPr>
          <p:cNvPr id="20" name="bullet-text-X5 hidden integrat">
            <a:extLst xmlns:a="http://schemas.openxmlformats.org/drawingml/2006/main">
              <a:ext uri="{FF2B5EF4-FFF2-40B4-BE49-F238E27FC236}">
                <a16:creationId xmlns:a16="http://schemas.microsoft.com/office/drawing/2014/main" id="{872AEC9D-0D4E-42E0-AC2F-795AB45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8645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X5 hidden integration harness</a:t>
            </a:r>
          </a:p>
        </p:txBody>
      </p:sp>
      <p:sp>
        <p:nvSpPr>
          <p:cNvPr id="21" name="label-after-gates">
            <a:extLst xmlns:a="http://schemas.openxmlformats.org/drawingml/2006/main">
              <a:ext uri="{FF2B5EF4-FFF2-40B4-BE49-F238E27FC236}">
                <a16:creationId xmlns:a16="http://schemas.microsoft.com/office/drawing/2014/main" id="{B33F576A-9388-44E4-8D84-5276BC36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467100"/>
            <a:ext cx="87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8892F"/>
                </a:solidFill>
              </a:defRPr>
            </a:pPr>
            <a:r>
              <a:rPr sz="1275" b="1">
                <a:solidFill>
                  <a:srgbClr val="C8892F"/>
                </a:solidFill>
              </a:rPr>
              <a:t>AFTER GATES</a:t>
            </a:r>
          </a:p>
        </p:txBody>
      </p:sp>
      <p:sp>
        <p:nvSpPr>
          <p:cNvPr id="22" name="timeline-title-AFTER GATES">
            <a:extLst xmlns:a="http://schemas.openxmlformats.org/drawingml/2006/main">
              <a:ext uri="{FF2B5EF4-FFF2-40B4-BE49-F238E27FC236}">
                <a16:creationId xmlns:a16="http://schemas.microsoft.com/office/drawing/2014/main" id="{C4E7D875-530A-4E13-8F5D-D391974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829050"/>
            <a:ext cx="23431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Evidence lifecycle</a:t>
            </a:r>
          </a:p>
        </p:txBody>
      </p:sp>
      <p:sp>
        <p:nvSpPr>
          <p:cNvPr id="23" name="bullet-dot-2D-B OS-level isol">
            <a:extLst xmlns:a="http://schemas.openxmlformats.org/drawingml/2006/main">
              <a:ext uri="{FF2B5EF4-FFF2-40B4-BE49-F238E27FC236}">
                <a16:creationId xmlns:a16="http://schemas.microsoft.com/office/drawing/2014/main" id="{B7FF7451-CEA7-4F85-AEAB-7AA66E36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991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92F"/>
          </a:solidFill>
        </p:spPr>
      </p:sp>
      <p:sp>
        <p:nvSpPr>
          <p:cNvPr id="24" name="bullet-text-2D-B OS-level isol">
            <a:extLst xmlns:a="http://schemas.openxmlformats.org/drawingml/2006/main">
              <a:ext uri="{FF2B5EF4-FFF2-40B4-BE49-F238E27FC236}">
                <a16:creationId xmlns:a16="http://schemas.microsoft.com/office/drawing/2014/main" id="{93D59812-C099-429E-94BD-960F711A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99110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2D-B OS-level isolation</a:t>
            </a:r>
          </a:p>
        </p:txBody>
      </p:sp>
      <p:sp>
        <p:nvSpPr>
          <p:cNvPr id="25" name="bullet-dot-2D-C inert real-by">
            <a:extLst xmlns:a="http://schemas.openxmlformats.org/drawingml/2006/main">
              <a:ext uri="{FF2B5EF4-FFF2-40B4-BE49-F238E27FC236}">
                <a16:creationId xmlns:a16="http://schemas.microsoft.com/office/drawing/2014/main" id="{87E8F30F-60A2-43DC-B2C5-DB09BD8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429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92F"/>
          </a:solidFill>
        </p:spPr>
      </p:sp>
      <p:sp>
        <p:nvSpPr>
          <p:cNvPr id="26" name="bullet-text-2D-C inert real-by">
            <a:extLst xmlns:a="http://schemas.openxmlformats.org/drawingml/2006/main">
              <a:ext uri="{FF2B5EF4-FFF2-40B4-BE49-F238E27FC236}">
                <a16:creationId xmlns:a16="http://schemas.microsoft.com/office/drawing/2014/main" id="{9AAC9568-D0AE-42A3-9EAB-F9743532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42925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2D-C inert real-byte parser</a:t>
            </a:r>
          </a:p>
        </p:txBody>
      </p:sp>
      <p:sp>
        <p:nvSpPr>
          <p:cNvPr id="27" name="bullet-dot-Evidence applicabi">
            <a:extLst xmlns:a="http://schemas.openxmlformats.org/drawingml/2006/main">
              <a:ext uri="{FF2B5EF4-FFF2-40B4-BE49-F238E27FC236}">
                <a16:creationId xmlns:a16="http://schemas.microsoft.com/office/drawing/2014/main" id="{C509545D-D60F-4D7D-9497-E7893E5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886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92F"/>
          </a:solidFill>
        </p:spPr>
      </p:sp>
      <p:sp>
        <p:nvSpPr>
          <p:cNvPr id="28" name="bullet-text-Evidence applicabi">
            <a:extLst xmlns:a="http://schemas.openxmlformats.org/drawingml/2006/main">
              <a:ext uri="{FF2B5EF4-FFF2-40B4-BE49-F238E27FC236}">
                <a16:creationId xmlns:a16="http://schemas.microsoft.com/office/drawing/2014/main" id="{6C105383-F57B-4F8B-A73A-9F623420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886450"/>
            <a:ext cx="478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Evidence applicability and extraction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A9C5E9-692B-4B28-AA64-41449E8C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662848A-FE9C-41BF-BB85-635C53D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74515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82841E5-43B0-4AFC-AEB3-3BB07752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D105D8E-D639-42AF-B3DA-F7BC3430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LEADERSHIP CHECKPOINT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9BA8BF-0BBF-4D10-B7D2-3E13B640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Use five yes/no questions at every V2 steering review.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16F8299-A6A2-4A29-8E77-16D720E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880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A single no keeps V2 in infrastructure stage. That is governance working as designed.</a:t>
            </a:r>
          </a:p>
        </p:txBody>
      </p:sp>
      <p:sp>
        <p:nvSpPr>
          <p:cNvPr id="5" name="checkpoint-question-Is 2D-A approval r">
            <a:extLst xmlns:a="http://schemas.openxmlformats.org/drawingml/2006/main">
              <a:ext uri="{FF2B5EF4-FFF2-40B4-BE49-F238E27FC236}">
                <a16:creationId xmlns:a16="http://schemas.microsoft.com/office/drawing/2014/main" id="{B46691DE-BF5A-4BFD-B95C-184AEEB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232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Is 2D-A approval recorded and accepted as the active state?</a:t>
            </a:r>
          </a:p>
        </p:txBody>
      </p:sp>
      <p:sp>
        <p:nvSpPr>
          <p:cNvPr id="6" name="checkpoint-answer-Is 2D-A approval r">
            <a:extLst xmlns:a="http://schemas.openxmlformats.org/drawingml/2006/main">
              <a:ext uri="{FF2B5EF4-FFF2-40B4-BE49-F238E27FC236}">
                <a16:creationId xmlns:a16="http://schemas.microsoft.com/office/drawing/2014/main" id="{A7C0E206-A35E-4B37-B217-694A6AE9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600450"/>
            <a:ext cx="401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7C59"/>
                </a:solidFill>
              </a:defRPr>
            </a:pPr>
            <a:r>
              <a:rPr sz="1725" b="1">
                <a:solidFill>
                  <a:srgbClr val="3D7C59"/>
                </a:solidFill>
              </a:rPr>
              <a:t>YES / NO</a:t>
            </a:r>
          </a:p>
        </p:txBody>
      </p:sp>
      <p:sp>
        <p:nvSpPr>
          <p:cNvPr id="7" name="checkpoint-question-Is the Gate Regist">
            <a:extLst xmlns:a="http://schemas.openxmlformats.org/drawingml/2006/main">
              <a:ext uri="{FF2B5EF4-FFF2-40B4-BE49-F238E27FC236}">
                <a16:creationId xmlns:a16="http://schemas.microsoft.com/office/drawing/2014/main" id="{305C7429-BFB0-4301-A51F-29222288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232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Is the Gate Register catching policy and prompt drift?</a:t>
            </a:r>
          </a:p>
        </p:txBody>
      </p:sp>
      <p:sp>
        <p:nvSpPr>
          <p:cNvPr id="8" name="checkpoint-answer-Is the Gate Regist">
            <a:extLst xmlns:a="http://schemas.openxmlformats.org/drawingml/2006/main">
              <a:ext uri="{FF2B5EF4-FFF2-40B4-BE49-F238E27FC236}">
                <a16:creationId xmlns:a16="http://schemas.microsoft.com/office/drawing/2014/main" id="{AD46B21C-F6B0-443E-93FD-235BF9BB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305300"/>
            <a:ext cx="401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8F83"/>
                </a:solidFill>
              </a:defRPr>
            </a:pPr>
            <a:r>
              <a:rPr sz="1725" b="1">
                <a:solidFill>
                  <a:srgbClr val="2F8F83"/>
                </a:solidFill>
              </a:rPr>
              <a:t>YES / NO</a:t>
            </a:r>
          </a:p>
        </p:txBody>
      </p:sp>
      <p:sp>
        <p:nvSpPr>
          <p:cNvPr id="9" name="checkpoint-question-Is query planning">
            <a:extLst xmlns:a="http://schemas.openxmlformats.org/drawingml/2006/main">
              <a:ext uri="{FF2B5EF4-FFF2-40B4-BE49-F238E27FC236}">
                <a16:creationId xmlns:a16="http://schemas.microsoft.com/office/drawing/2014/main" id="{B1F05FE4-64F4-48F2-A7E3-707853DD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232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Is query planning consistent across gateway, static policy, prompt metadata, and tests?</a:t>
            </a:r>
          </a:p>
        </p:txBody>
      </p:sp>
      <p:sp>
        <p:nvSpPr>
          <p:cNvPr id="10" name="checkpoint-answer-Is query planning">
            <a:extLst xmlns:a="http://schemas.openxmlformats.org/drawingml/2006/main">
              <a:ext uri="{FF2B5EF4-FFF2-40B4-BE49-F238E27FC236}">
                <a16:creationId xmlns:a16="http://schemas.microsoft.com/office/drawing/2014/main" id="{22E6B125-0BDB-43AE-99BD-36974AEF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029200"/>
            <a:ext cx="401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8892F"/>
                </a:solidFill>
              </a:defRPr>
            </a:pPr>
            <a:r>
              <a:rPr sz="1725" b="1">
                <a:solidFill>
                  <a:srgbClr val="C8892F"/>
                </a:solidFill>
              </a:rPr>
              <a:t>YES / NO</a:t>
            </a:r>
          </a:p>
        </p:txBody>
      </p:sp>
      <p:sp>
        <p:nvSpPr>
          <p:cNvPr id="11" name="checkpoint-question-Is public V2 expos">
            <a:extLst xmlns:a="http://schemas.openxmlformats.org/drawingml/2006/main">
              <a:ext uri="{FF2B5EF4-FFF2-40B4-BE49-F238E27FC236}">
                <a16:creationId xmlns:a16="http://schemas.microsoft.com/office/drawing/2014/main" id="{F012A620-B4A5-4C8A-BFA4-E272878C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232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Is public V2 exposure blocked by contract, not convention?</a:t>
            </a:r>
          </a:p>
        </p:txBody>
      </p:sp>
      <p:sp>
        <p:nvSpPr>
          <p:cNvPr id="12" name="checkpoint-answer-Is public V2 expos">
            <a:extLst xmlns:a="http://schemas.openxmlformats.org/drawingml/2006/main">
              <a:ext uri="{FF2B5EF4-FFF2-40B4-BE49-F238E27FC236}">
                <a16:creationId xmlns:a16="http://schemas.microsoft.com/office/drawing/2014/main" id="{D7B086CA-DD43-4AD0-8949-B3B85E1A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734050"/>
            <a:ext cx="401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4F45"/>
                </a:solidFill>
              </a:defRPr>
            </a:pPr>
            <a:r>
              <a:rPr sz="1725" b="1">
                <a:solidFill>
                  <a:srgbClr val="A84F45"/>
                </a:solidFill>
              </a:rPr>
              <a:t>YES / NO</a:t>
            </a:r>
          </a:p>
        </p:txBody>
      </p:sp>
      <p:sp>
        <p:nvSpPr>
          <p:cNvPr id="13" name="checkpoint-question-Can hidden Claim U">
            <a:extLst xmlns:a="http://schemas.openxmlformats.org/drawingml/2006/main">
              <a:ext uri="{FF2B5EF4-FFF2-40B4-BE49-F238E27FC236}">
                <a16:creationId xmlns:a16="http://schemas.microsoft.com/office/drawing/2014/main" id="{B38323E7-9179-4C77-86A1-E69F9769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1232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Can hidden Claim Understanding to query-plan handoff pass without public output?</a:t>
            </a:r>
          </a:p>
        </p:txBody>
      </p:sp>
      <p:sp>
        <p:nvSpPr>
          <p:cNvPr id="14" name="checkpoint-answer-Can hidden Claim U">
            <a:extLst xmlns:a="http://schemas.openxmlformats.org/drawingml/2006/main">
              <a:ext uri="{FF2B5EF4-FFF2-40B4-BE49-F238E27FC236}">
                <a16:creationId xmlns:a16="http://schemas.microsoft.com/office/drawing/2014/main" id="{C7961090-FD26-44F2-B82A-47A69621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57950"/>
            <a:ext cx="4019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5B8C"/>
                </a:solidFill>
              </a:defRPr>
            </a:pPr>
            <a:r>
              <a:rPr sz="1725" b="1">
                <a:solidFill>
                  <a:srgbClr val="235B8C"/>
                </a:solidFill>
              </a:rPr>
              <a:t>YES / NO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016234E-EA60-4171-AE0B-7A908AF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01200E8-2773-4B13-9C72-1476FB66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96132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56048B0-1F6B-4132-A0EB-DA1358EC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D3251B5-27EF-4DAF-9EDA-8B0165A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F83"/>
                </a:solidFill>
              </a:defRPr>
            </a:pPr>
            <a:r>
              <a:rPr sz="1350" b="1">
                <a:solidFill>
                  <a:srgbClr val="2F8F83"/>
                </a:solidFill>
              </a:rPr>
              <a:t>CLOSING RULE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17E5A6-DD22-4F7B-A4C3-9ACF16A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611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125" b="1">
                <a:solidFill>
                  <a:srgbClr val="17202A"/>
                </a:solidFill>
              </a:defRPr>
            </a:pPr>
            <a:r>
              <a:rPr sz="4125" b="1">
                <a:solidFill>
                  <a:srgbClr val="17202A"/>
                </a:solidFill>
              </a:rPr>
              <a:t>The next meeting should review evidence, not prose.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D539F6-17B2-4BC5-AC60-97A77709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3354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171"/>
                </a:solidFill>
              </a:defRPr>
            </a:pPr>
            <a:r>
              <a:rPr sz="2025">
                <a:solidFill>
                  <a:srgbClr val="536171"/>
                </a:solidFill>
              </a:rPr>
              <a:t>Ask for four artifacts. If they exist and pass, the team has earned the next gate. If not, the architecture is still ahead of execution.</a:t>
            </a:r>
          </a:p>
        </p:txBody>
      </p:sp>
      <p:sp>
        <p:nvSpPr>
          <p:cNvPr id="5" name="bullet-dot-2D-A focused verif">
            <a:extLst xmlns:a="http://schemas.openxmlformats.org/drawingml/2006/main">
              <a:ext uri="{FF2B5EF4-FFF2-40B4-BE49-F238E27FC236}">
                <a16:creationId xmlns:a16="http://schemas.microsoft.com/office/drawing/2014/main" id="{D9CAEB59-FA78-4BC3-8C52-A1CA0CA7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C59"/>
          </a:solidFill>
        </p:spPr>
      </p:sp>
      <p:sp>
        <p:nvSpPr>
          <p:cNvPr id="6" name="bullet-text-2D-A focused verif">
            <a:extLst xmlns:a="http://schemas.openxmlformats.org/drawingml/2006/main">
              <a:ext uri="{FF2B5EF4-FFF2-40B4-BE49-F238E27FC236}">
                <a16:creationId xmlns:a16="http://schemas.microsoft.com/office/drawing/2014/main" id="{3E4C2116-7B4C-4DA5-8D1F-0B2F00C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802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2D-A focused verifier output.</a:t>
            </a:r>
          </a:p>
        </p:txBody>
      </p:sp>
      <p:sp>
        <p:nvSpPr>
          <p:cNvPr id="7" name="bullet-dot-Gate Register vali">
            <a:extLst xmlns:a="http://schemas.openxmlformats.org/drawingml/2006/main">
              <a:ext uri="{FF2B5EF4-FFF2-40B4-BE49-F238E27FC236}">
                <a16:creationId xmlns:a16="http://schemas.microsoft.com/office/drawing/2014/main" id="{AD34640A-FB70-432B-B3A5-148477D5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83"/>
          </a:solidFill>
        </p:spPr>
      </p:sp>
      <p:sp>
        <p:nvSpPr>
          <p:cNvPr id="8" name="bullet-text-Gate Register vali">
            <a:extLst xmlns:a="http://schemas.openxmlformats.org/drawingml/2006/main">
              <a:ext uri="{FF2B5EF4-FFF2-40B4-BE49-F238E27FC236}">
                <a16:creationId xmlns:a16="http://schemas.microsoft.com/office/drawing/2014/main" id="{5D755E9A-6ED1-46EB-8560-01908D6E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802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Gate Register validation output.</a:t>
            </a:r>
          </a:p>
        </p:txBody>
      </p:sp>
      <p:sp>
        <p:nvSpPr>
          <p:cNvPr id="9" name="bullet-dot-Cutover guard comp">
            <a:extLst xmlns:a="http://schemas.openxmlformats.org/drawingml/2006/main">
              <a:ext uri="{FF2B5EF4-FFF2-40B4-BE49-F238E27FC236}">
                <a16:creationId xmlns:a16="http://schemas.microsoft.com/office/drawing/2014/main" id="{59C87A80-56F0-4ABA-822F-BD586578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F45"/>
          </a:solidFill>
        </p:spPr>
      </p:sp>
      <p:sp>
        <p:nvSpPr>
          <p:cNvPr id="10" name="bullet-text-Cutover guard comp">
            <a:extLst xmlns:a="http://schemas.openxmlformats.org/drawingml/2006/main">
              <a:ext uri="{FF2B5EF4-FFF2-40B4-BE49-F238E27FC236}">
                <a16:creationId xmlns:a16="http://schemas.microsoft.com/office/drawing/2014/main" id="{FA116934-841A-49FB-8FB2-2D5998F1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802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Cutover guard compatibility tests.</a:t>
            </a:r>
          </a:p>
        </p:txBody>
      </p:sp>
      <p:sp>
        <p:nvSpPr>
          <p:cNvPr id="11" name="bullet-dot-Hidden integration">
            <a:extLst xmlns:a="http://schemas.openxmlformats.org/drawingml/2006/main">
              <a:ext uri="{FF2B5EF4-FFF2-40B4-BE49-F238E27FC236}">
                <a16:creationId xmlns:a16="http://schemas.microsoft.com/office/drawing/2014/main" id="{25E342C8-192D-4E3C-BA50-5172B47F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B8C"/>
          </a:solidFill>
        </p:spPr>
      </p:sp>
      <p:sp>
        <p:nvSpPr>
          <p:cNvPr id="12" name="bullet-text-Hidden integration">
            <a:extLst xmlns:a="http://schemas.openxmlformats.org/drawingml/2006/main">
              <a:ext uri="{FF2B5EF4-FFF2-40B4-BE49-F238E27FC236}">
                <a16:creationId xmlns:a16="http://schemas.microsoft.com/office/drawing/2014/main" id="{B789B7A2-B3A2-4E33-83FB-BD47480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802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75">
                <a:solidFill>
                  <a:srgbClr val="536171"/>
                </a:solidFill>
              </a:defRPr>
            </a:pPr>
            <a:r>
              <a:rPr sz="1875">
                <a:solidFill>
                  <a:srgbClr val="536171"/>
                </a:solidFill>
              </a:rPr>
              <a:t>Hidden integration harness preview.</a:t>
            </a:r>
          </a:p>
        </p:txBody>
      </p:sp>
      <p:sp>
        <p:nvSpPr>
          <p:cNvPr id="13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B6F2649B-7250-4A46-B5B3-FB33E535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67100"/>
            <a:ext cx="49149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4050" b="1">
                <a:solidFill>
                  <a:srgbClr val="17202A"/>
                </a:solidFill>
              </a:defRPr>
            </a:pPr>
            <a:r>
              <a:rPr sz="4050" b="1">
                <a:solidFill>
                  <a:srgbClr val="17202A"/>
                </a:solidFill>
              </a:rPr>
              <a:t>Proceed only when the evidence is green.</a:t>
            </a:r>
          </a:p>
        </p:txBody>
      </p:sp>
      <p:sp>
        <p:nvSpPr>
          <p:cNvPr id="14" name="closing-support">
            <a:extLst xmlns:a="http://schemas.openxmlformats.org/drawingml/2006/main">
              <a:ext uri="{FF2B5EF4-FFF2-40B4-BE49-F238E27FC236}">
                <a16:creationId xmlns:a16="http://schemas.microsoft.com/office/drawing/2014/main" id="{6CBB0E10-1EB6-4EA7-912C-EE3E8443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72050"/>
            <a:ext cx="61722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100">
                <a:solidFill>
                  <a:srgbClr val="536171"/>
                </a:solidFill>
              </a:defRPr>
            </a:pPr>
            <a:r>
              <a:rPr sz="2100">
                <a:solidFill>
                  <a:srgbClr val="536171"/>
                </a:solidFill>
              </a:rPr>
              <a:t>Until then: continue V2, keep V1 public, and hold cutover language.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DDEBB2F-578B-46BE-ACE3-4BD2E9D0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17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FactHarbor V2 leadership execution bridge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D6E577-CD8C-4417-BED6-84A03E02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5440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096"/>
                </a:solidFill>
              </a:defRPr>
            </a:pPr>
            <a:r>
              <a:rPr sz="1050">
                <a:solidFill>
                  <a:srgbClr val="71809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53416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2026-05-16T09:06:32.4420000Z</dcterms:created>
  <dcterms:modified xsi:type="dcterms:W3CDTF">2026-05-16T09:06:32.4420000Z</dcterms:modified>
</coreProperties>
</file>