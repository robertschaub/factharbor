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24556d5da44f3e" /><Relationship Type="http://schemas.openxmlformats.org/officeDocument/2006/relationships/extended-properties" Target="/docProps/app.xml" Id="Ra5d90f617a674a40" /><Relationship Type="http://schemas.openxmlformats.org/officeDocument/2006/relationships/officeDocument" Target="/ppt/presentation.xml" Id="Rf453df85928c45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868690d7954b0a"/>
  </p:sldMasterIdLst>
  <p:notesMasterIdLst>
    <p:notesMasterId xmlns:r="http://schemas.openxmlformats.org/officeDocument/2006/relationships" r:id="Rae2eb73779794efc"/>
  </p:notesMasterIdLst>
  <p:sldIdLst>
    <p:sldId xmlns:r="http://schemas.openxmlformats.org/officeDocument/2006/relationships" id="256" r:id="R45fb3f4d69714957"/>
    <p:sldId xmlns:r="http://schemas.openxmlformats.org/officeDocument/2006/relationships" id="257" r:id="R6f88651a4cb84ed8"/>
    <p:sldId xmlns:r="http://schemas.openxmlformats.org/officeDocument/2006/relationships" id="258" r:id="Rac188df9ea584cea"/>
    <p:sldId xmlns:r="http://schemas.openxmlformats.org/officeDocument/2006/relationships" id="259" r:id="R093c4df1061a4bda"/>
    <p:sldId xmlns:r="http://schemas.openxmlformats.org/officeDocument/2006/relationships" id="260" r:id="Rffa505f0c1ad4c09"/>
    <p:sldId xmlns:r="http://schemas.openxmlformats.org/officeDocument/2006/relationships" id="261" r:id="Rce0d52e6abc14a18"/>
    <p:sldId xmlns:r="http://schemas.openxmlformats.org/officeDocument/2006/relationships" id="262" r:id="R33a1e50a40eb4bd4"/>
    <p:sldId xmlns:r="http://schemas.openxmlformats.org/officeDocument/2006/relationships" id="263" r:id="R4b1380aa71144850"/>
    <p:sldId xmlns:r="http://schemas.openxmlformats.org/officeDocument/2006/relationships" id="264" r:id="R7283ea950a4f46aa"/>
    <p:sldId xmlns:r="http://schemas.openxmlformats.org/officeDocument/2006/relationships" id="265" r:id="R160be1c73887406c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868690d7954b0a" /><Relationship Type="http://schemas.openxmlformats.org/officeDocument/2006/relationships/theme" Target="/ppt/theme/theme1.xml" Id="Rbee5d04d69a34fe4" /><Relationship Type="http://schemas.openxmlformats.org/officeDocument/2006/relationships/notesMaster" Target="/ppt/notesMasters/notesMaster1.xml" Id="Rae2eb73779794efc" /><Relationship Type="http://schemas.openxmlformats.org/officeDocument/2006/relationships/presProps" Target="/ppt/presProps.xml" Id="Rb24a1000971042a2" /><Relationship Type="http://schemas.openxmlformats.org/officeDocument/2006/relationships/viewProps" Target="/ppt/viewProps.xml" Id="R183abe113e0c4b8d" /><Relationship Type="http://schemas.openxmlformats.org/officeDocument/2006/relationships/tableStyles" Target="/ppt/tableStyles.xml" Id="R7fbabf52783c4191" /><Relationship Type="http://schemas.openxmlformats.org/officeDocument/2006/relationships/slide" Target="/ppt/slides/slide1.xml" Id="R45fb3f4d69714957" /><Relationship Type="http://schemas.openxmlformats.org/officeDocument/2006/relationships/slide" Target="/ppt/slides/slide2.xml" Id="R6f88651a4cb84ed8" /><Relationship Type="http://schemas.openxmlformats.org/officeDocument/2006/relationships/slide" Target="/ppt/slides/slide3.xml" Id="Rac188df9ea584cea" /><Relationship Type="http://schemas.openxmlformats.org/officeDocument/2006/relationships/slide" Target="/ppt/slides/slide4.xml" Id="R093c4df1061a4bda" /><Relationship Type="http://schemas.openxmlformats.org/officeDocument/2006/relationships/slide" Target="/ppt/slides/slide5.xml" Id="Rffa505f0c1ad4c09" /><Relationship Type="http://schemas.openxmlformats.org/officeDocument/2006/relationships/slide" Target="/ppt/slides/slide6.xml" Id="Rce0d52e6abc14a18" /><Relationship Type="http://schemas.openxmlformats.org/officeDocument/2006/relationships/slide" Target="/ppt/slides/slide7.xml" Id="R33a1e50a40eb4bd4" /><Relationship Type="http://schemas.openxmlformats.org/officeDocument/2006/relationships/slide" Target="/ppt/slides/slide8.xml" Id="R4b1380aa71144850" /><Relationship Type="http://schemas.openxmlformats.org/officeDocument/2006/relationships/slide" Target="/ppt/slides/slide9.xml" Id="R7283ea950a4f46aa" /><Relationship Type="http://schemas.openxmlformats.org/officeDocument/2006/relationships/slide" Target="/ppt/slides/slide10.xml" Id="R160be1c7388740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23a7d23318d4c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7c6cd0195d4627" /><Relationship Type="http://schemas.openxmlformats.org/officeDocument/2006/relationships/notesMaster" Target="/ppt/notesMasters/notesMaster1.xml" Id="R9ceff9247d9c47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35f73acff446ab" /><Relationship Type="http://schemas.openxmlformats.org/officeDocument/2006/relationships/notesMaster" Target="/ppt/notesMasters/notesMaster1.xml" Id="Rc37d26982cc74d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21e9e251a84b1a" /><Relationship Type="http://schemas.openxmlformats.org/officeDocument/2006/relationships/notesMaster" Target="/ppt/notesMasters/notesMaster1.xml" Id="R4f69a0bd87724f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cb9fd4cfbd4b09" /><Relationship Type="http://schemas.openxmlformats.org/officeDocument/2006/relationships/notesMaster" Target="/ppt/notesMasters/notesMaster1.xml" Id="Rd6d2535291704f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b8c2f8b837496e" /><Relationship Type="http://schemas.openxmlformats.org/officeDocument/2006/relationships/notesMaster" Target="/ppt/notesMasters/notesMaster1.xml" Id="R30b0af462c0d45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dd4916485b4c67" /><Relationship Type="http://schemas.openxmlformats.org/officeDocument/2006/relationships/notesMaster" Target="/ppt/notesMasters/notesMaster1.xml" Id="R2562d43e2f3b4c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2cca96a01c4483" /><Relationship Type="http://schemas.openxmlformats.org/officeDocument/2006/relationships/notesMaster" Target="/ppt/notesMasters/notesMaster1.xml" Id="R0dd8e0f1264f4f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d46017094d42e7" /><Relationship Type="http://schemas.openxmlformats.org/officeDocument/2006/relationships/notesMaster" Target="/ppt/notesMasters/notesMaster1.xml" Id="R3225b54792c34c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23d10ab27a406b" /><Relationship Type="http://schemas.openxmlformats.org/officeDocument/2006/relationships/notesMaster" Target="/ppt/notesMasters/notesMaster1.xml" Id="R6728bb9eb0284a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652133b1854cf2" /><Relationship Type="http://schemas.openxmlformats.org/officeDocument/2006/relationships/notesMaster" Target="/ppt/notesMasters/notesMaster1.xml" Id="Re7e4b17dfac940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82ec7e274b44f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848111f6a2a4a5f" /><Relationship Type="http://schemas.openxmlformats.org/officeDocument/2006/relationships/slideLayout" Target="/ppt/slideLayouts/slideLayout2.xml" Id="R709d14f9a3554e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9d14f9a3554e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3b3279128f4740" /><Relationship Type="http://schemas.openxmlformats.org/officeDocument/2006/relationships/notesSlide" Target="/ppt/notesSlides/notesSlide1.xml" Id="R0b23eafef61440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b0385ae5104694" /><Relationship Type="http://schemas.openxmlformats.org/officeDocument/2006/relationships/notesSlide" Target="/ppt/notesSlides/notesSlide2.xml" Id="R2b5f5732ab4443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a4db4871cf47f2" /><Relationship Type="http://schemas.openxmlformats.org/officeDocument/2006/relationships/notesSlide" Target="/ppt/notesSlides/notesSlide3.xml" Id="R1358ae288b4d45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70405164e54b2d" /><Relationship Type="http://schemas.openxmlformats.org/officeDocument/2006/relationships/notesSlide" Target="/ppt/notesSlides/notesSlide4.xml" Id="R841baf16bf644b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cedda28771480f" /><Relationship Type="http://schemas.openxmlformats.org/officeDocument/2006/relationships/notesSlide" Target="/ppt/notesSlides/notesSlide5.xml" Id="Rc4712b9a153549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b62a7a75c747c0" /><Relationship Type="http://schemas.openxmlformats.org/officeDocument/2006/relationships/notesSlide" Target="/ppt/notesSlides/notesSlide6.xml" Id="Ra918290b37a840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079c808cfa46cb" /><Relationship Type="http://schemas.openxmlformats.org/officeDocument/2006/relationships/notesSlide" Target="/ppt/notesSlides/notesSlide7.xml" Id="Re1c6c9c9b6cb48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4aefb41b274efe" /><Relationship Type="http://schemas.openxmlformats.org/officeDocument/2006/relationships/notesSlide" Target="/ppt/notesSlides/notesSlide8.xml" Id="R898595cdf3ad46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1bea536b0a493e" /><Relationship Type="http://schemas.openxmlformats.org/officeDocument/2006/relationships/notesSlide" Target="/ppt/notesSlides/notesSlide9.xml" Id="Rf0fa6ade181942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ae26917de542fa" /><Relationship Type="http://schemas.openxmlformats.org/officeDocument/2006/relationships/notesSlide" Target="/ppt/notesSlides/notesSlide10.xml" Id="R11a3b600514f459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CFF82302-6C54-4064-8DE4-D7ABE659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63D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4581B-6FF2-457D-B36B-C72C2AE7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63D"/>
          </a:solidFill>
        </p:spPr>
      </p:sp>
      <p:sp>
        <p:nvSpPr>
          <p:cNvPr id="3" name="cover-field">
            <a:extLst xmlns:a="http://schemas.openxmlformats.org/drawingml/2006/main">
              <a:ext uri="{FF2B5EF4-FFF2-40B4-BE49-F238E27FC236}">
                <a16:creationId xmlns:a16="http://schemas.microsoft.com/office/drawing/2014/main" id="{B3B9A2D3-DC63-478F-8139-C9C1CC80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2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B1597-01C2-409C-95F1-81302EF3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1050"/>
            <a:ext cx="164592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550" b="1" i="0">
                <a:solidFill>
                  <a:srgbClr val="246A57"/>
                </a:solidFill>
              </a:defRPr>
            </a:pPr>
            <a:r>
              <a:rPr sz="2550" b="1" i="0">
                <a:solidFill>
                  <a:srgbClr val="246A57"/>
                </a:solidFill>
              </a:rPr>
              <a:t>FactHarbor V2 Pipeline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4A3450-D78E-45C8-9933-1498D838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04950"/>
            <a:ext cx="164592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7800" b="1" i="0">
                <a:solidFill>
                  <a:srgbClr val="142026"/>
                </a:solidFill>
              </a:defRPr>
            </a:pPr>
            <a:r>
              <a:rPr sz="7800" b="1" i="0">
                <a:solidFill>
                  <a:srgbClr val="142026"/>
                </a:solidFill>
              </a:rPr>
              <a:t>Revision 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C385CC-6F10-4261-AFA3-70D958A8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103822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700" b="0" i="0">
                <a:solidFill>
                  <a:srgbClr val="DDE8E4"/>
                </a:solidFill>
              </a:defRPr>
            </a:pPr>
            <a:r>
              <a:rPr sz="2700" b="0" i="0">
                <a:solidFill>
                  <a:srgbClr val="DDE8E4"/>
                </a:solidFill>
              </a:rPr>
              <a:t>Leadership is now steering execution gates, not approving a vague pipeline direction.</a:t>
            </a:r>
          </a:p>
        </p:txBody>
      </p:sp>
      <p:sp>
        <p:nvSpPr>
          <p:cNvPr id="7" name="band-CURRENT">
            <a:extLst xmlns:a="http://schemas.openxmlformats.org/drawingml/2006/main">
              <a:ext uri="{FF2B5EF4-FFF2-40B4-BE49-F238E27FC236}">
                <a16:creationId xmlns:a16="http://schemas.microsoft.com/office/drawing/2014/main" id="{F448E2DE-66CE-4B2B-B565-02F7CC9B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7774"/>
            <a:ext cx="52832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DDEBE5"/>
          </a:solidFill>
        </p:spPr>
      </p:sp>
      <p:sp>
        <p:nvSpPr>
          <p:cNvPr id="8" name="band-mark">
            <a:extLst xmlns:a="http://schemas.openxmlformats.org/drawingml/2006/main">
              <a:ext uri="{FF2B5EF4-FFF2-40B4-BE49-F238E27FC236}">
                <a16:creationId xmlns:a16="http://schemas.microsoft.com/office/drawing/2014/main" id="{439B8F9F-32E8-4D62-B777-FD6D97B0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9580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57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3931C1-9973-4AC7-969D-5010F007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76750"/>
            <a:ext cx="4495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 i="0">
                <a:solidFill>
                  <a:srgbClr val="246A57"/>
                </a:solidFill>
              </a:defRPr>
            </a:pPr>
            <a:r>
              <a:rPr sz="1350" b="1" i="0">
                <a:solidFill>
                  <a:srgbClr val="246A57"/>
                </a:solidFill>
              </a:rPr>
              <a:t>CURRENT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B5BEAD-DEBC-4E24-8329-B6140377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81550"/>
            <a:ext cx="4495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 b="1" i="0">
                <a:solidFill>
                  <a:srgbClr val="142026"/>
                </a:solidFill>
              </a:defRPr>
            </a:pPr>
            <a:r>
              <a:rPr sz="1800" b="1" i="0">
                <a:solidFill>
                  <a:srgbClr val="142026"/>
                </a:solidFill>
              </a:rPr>
              <a:t>X1, X2, X3-A and X4 are implementation-complete</a:t>
            </a:r>
          </a:p>
        </p:txBody>
      </p:sp>
      <p:sp>
        <p:nvSpPr>
          <p:cNvPr id="11" name="band-BLOCKED">
            <a:extLst xmlns:a="http://schemas.openxmlformats.org/drawingml/2006/main">
              <a:ext uri="{FF2B5EF4-FFF2-40B4-BE49-F238E27FC236}">
                <a16:creationId xmlns:a16="http://schemas.microsoft.com/office/drawing/2014/main" id="{8B32D3C6-6FFF-4D5F-8CE6-B2D1850F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2400" y="4287774"/>
            <a:ext cx="52832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2DED0"/>
          </a:solidFill>
        </p:spPr>
      </p:sp>
      <p:sp>
        <p:nvSpPr>
          <p:cNvPr id="12" name="band-mark">
            <a:extLst xmlns:a="http://schemas.openxmlformats.org/drawingml/2006/main">
              <a:ext uri="{FF2B5EF4-FFF2-40B4-BE49-F238E27FC236}">
                <a16:creationId xmlns:a16="http://schemas.microsoft.com/office/drawing/2014/main" id="{D880E7C1-E2A5-450C-B491-09C8C067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9580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62A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C09A8C-3F05-4FE8-8B92-2CB464A0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76750"/>
            <a:ext cx="4495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 i="0">
                <a:solidFill>
                  <a:srgbClr val="B8662A"/>
                </a:solidFill>
              </a:defRPr>
            </a:pPr>
            <a:r>
              <a:rPr sz="1350" b="1" i="0">
                <a:solidFill>
                  <a:srgbClr val="B8662A"/>
                </a:solidFill>
              </a:rPr>
              <a:t>BLOCKED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93A56A-E0AD-4D42-8206-18424623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81550"/>
            <a:ext cx="4495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 b="1" i="0">
                <a:solidFill>
                  <a:srgbClr val="142026"/>
                </a:solidFill>
              </a:defRPr>
            </a:pPr>
            <a:r>
              <a:rPr sz="1800" b="1" i="0">
                <a:solidFill>
                  <a:srgbClr val="142026"/>
                </a:solidFill>
              </a:rPr>
              <a:t>X3-B prompt alignment needs explicit prompt approval</a:t>
            </a:r>
          </a:p>
        </p:txBody>
      </p:sp>
      <p:sp>
        <p:nvSpPr>
          <p:cNvPr id="15" name="band-NEXT">
            <a:extLst xmlns:a="http://schemas.openxmlformats.org/drawingml/2006/main">
              <a:ext uri="{FF2B5EF4-FFF2-40B4-BE49-F238E27FC236}">
                <a16:creationId xmlns:a16="http://schemas.microsoft.com/office/drawing/2014/main" id="{3EA45752-9F6A-445B-BD7B-63148195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4287774"/>
            <a:ext cx="52832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DEEAF3"/>
          </a:solidFill>
        </p:spPr>
      </p:sp>
      <p:sp>
        <p:nvSpPr>
          <p:cNvPr id="16" name="band-mark">
            <a:extLst xmlns:a="http://schemas.openxmlformats.org/drawingml/2006/main">
              <a:ext uri="{FF2B5EF4-FFF2-40B4-BE49-F238E27FC236}">
                <a16:creationId xmlns:a16="http://schemas.microsoft.com/office/drawing/2014/main" id="{9087B7E7-7690-4DAF-A834-B56A24E1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449580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86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81A0C5-FE6E-4D6F-9D7A-6CD759E3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4476750"/>
            <a:ext cx="4495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 i="0">
                <a:solidFill>
                  <a:srgbClr val="315D86"/>
                </a:solidFill>
              </a:defRPr>
            </a:pPr>
            <a:r>
              <a:rPr sz="1350" b="1" i="0">
                <a:solidFill>
                  <a:srgbClr val="315D86"/>
                </a:solidFill>
              </a:rPr>
              <a:t>NEXT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A02955-EB08-454F-BB9E-A37C2401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4781550"/>
            <a:ext cx="4495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 b="1" i="0">
                <a:solidFill>
                  <a:srgbClr val="142026"/>
                </a:solidFill>
              </a:defRPr>
            </a:pPr>
            <a:r>
              <a:rPr sz="1800" b="1" i="0">
                <a:solidFill>
                  <a:srgbClr val="142026"/>
                </a:solidFill>
              </a:rPr>
              <a:t>Select the next low-risk gate from the reviewed V2 action plan</a:t>
            </a:r>
          </a:p>
        </p:txBody>
      </p:sp>
    </p:spTree>
    <p:extLst>
      <p:ext uri="{BB962C8B-B14F-4D97-AF65-F5344CB8AC3E}">
        <p14:creationId xmlns:p14="http://schemas.microsoft.com/office/powerpoint/2010/main" val="131402495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8E3DFF7B-DDE6-4A22-9AF9-6E626C2C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8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75F5207-89BA-47EB-BD93-93376BFC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"/>
            <a:ext cx="16725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975" b="1" i="0">
                <a:solidFill>
                  <a:srgbClr val="142026"/>
                </a:solidFill>
              </a:defRPr>
            </a:pPr>
            <a:r>
              <a:rPr sz="3975" b="1" i="0">
                <a:solidFill>
                  <a:srgbClr val="142026"/>
                </a:solidFill>
              </a:rPr>
              <a:t>The leadership question changed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E9293BA-6952-4880-A213-AFCAEBB4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89344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0" i="0">
                <a:solidFill>
                  <a:srgbClr val="5D6B73"/>
                </a:solidFill>
              </a:defRPr>
            </a:pPr>
            <a:r>
              <a:rPr sz="1950" b="0" i="0">
                <a:solidFill>
                  <a:srgbClr val="5D6B73"/>
                </a:solidFill>
              </a:rPr>
              <a:t>The earlier bridge still helped frame the operating model. Its gate status is now outdated.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8CD94A-AB73-4CAA-8881-565DD365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8153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300" b="1" i="0">
                <a:solidFill>
                  <a:srgbClr val="9A3D3A"/>
                </a:solidFill>
              </a:defRPr>
            </a:pPr>
            <a:r>
              <a:rPr sz="3300" b="1" i="0">
                <a:solidFill>
                  <a:srgbClr val="9A3D3A"/>
                </a:solidFill>
              </a:rPr>
              <a:t>Do not ask leadership to start X1-X4.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CB7DC1-1B05-4FEC-8A61-971F25B7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815340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325" b="0" i="0">
                <a:solidFill>
                  <a:srgbClr val="142026"/>
                </a:solidFill>
              </a:defRPr>
            </a:pPr>
            <a:r>
              <a:rPr sz="2325" b="0" i="0">
                <a:solidFill>
                  <a:srgbClr val="142026"/>
                </a:solidFill>
              </a:rPr>
              <a:t>Those gates are already recorded as implementation-complete in the current status docs.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2325" b="0" i="0">
                <a:solidFill>
                  <a:srgbClr val="142026"/>
                </a:solidFill>
              </a:defRPr>
            </a:pPr>
            <a:r>
              <a:rPr sz="2325" b="0" i="0">
                <a:solidFill>
                  <a:srgbClr val="142026"/>
                </a:solidFill>
              </a:rPr>
              <a:t>Presenting them as pending would disconnect governance from the actual repo state.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FB090D-C379-4FD1-9598-85EAC8A5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24100"/>
            <a:ext cx="8153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300" b="1" i="0">
                <a:solidFill>
                  <a:srgbClr val="246A57"/>
                </a:solidFill>
              </a:defRPr>
            </a:pPr>
            <a:r>
              <a:rPr sz="3300" b="1" i="0">
                <a:solidFill>
                  <a:srgbClr val="246A57"/>
                </a:solidFill>
              </a:rPr>
              <a:t>Ask for the next execution decision.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35F9B-C97A-431B-A7E2-C5799597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24200"/>
            <a:ext cx="815340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325" b="0" i="0">
                <a:solidFill>
                  <a:srgbClr val="142026"/>
                </a:solidFill>
              </a:defRPr>
            </a:pPr>
            <a:r>
              <a:rPr sz="2325" b="0" i="0">
                <a:solidFill>
                  <a:srgbClr val="142026"/>
                </a:solidFill>
              </a:rPr>
              <a:t>Option A: approve X3-B prompt frontmatter/text alignment.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2325" b="0" i="0">
                <a:solidFill>
                  <a:srgbClr val="142026"/>
                </a:solidFill>
              </a:defRPr>
            </a:pPr>
            <a:r>
              <a:rPr sz="2325" b="0" i="0">
                <a:solidFill>
                  <a:srgbClr val="142026"/>
                </a:solidFill>
              </a:rPr>
              <a:t>Option B: keep prompts frozen and select the next low-risk V2 gate.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2325" b="0" i="0">
                <a:solidFill>
                  <a:srgbClr val="142026"/>
                </a:solidFill>
              </a:defRPr>
            </a:pPr>
            <a:r>
              <a:rPr sz="2325" b="0" i="0">
                <a:solidFill>
                  <a:srgbClr val="142026"/>
                </a:solidFill>
              </a:rPr>
              <a:t>Either option needs an explicit artifact, owner, verifier, and stop condition.</a:t>
            </a:r>
          </a:p>
        </p:txBody>
      </p:sp>
      <p:sp>
        <p:nvSpPr>
          <p:cNvPr id="8" name="footer-text">
            <a:extLst xmlns:a="http://schemas.openxmlformats.org/drawingml/2006/main">
              <a:ext uri="{FF2B5EF4-FFF2-40B4-BE49-F238E27FC236}">
                <a16:creationId xmlns:a16="http://schemas.microsoft.com/office/drawing/2014/main" id="{568A19C9-9119-4574-AB36-93780BC6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10700"/>
            <a:ext cx="14687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 i="0">
                <a:solidFill>
                  <a:srgbClr val="819099"/>
                </a:solidFill>
              </a:defRPr>
            </a:pPr>
            <a:r>
              <a:rPr sz="1275" b="0" i="0">
                <a:solidFill>
                  <a:srgbClr val="819099"/>
                </a:solidFill>
              </a:rPr>
              <a:t>FactHarbor V2 Pipeline - Revision B - 2026-05-16</a:t>
            </a:r>
          </a:p>
        </p:txBody>
      </p:sp>
      <p:sp>
        <p:nvSpPr>
          <p:cNvPr id="9" name="footer-context">
            <a:extLst xmlns:a="http://schemas.openxmlformats.org/drawingml/2006/main">
              <a:ext uri="{FF2B5EF4-FFF2-40B4-BE49-F238E27FC236}">
                <a16:creationId xmlns:a16="http://schemas.microsoft.com/office/drawing/2014/main" id="{32690FF8-C225-4C53-B1BA-DF859A45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9410700"/>
            <a:ext cx="18478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 i="0">
                <a:solidFill>
                  <a:srgbClr val="819099"/>
                </a:solidFill>
              </a:defRPr>
            </a:pPr>
            <a:r>
              <a:rPr sz="1275" b="0" i="0">
                <a:solidFill>
                  <a:srgbClr val="819099"/>
                </a:solidFill>
              </a:rPr>
              <a:t>Leadership execution bridge</a:t>
            </a:r>
          </a:p>
        </p:txBody>
      </p:sp>
    </p:spTree>
    <p:extLst>
      <p:ext uri="{BB962C8B-B14F-4D97-AF65-F5344CB8AC3E}">
        <p14:creationId xmlns:p14="http://schemas.microsoft.com/office/powerpoint/2010/main" val="77332902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FF6AE6EE-581D-407A-975E-1AB4C125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8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9D29F2-FD6F-4610-8D5A-CE24FDDC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"/>
            <a:ext cx="16725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975" b="1" i="0">
                <a:solidFill>
                  <a:srgbClr val="142026"/>
                </a:solidFill>
              </a:defRPr>
            </a:pPr>
            <a:r>
              <a:rPr sz="3975" b="1" i="0">
                <a:solidFill>
                  <a:srgbClr val="142026"/>
                </a:solidFill>
              </a:rPr>
              <a:t>Current V2 state, as of 2026-05-16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8830E1F-56A2-41F1-BD4B-39F7D448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971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0" i="0">
                <a:solidFill>
                  <a:srgbClr val="5D6B73"/>
                </a:solidFill>
              </a:defRPr>
            </a:pPr>
            <a:r>
              <a:rPr sz="1950" b="0" i="0">
                <a:solidFill>
                  <a:srgbClr val="5D6B73"/>
                </a:solidFill>
              </a:rPr>
              <a:t>Source of truth: Docs/STATUS/Current_Status.md, Docs/STATUS/Backlog.md, and the X4 handoff.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341DC6-9015-46D9-B0FA-49F596F6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3908"/>
            <a:ext cx="7620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A57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ABE332-0D53-42B9-A9FB-B9805128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495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D55E32-0C0A-413D-95B0-23AA32E1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00250"/>
            <a:ext cx="447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57"/>
          </a:solidFill>
          <a:ln xmlns:a="http://schemas.openxmlformats.org/drawingml/2006/main" w="0">
            <a:solidFill>
              <a:srgbClr val="246A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B87CC-4447-4609-806A-0D4E4C5A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53911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625" b="1" i="0">
                <a:solidFill>
                  <a:srgbClr val="142026"/>
                </a:solidFill>
              </a:defRPr>
            </a:pPr>
            <a:r>
              <a:rPr sz="2625" b="1" i="0">
                <a:solidFill>
                  <a:srgbClr val="142026"/>
                </a:solidFill>
              </a:rPr>
              <a:t>Implementation gates through X4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5BF6F-60D3-4AEE-BD39-16D598DA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911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3000"/>
              </a:lnSpc>
              <a:buNone/>
              <a:defRPr sz="1725" b="0" i="0">
                <a:solidFill>
                  <a:srgbClr val="5D6B73"/>
                </a:solidFill>
              </a:defRPr>
            </a:pPr>
            <a:r>
              <a:rPr sz="1725" b="0" i="0">
                <a:solidFill>
                  <a:srgbClr val="5D6B73"/>
                </a:solidFill>
              </a:rPr>
              <a:t>7A through X4 are complete. X4 blocks accidental public V2 verdict, truth, confidence, markdown, and API projection before explicit cutover.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3C5397-D60A-41D9-A367-36436F90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2003908"/>
            <a:ext cx="7620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662A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B077DA-748F-4E03-9136-5E899BBD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495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BLOCKED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F75BE2-BCF1-4163-95B7-8BA98C2E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00250"/>
            <a:ext cx="447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62A"/>
          </a:solidFill>
          <a:ln xmlns:a="http://schemas.openxmlformats.org/drawingml/2006/main" w="0">
            <a:solidFill>
              <a:srgbClr val="B866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7E88E6-40B7-404C-9D9E-4CEC8223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67000"/>
            <a:ext cx="53911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625" b="1" i="0">
                <a:solidFill>
                  <a:srgbClr val="142026"/>
                </a:solidFill>
              </a:defRPr>
            </a:pPr>
            <a:r>
              <a:rPr sz="2625" b="1" i="0">
                <a:solidFill>
                  <a:srgbClr val="142026"/>
                </a:solidFill>
              </a:rPr>
              <a:t>X3-B prompt alignment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E15454-1D34-4118-BE46-19B5BC83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76600"/>
            <a:ext cx="53911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3000"/>
              </a:lnSpc>
              <a:buNone/>
              <a:defRPr sz="1725" b="0" i="0">
                <a:solidFill>
                  <a:srgbClr val="5D6B73"/>
                </a:solidFill>
              </a:defRPr>
            </a:pPr>
            <a:r>
              <a:rPr sz="1725" b="0" i="0">
                <a:solidFill>
                  <a:srgbClr val="5D6B73"/>
                </a:solidFill>
              </a:rPr>
              <a:t>The remaining drift is prompt/frontmatter/text alignment. It needs Captain or LLM Expert prompt approval before any prompt edit.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829F34-6DC4-4AC5-8F42-6706DC59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9450" y="2003908"/>
            <a:ext cx="7620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D86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0919E6-5A42-4B0F-83FA-9386CBED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114550"/>
            <a:ext cx="495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OPEN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91EE62-4980-407A-80A9-6C5AFF64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2000250"/>
            <a:ext cx="447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86"/>
          </a:solidFill>
          <a:ln xmlns:a="http://schemas.openxmlformats.org/drawingml/2006/main" w="0">
            <a:solidFill>
              <a:srgbClr val="315D8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9D31AB-88E2-46A2-A009-8184B977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2667000"/>
            <a:ext cx="53911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625" b="1" i="0">
                <a:solidFill>
                  <a:srgbClr val="142026"/>
                </a:solidFill>
              </a:defRPr>
            </a:pPr>
            <a:r>
              <a:rPr sz="2625" b="1" i="0">
                <a:solidFill>
                  <a:srgbClr val="142026"/>
                </a:solidFill>
              </a:rPr>
              <a:t>Next low-risk 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290573-3D94-43DC-81BF-1CE3A04F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3276600"/>
            <a:ext cx="53911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3000"/>
              </a:lnSpc>
              <a:buNone/>
              <a:defRPr sz="1725" b="0" i="0">
                <a:solidFill>
                  <a:srgbClr val="5D6B73"/>
                </a:solidFill>
              </a:defRPr>
            </a:pPr>
            <a:r>
              <a:rPr sz="1725" b="0" i="0">
                <a:solidFill>
                  <a:srgbClr val="5D6B73"/>
                </a:solidFill>
              </a:rPr>
              <a:t>If prompt approval is not granted, choose the next gate from the reviewed action plan only after a fresh low-risk check.</a:t>
            </a:r>
          </a:p>
        </p:txBody>
      </p:sp>
      <p:sp>
        <p:nvSpPr>
          <p:cNvPr id="19" name="footer-text">
            <a:extLst xmlns:a="http://schemas.openxmlformats.org/drawingml/2006/main">
              <a:ext uri="{FF2B5EF4-FFF2-40B4-BE49-F238E27FC236}">
                <a16:creationId xmlns:a16="http://schemas.microsoft.com/office/drawing/2014/main" id="{B2D71DCA-9532-48E2-A811-1E2454EC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10700"/>
            <a:ext cx="14687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 i="0">
                <a:solidFill>
                  <a:srgbClr val="819099"/>
                </a:solidFill>
              </a:defRPr>
            </a:pPr>
            <a:r>
              <a:rPr sz="1275" b="0" i="0">
                <a:solidFill>
                  <a:srgbClr val="819099"/>
                </a:solidFill>
              </a:rPr>
              <a:t>FactHarbor V2 Pipeline - Revision B - 2026-05-16</a:t>
            </a:r>
          </a:p>
        </p:txBody>
      </p:sp>
      <p:sp>
        <p:nvSpPr>
          <p:cNvPr id="20" name="footer-context">
            <a:extLst xmlns:a="http://schemas.openxmlformats.org/drawingml/2006/main">
              <a:ext uri="{FF2B5EF4-FFF2-40B4-BE49-F238E27FC236}">
                <a16:creationId xmlns:a16="http://schemas.microsoft.com/office/drawing/2014/main" id="{EBB8C4D0-BE0C-4F9A-859A-1359B0B7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9410700"/>
            <a:ext cx="18478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 i="0">
                <a:solidFill>
                  <a:srgbClr val="819099"/>
                </a:solidFill>
              </a:defRPr>
            </a:pPr>
            <a:r>
              <a:rPr sz="1275" b="0" i="0">
                <a:solidFill>
                  <a:srgbClr val="819099"/>
                </a:solidFill>
              </a:rPr>
              <a:t>Leadership execution bridge</a:t>
            </a:r>
          </a:p>
        </p:txBody>
      </p:sp>
    </p:spTree>
    <p:extLst>
      <p:ext uri="{BB962C8B-B14F-4D97-AF65-F5344CB8AC3E}">
        <p14:creationId xmlns:p14="http://schemas.microsoft.com/office/powerpoint/2010/main" val="1280675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EE756C29-FA4E-4B3D-B72F-0D4286AD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8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44ACC7-36B6-4E1B-8202-1489A47A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"/>
            <a:ext cx="16725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975" b="1" i="0">
                <a:solidFill>
                  <a:srgbClr val="142026"/>
                </a:solidFill>
              </a:defRPr>
            </a:pPr>
            <a:r>
              <a:rPr sz="3975" b="1" i="0">
                <a:solidFill>
                  <a:srgbClr val="142026"/>
                </a:solidFill>
              </a:rPr>
              <a:t>Connect leadership to execution with four controls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93A6A37-DD6E-421B-BD83-4D41A09C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9448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0" i="0">
                <a:solidFill>
                  <a:srgbClr val="5D6B73"/>
                </a:solidFill>
              </a:defRPr>
            </a:pPr>
            <a:r>
              <a:rPr sz="1950" b="0" i="0">
                <a:solidFill>
                  <a:srgbClr val="5D6B73"/>
                </a:solidFill>
              </a:rPr>
              <a:t>Each gate should have a decision owner, engineering owner, proof artifact, and stop condition.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8EEDC0-90FE-477A-AA1B-F74C0E42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4152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 i="0">
                <a:solidFill>
                  <a:srgbClr val="5D6B73"/>
                </a:solidFill>
              </a:defRPr>
            </a:pPr>
            <a:r>
              <a:rPr sz="1650" b="1" i="0">
                <a:solidFill>
                  <a:srgbClr val="5D6B73"/>
                </a:solidFill>
              </a:rPr>
              <a:t>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C372E2-72EC-408C-98A0-2E4FC605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00250"/>
            <a:ext cx="3962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 i="0">
                <a:solidFill>
                  <a:srgbClr val="5D6B73"/>
                </a:solidFill>
              </a:defRPr>
            </a:pPr>
            <a:r>
              <a:rPr sz="1650" b="1" i="0">
                <a:solidFill>
                  <a:srgbClr val="5D6B73"/>
                </a:solidFill>
              </a:rPr>
              <a:t>Leadership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B79A87-5507-427D-A501-ED6A29B8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00250"/>
            <a:ext cx="3962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 i="0">
                <a:solidFill>
                  <a:srgbClr val="5D6B73"/>
                </a:solidFill>
              </a:defRPr>
            </a:pPr>
            <a:r>
              <a:rPr sz="1650" b="1" i="0">
                <a:solidFill>
                  <a:srgbClr val="5D6B73"/>
                </a:solidFill>
              </a:rPr>
              <a:t>Engineering proof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E36F27-3F60-4E5F-AAE1-305B8F82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2000250"/>
            <a:ext cx="3962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 i="0">
                <a:solidFill>
                  <a:srgbClr val="5D6B73"/>
                </a:solidFill>
              </a:defRPr>
            </a:pPr>
            <a:r>
              <a:rPr sz="1650" b="1" i="0">
                <a:solidFill>
                  <a:srgbClr val="5D6B73"/>
                </a:solidFill>
              </a:rPr>
              <a:t>Stop condition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50829E-39C5-42B3-AD39-A6B8DB3F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41529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 i="0">
                <a:solidFill>
                  <a:srgbClr val="142026"/>
                </a:solidFill>
              </a:defRPr>
            </a:pPr>
            <a:r>
              <a:rPr sz="2250" b="1" i="0">
                <a:solidFill>
                  <a:srgbClr val="142026"/>
                </a:solidFill>
              </a:rPr>
              <a:t>X3-B prompt alignment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57F61A-E1F5-46D4-A424-5E85DBF8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57450"/>
            <a:ext cx="39624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0" i="0">
                <a:solidFill>
                  <a:srgbClr val="142026"/>
                </a:solidFill>
              </a:defRPr>
            </a:pPr>
            <a:r>
              <a:rPr sz="2025" b="0" i="0">
                <a:solidFill>
                  <a:srgbClr val="142026"/>
                </a:solidFill>
              </a:rPr>
              <a:t>Approve prompt edit authority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59E2E0-FC98-4771-883D-2DF245F6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57450"/>
            <a:ext cx="39624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0" i="0">
                <a:solidFill>
                  <a:srgbClr val="142026"/>
                </a:solidFill>
              </a:defRPr>
            </a:pPr>
            <a:r>
              <a:rPr sz="2025" b="0" i="0">
                <a:solidFill>
                  <a:srgbClr val="142026"/>
                </a:solidFill>
              </a:rPr>
              <a:t>Prompt diff plus frontmatter drift 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124544-2C3D-4597-A688-79C834D8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2457450"/>
            <a:ext cx="39624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0" i="0">
                <a:solidFill>
                  <a:srgbClr val="B8662A"/>
                </a:solidFill>
              </a:defRPr>
            </a:pPr>
            <a:r>
              <a:rPr sz="2025" b="0" i="0">
                <a:solidFill>
                  <a:srgbClr val="B8662A"/>
                </a:solidFill>
              </a:rPr>
              <a:t>No explicit prompt approval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F235BA-2A6A-4C84-8817-BFCD60BE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41529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 i="0">
                <a:solidFill>
                  <a:srgbClr val="142026"/>
                </a:solidFill>
              </a:defRPr>
            </a:pPr>
            <a:r>
              <a:rPr sz="2250" b="1" i="0">
                <a:solidFill>
                  <a:srgbClr val="142026"/>
                </a:solidFill>
              </a:rPr>
              <a:t>Next V2 code gate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883450-EFDE-403A-BDA9-F723558A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743450"/>
            <a:ext cx="39624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0" i="0">
                <a:solidFill>
                  <a:srgbClr val="142026"/>
                </a:solidFill>
              </a:defRPr>
            </a:pPr>
            <a:r>
              <a:rPr sz="2025" b="0" i="0">
                <a:solidFill>
                  <a:srgbClr val="142026"/>
                </a:solidFill>
              </a:rPr>
              <a:t>Pick the next low-risk package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9933E3-CD81-4890-A64F-58BB01E3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743450"/>
            <a:ext cx="39624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0" i="0">
                <a:solidFill>
                  <a:srgbClr val="142026"/>
                </a:solidFill>
              </a:defRPr>
            </a:pPr>
            <a:r>
              <a:rPr sz="2025" b="0" i="0">
                <a:solidFill>
                  <a:srgbClr val="142026"/>
                </a:solidFill>
              </a:rPr>
              <a:t>Source package, tests, build, diff 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B592A2-6FC9-496E-878D-B77177AF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4743450"/>
            <a:ext cx="39624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0" i="0">
                <a:solidFill>
                  <a:srgbClr val="9A3D3A"/>
                </a:solidFill>
              </a:defRPr>
            </a:pPr>
            <a:r>
              <a:rPr sz="2025" b="0" i="0">
                <a:solidFill>
                  <a:srgbClr val="9A3D3A"/>
                </a:solidFill>
              </a:rPr>
              <a:t>Touches live/public/cache/SR/evidence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B3AA5C-9118-43F6-A67E-8EFA7A3E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010400"/>
            <a:ext cx="41529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 i="0">
                <a:solidFill>
                  <a:srgbClr val="142026"/>
                </a:solidFill>
              </a:defRPr>
            </a:pPr>
            <a:r>
              <a:rPr sz="2250" b="1" i="0">
                <a:solidFill>
                  <a:srgbClr val="142026"/>
                </a:solidFill>
              </a:rPr>
              <a:t>Public V2 exposure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9DD97C-1E1E-4EEC-995B-81ED24A5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7010400"/>
            <a:ext cx="39624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0" i="0">
                <a:solidFill>
                  <a:srgbClr val="142026"/>
                </a:solidFill>
              </a:defRPr>
            </a:pPr>
            <a:r>
              <a:rPr sz="2025" b="0" i="0">
                <a:solidFill>
                  <a:srgbClr val="142026"/>
                </a:solidFill>
              </a:rPr>
              <a:t>Do not approve yet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9D9727-1ED2-4388-B31F-7AE3D61B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010400"/>
            <a:ext cx="39624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0" i="0">
                <a:solidFill>
                  <a:srgbClr val="142026"/>
                </a:solidFill>
              </a:defRPr>
            </a:pPr>
            <a:r>
              <a:rPr sz="2025" b="0" i="0">
                <a:solidFill>
                  <a:srgbClr val="142026"/>
                </a:solidFill>
              </a:rPr>
              <a:t>X4 remains fail-closed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13A072-187F-4E5F-AA36-76F1AC4E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4550" y="7010400"/>
            <a:ext cx="39624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025" b="0" i="0">
                <a:solidFill>
                  <a:srgbClr val="9A3D3A"/>
                </a:solidFill>
              </a:defRPr>
            </a:pPr>
            <a:r>
              <a:rPr sz="2025" b="0" i="0">
                <a:solidFill>
                  <a:srgbClr val="9A3D3A"/>
                </a:solidFill>
              </a:rPr>
              <a:t>Any meaningful V2 verdict leaks publicly</a:t>
            </a:r>
          </a:p>
        </p:txBody>
      </p:sp>
      <p:sp>
        <p:nvSpPr>
          <p:cNvPr id="20" name="footer-text">
            <a:extLst xmlns:a="http://schemas.openxmlformats.org/drawingml/2006/main">
              <a:ext uri="{FF2B5EF4-FFF2-40B4-BE49-F238E27FC236}">
                <a16:creationId xmlns:a16="http://schemas.microsoft.com/office/drawing/2014/main" id="{C35F3783-6AB5-4125-BC35-8AC1DEA4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10700"/>
            <a:ext cx="14687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 i="0">
                <a:solidFill>
                  <a:srgbClr val="819099"/>
                </a:solidFill>
              </a:defRPr>
            </a:pPr>
            <a:r>
              <a:rPr sz="1275" b="0" i="0">
                <a:solidFill>
                  <a:srgbClr val="819099"/>
                </a:solidFill>
              </a:rPr>
              <a:t>FactHarbor V2 Pipeline - Revision B - 2026-05-16</a:t>
            </a:r>
          </a:p>
        </p:txBody>
      </p:sp>
      <p:sp>
        <p:nvSpPr>
          <p:cNvPr id="21" name="footer-context">
            <a:extLst xmlns:a="http://schemas.openxmlformats.org/drawingml/2006/main">
              <a:ext uri="{FF2B5EF4-FFF2-40B4-BE49-F238E27FC236}">
                <a16:creationId xmlns:a16="http://schemas.microsoft.com/office/drawing/2014/main" id="{AD667FE4-6790-44C1-A1F7-9A3F4F2E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9410700"/>
            <a:ext cx="18478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 i="0">
                <a:solidFill>
                  <a:srgbClr val="819099"/>
                </a:solidFill>
              </a:defRPr>
            </a:pPr>
            <a:r>
              <a:rPr sz="1275" b="0" i="0">
                <a:solidFill>
                  <a:srgbClr val="819099"/>
                </a:solidFill>
              </a:rPr>
              <a:t>Leadership execution bridge</a:t>
            </a:r>
          </a:p>
        </p:txBody>
      </p:sp>
    </p:spTree>
    <p:extLst>
      <p:ext uri="{BB962C8B-B14F-4D97-AF65-F5344CB8AC3E}">
        <p14:creationId xmlns:p14="http://schemas.microsoft.com/office/powerpoint/2010/main" val="24025428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60D7EA53-5302-4D29-A257-86D9D813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8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E011398-4D57-4143-8948-5F329EE5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"/>
            <a:ext cx="16725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975" b="1" i="0">
                <a:solidFill>
                  <a:srgbClr val="142026"/>
                </a:solidFill>
              </a:defRPr>
            </a:pPr>
            <a:r>
              <a:rPr sz="3975" b="1" i="0">
                <a:solidFill>
                  <a:srgbClr val="142026"/>
                </a:solidFill>
              </a:rPr>
              <a:t>X4 is complete, but it is not cutover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6566BAB-81E4-4C75-A2CE-95A2AA13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6896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0" i="0">
                <a:solidFill>
                  <a:srgbClr val="5D6B73"/>
                </a:solidFill>
              </a:defRPr>
            </a:pPr>
            <a:r>
              <a:rPr sz="1950" b="0" i="0">
                <a:solidFill>
                  <a:srgbClr val="5D6B73"/>
                </a:solidFill>
              </a:rPr>
              <a:t>The right leadership message is safety posture, not launch readiness.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4B91C-38F0-4CD1-B2D0-CA920179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7296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300" b="1" i="0">
                <a:solidFill>
                  <a:srgbClr val="246A57"/>
                </a:solidFill>
              </a:defRPr>
            </a:pPr>
            <a:r>
              <a:rPr sz="3300" b="1" i="0">
                <a:solidFill>
                  <a:srgbClr val="246A57"/>
                </a:solidFill>
              </a:rPr>
              <a:t>What X4 now does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9CC31-FB75-4E4B-9E5F-48EBF2DA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729615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325" b="0" i="0">
                <a:solidFill>
                  <a:srgbClr val="142026"/>
                </a:solidFill>
              </a:defRPr>
            </a:pPr>
            <a:r>
              <a:rPr sz="2325" b="0" i="0">
                <a:solidFill>
                  <a:srgbClr val="142026"/>
                </a:solidFill>
              </a:rPr>
              <a:t>Requires schema 4.0.0-cb.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2325" b="0" i="0">
                <a:solidFill>
                  <a:srgbClr val="142026"/>
                </a:solidFill>
              </a:defRPr>
            </a:pPr>
            <a:r>
              <a:rPr sz="2325" b="0" i="0">
                <a:solidFill>
                  <a:srgbClr val="142026"/>
                </a:solidFill>
              </a:rPr>
              <a:t>Requires pipeline claimboundary-v2.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2325" b="0" i="0">
                <a:solidFill>
                  <a:srgbClr val="142026"/>
                </a:solidFill>
              </a:defRPr>
            </a:pPr>
            <a:r>
              <a:rPr sz="2325" b="0" i="0">
                <a:solidFill>
                  <a:srgbClr val="142026"/>
                </a:solidFill>
              </a:rPr>
              <a:t>Requires publicCutoverStatus approved.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2325" b="0" i="0">
                <a:solidFill>
                  <a:srgbClr val="142026"/>
                </a:solidFill>
              </a:defRPr>
            </a:pPr>
            <a:r>
              <a:rPr sz="2325" b="0" i="0">
                <a:solidFill>
                  <a:srgbClr val="142026"/>
                </a:solidFill>
              </a:rPr>
              <a:t>Otherwise public projections fail closed.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A21BD3-16F4-4509-98F2-DF75F26C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00250"/>
            <a:ext cx="8915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300" b="1" i="0">
                <a:solidFill>
                  <a:srgbClr val="9A3D3A"/>
                </a:solidFill>
              </a:defRPr>
            </a:pPr>
            <a:r>
              <a:rPr sz="3300" b="1" i="0">
                <a:solidFill>
                  <a:srgbClr val="9A3D3A"/>
                </a:solidFill>
              </a:rPr>
              <a:t>What X4 does not 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EBC49F-BEE3-4598-9AA7-6223C278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81300"/>
            <a:ext cx="89154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325" b="0" i="0">
                <a:solidFill>
                  <a:srgbClr val="142026"/>
                </a:solidFill>
              </a:defRPr>
            </a:pPr>
            <a:r>
              <a:rPr sz="2325" b="0" i="0">
                <a:solidFill>
                  <a:srgbClr val="142026"/>
                </a:solidFill>
              </a:rPr>
              <a:t>It does not approve public V2 cutover.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2325" b="0" i="0">
                <a:solidFill>
                  <a:srgbClr val="142026"/>
                </a:solidFill>
              </a:defRPr>
            </a:pPr>
            <a:r>
              <a:rPr sz="2325" b="0" i="0">
                <a:solidFill>
                  <a:srgbClr val="142026"/>
                </a:solidFill>
              </a:rPr>
              <a:t>It does not make damaged V2 reports meaningful.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2325" b="0" i="0">
                <a:solidFill>
                  <a:srgbClr val="142026"/>
                </a:solidFill>
              </a:defRPr>
            </a:pPr>
            <a:r>
              <a:rPr sz="2325" b="0" i="0">
                <a:solidFill>
                  <a:srgbClr val="142026"/>
                </a:solidFill>
              </a:rPr>
              <a:t>It does not allow live jobs, evidence generation, SR/cache integration, or parser consumption of real fetched bytes.</a:t>
            </a:r>
          </a:p>
        </p:txBody>
      </p:sp>
      <p:sp>
        <p:nvSpPr>
          <p:cNvPr id="8" name="footer-text">
            <a:extLst xmlns:a="http://schemas.openxmlformats.org/drawingml/2006/main">
              <a:ext uri="{FF2B5EF4-FFF2-40B4-BE49-F238E27FC236}">
                <a16:creationId xmlns:a16="http://schemas.microsoft.com/office/drawing/2014/main" id="{477A4175-E0BD-4B5D-B469-C5CFAF4F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10700"/>
            <a:ext cx="14687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 i="0">
                <a:solidFill>
                  <a:srgbClr val="819099"/>
                </a:solidFill>
              </a:defRPr>
            </a:pPr>
            <a:r>
              <a:rPr sz="1275" b="0" i="0">
                <a:solidFill>
                  <a:srgbClr val="819099"/>
                </a:solidFill>
              </a:rPr>
              <a:t>FactHarbor V2 Pipeline - Revision B - 2026-05-16</a:t>
            </a:r>
          </a:p>
        </p:txBody>
      </p:sp>
      <p:sp>
        <p:nvSpPr>
          <p:cNvPr id="9" name="footer-context">
            <a:extLst xmlns:a="http://schemas.openxmlformats.org/drawingml/2006/main">
              <a:ext uri="{FF2B5EF4-FFF2-40B4-BE49-F238E27FC236}">
                <a16:creationId xmlns:a16="http://schemas.microsoft.com/office/drawing/2014/main" id="{E0225AF2-4DE9-4994-8938-B1B1F19F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9410700"/>
            <a:ext cx="18478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 i="0">
                <a:solidFill>
                  <a:srgbClr val="819099"/>
                </a:solidFill>
              </a:defRPr>
            </a:pPr>
            <a:r>
              <a:rPr sz="1275" b="0" i="0">
                <a:solidFill>
                  <a:srgbClr val="819099"/>
                </a:solidFill>
              </a:rPr>
              <a:t>Leadership execution bridge</a:t>
            </a:r>
          </a:p>
        </p:txBody>
      </p:sp>
    </p:spTree>
    <p:extLst>
      <p:ext uri="{BB962C8B-B14F-4D97-AF65-F5344CB8AC3E}">
        <p14:creationId xmlns:p14="http://schemas.microsoft.com/office/powerpoint/2010/main" val="2611310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27968419-8A88-4993-888F-2E67C6F1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8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EBC2EF-B784-41F7-A363-5942B929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"/>
            <a:ext cx="16725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975" b="1" i="0">
                <a:solidFill>
                  <a:srgbClr val="142026"/>
                </a:solidFill>
              </a:defRPr>
            </a:pPr>
            <a:r>
              <a:rPr sz="3975" b="1" i="0">
                <a:solidFill>
                  <a:srgbClr val="142026"/>
                </a:solidFill>
              </a:rPr>
              <a:t>The immediate fork is explicit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CC75F56-F646-4ED6-8DC7-EC0224BF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11353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0" i="0">
                <a:solidFill>
                  <a:srgbClr val="5D6B73"/>
                </a:solidFill>
              </a:defRPr>
            </a:pPr>
            <a:r>
              <a:rPr sz="1950" b="0" i="0">
                <a:solidFill>
                  <a:srgbClr val="5D6B73"/>
                </a:solidFill>
              </a:rPr>
              <a:t>Leadership can decide without reading implementation detail, because each path has a clear authority boundary.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76BF0B-7751-4150-BEBB-E82BB975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3908"/>
            <a:ext cx="7620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662A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E5B3A-EA5A-42B6-AFC9-E9EEF014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495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D0263B-ABE5-4D20-963A-3A93E547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00250"/>
            <a:ext cx="7200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62A"/>
          </a:solidFill>
          <a:ln xmlns:a="http://schemas.openxmlformats.org/drawingml/2006/main" w="0">
            <a:solidFill>
              <a:srgbClr val="B866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C8D73B-F422-44FC-B2D4-4E9E3413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81153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625" b="1" i="0">
                <a:solidFill>
                  <a:srgbClr val="142026"/>
                </a:solidFill>
              </a:defRPr>
            </a:pPr>
            <a:r>
              <a:rPr sz="2625" b="1" i="0">
                <a:solidFill>
                  <a:srgbClr val="142026"/>
                </a:solidFill>
              </a:rPr>
              <a:t>Approve X3-B prompt alignment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DD5E52-69F7-4277-9A04-29C634DA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81153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3000"/>
              </a:lnSpc>
              <a:buNone/>
              <a:defRPr sz="1725" b="0" i="0">
                <a:solidFill>
                  <a:srgbClr val="5D6B73"/>
                </a:solidFill>
              </a:defRPr>
            </a:pPr>
            <a:r>
              <a:rPr sz="1725" b="0" i="0">
                <a:solidFill>
                  <a:srgbClr val="5D6B73"/>
                </a:solidFill>
              </a:rPr>
              <a:t>Use this path only if Captain or LLM Expert explicitly approves prompt edits. Output: a topic-neutral prompt/frontmatter fix with focused drift tests.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CA0D71-2BBB-41D2-BF48-46F2F564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003908"/>
            <a:ext cx="7620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D86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876364-E12E-44CC-A7E6-097C6517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14550"/>
            <a:ext cx="495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A30C16-EAA8-4684-9A82-B262AD47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000250"/>
            <a:ext cx="7200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86"/>
          </a:solidFill>
          <a:ln xmlns:a="http://schemas.openxmlformats.org/drawingml/2006/main" w="0">
            <a:solidFill>
              <a:srgbClr val="315D8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ADBEDB-5DB9-44A3-B9C9-29E0CC93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67000"/>
            <a:ext cx="81153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625" b="1" i="0">
                <a:solidFill>
                  <a:srgbClr val="142026"/>
                </a:solidFill>
              </a:defRPr>
            </a:pPr>
            <a:r>
              <a:rPr sz="2625" b="1" i="0">
                <a:solidFill>
                  <a:srgbClr val="142026"/>
                </a:solidFill>
              </a:rPr>
              <a:t>Keep prompts frozen and choose next gate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D08F70-4FA0-480B-AD6B-082F94D2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76600"/>
            <a:ext cx="81153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3000"/>
              </a:lnSpc>
              <a:buNone/>
              <a:defRPr sz="1725" b="0" i="0">
                <a:solidFill>
                  <a:srgbClr val="5D6B73"/>
                </a:solidFill>
              </a:defRPr>
            </a:pPr>
            <a:r>
              <a:rPr sz="1725" b="0" i="0">
                <a:solidFill>
                  <a:srgbClr val="5D6B73"/>
                </a:solidFill>
              </a:rPr>
              <a:t>Use this path if prompt approval is not granted today. Output: a source package for the next low-risk code gate, reviewed before implementation.</a:t>
            </a:r>
          </a:p>
        </p:txBody>
      </p:sp>
      <p:sp>
        <p:nvSpPr>
          <p:cNvPr id="14" name="footer-text">
            <a:extLst xmlns:a="http://schemas.openxmlformats.org/drawingml/2006/main">
              <a:ext uri="{FF2B5EF4-FFF2-40B4-BE49-F238E27FC236}">
                <a16:creationId xmlns:a16="http://schemas.microsoft.com/office/drawing/2014/main" id="{E473889A-266D-4E33-9B05-6A2BB45A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10700"/>
            <a:ext cx="14687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 i="0">
                <a:solidFill>
                  <a:srgbClr val="819099"/>
                </a:solidFill>
              </a:defRPr>
            </a:pPr>
            <a:r>
              <a:rPr sz="1275" b="0" i="0">
                <a:solidFill>
                  <a:srgbClr val="819099"/>
                </a:solidFill>
              </a:rPr>
              <a:t>FactHarbor V2 Pipeline - Revision B - 2026-05-16</a:t>
            </a:r>
          </a:p>
        </p:txBody>
      </p:sp>
      <p:sp>
        <p:nvSpPr>
          <p:cNvPr id="15" name="footer-context">
            <a:extLst xmlns:a="http://schemas.openxmlformats.org/drawingml/2006/main">
              <a:ext uri="{FF2B5EF4-FFF2-40B4-BE49-F238E27FC236}">
                <a16:creationId xmlns:a16="http://schemas.microsoft.com/office/drawing/2014/main" id="{103C4DB6-AF7C-4513-948A-E7DAA95A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9410700"/>
            <a:ext cx="18478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 i="0">
                <a:solidFill>
                  <a:srgbClr val="819099"/>
                </a:solidFill>
              </a:defRPr>
            </a:pPr>
            <a:r>
              <a:rPr sz="1275" b="0" i="0">
                <a:solidFill>
                  <a:srgbClr val="819099"/>
                </a:solidFill>
              </a:rPr>
              <a:t>Leadership execution bridge</a:t>
            </a:r>
          </a:p>
        </p:txBody>
      </p:sp>
    </p:spTree>
    <p:extLst>
      <p:ext uri="{BB962C8B-B14F-4D97-AF65-F5344CB8AC3E}">
        <p14:creationId xmlns:p14="http://schemas.microsoft.com/office/powerpoint/2010/main" val="105699852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FC518481-B01F-41BB-AC8D-DC2D9A93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8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2932F4-EA1F-43D1-AF32-0875DBE4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"/>
            <a:ext cx="16725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975" b="1" i="0">
                <a:solidFill>
                  <a:srgbClr val="142026"/>
                </a:solidFill>
              </a:defRPr>
            </a:pPr>
            <a:r>
              <a:rPr sz="3975" b="1" i="0">
                <a:solidFill>
                  <a:srgbClr val="142026"/>
                </a:solidFill>
              </a:rPr>
              <a:t>Use a negative screen before choosing the next gate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FD6FE8E-7F7F-49E3-9D84-23EC806D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7010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0" i="0">
                <a:solidFill>
                  <a:srgbClr val="5D6B73"/>
                </a:solidFill>
              </a:defRPr>
            </a:pPr>
            <a:r>
              <a:rPr sz="1950" b="0" i="0">
                <a:solidFill>
                  <a:srgbClr val="5D6B73"/>
                </a:solidFill>
              </a:rPr>
              <a:t>A candidate is not low-risk if it pulls future blocked capability forward.</a:t>
            </a:r>
          </a:p>
        </p:txBody>
      </p:sp>
      <p:sp>
        <p:nvSpPr>
          <p:cNvPr id="4" name="band-NO LIVE JOBS">
            <a:extLst xmlns:a="http://schemas.openxmlformats.org/drawingml/2006/main">
              <a:ext uri="{FF2B5EF4-FFF2-40B4-BE49-F238E27FC236}">
                <a16:creationId xmlns:a16="http://schemas.microsoft.com/office/drawing/2014/main" id="{D20572ED-729A-4A61-936D-CAB71251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3908"/>
            <a:ext cx="53975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2DAD9"/>
          </a:solidFill>
        </p:spPr>
      </p:sp>
      <p:sp>
        <p:nvSpPr>
          <p:cNvPr id="5" name="band-mark">
            <a:extLst xmlns:a="http://schemas.openxmlformats.org/drawingml/2006/main">
              <a:ext uri="{FF2B5EF4-FFF2-40B4-BE49-F238E27FC236}">
                <a16:creationId xmlns:a16="http://schemas.microsoft.com/office/drawing/2014/main" id="{4393AE43-4763-4BC5-80D7-47F4467F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D3A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09191-8D1B-4E14-AB13-16E88029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90750"/>
            <a:ext cx="4610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 i="0">
                <a:solidFill>
                  <a:srgbClr val="9A3D3A"/>
                </a:solidFill>
              </a:defRPr>
            </a:pPr>
            <a:r>
              <a:rPr sz="1350" b="1" i="0">
                <a:solidFill>
                  <a:srgbClr val="9A3D3A"/>
                </a:solidFill>
              </a:rPr>
              <a:t>NO LIVE JOBS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47820-2066-4E28-A0BF-07188372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95550"/>
            <a:ext cx="46101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 b="1" i="0">
                <a:solidFill>
                  <a:srgbClr val="142026"/>
                </a:solidFill>
              </a:defRPr>
            </a:pPr>
            <a:r>
              <a:rPr sz="1800" b="1" i="0">
                <a:solidFill>
                  <a:srgbClr val="142026"/>
                </a:solidFill>
              </a:rPr>
              <a:t>No Captain canary or validation batch until a live-smoke gate makes it meaningful</a:t>
            </a:r>
          </a:p>
        </p:txBody>
      </p:sp>
      <p:sp>
        <p:nvSpPr>
          <p:cNvPr id="8" name="band-NO PUBLIC V2">
            <a:extLst xmlns:a="http://schemas.openxmlformats.org/drawingml/2006/main">
              <a:ext uri="{FF2B5EF4-FFF2-40B4-BE49-F238E27FC236}">
                <a16:creationId xmlns:a16="http://schemas.microsoft.com/office/drawing/2014/main" id="{E0DE8163-B347-4BF4-9164-079079E0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2003908"/>
            <a:ext cx="53975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2DAD9"/>
          </a:solidFill>
        </p:spPr>
      </p:sp>
      <p:sp>
        <p:nvSpPr>
          <p:cNvPr id="9" name="band-mark">
            <a:extLst xmlns:a="http://schemas.openxmlformats.org/drawingml/2006/main">
              <a:ext uri="{FF2B5EF4-FFF2-40B4-BE49-F238E27FC236}">
                <a16:creationId xmlns:a16="http://schemas.microsoft.com/office/drawing/2014/main" id="{504B1131-E557-49C4-BECC-7C3CF8A6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0980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D3A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21536F-EE41-426E-89B2-AD20BE4B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190750"/>
            <a:ext cx="4610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 i="0">
                <a:solidFill>
                  <a:srgbClr val="9A3D3A"/>
                </a:solidFill>
              </a:defRPr>
            </a:pPr>
            <a:r>
              <a:rPr sz="1350" b="1" i="0">
                <a:solidFill>
                  <a:srgbClr val="9A3D3A"/>
                </a:solidFill>
              </a:rPr>
              <a:t>NO PUBLIC V2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AE02A3-1A12-4BDE-934F-045C9005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95550"/>
            <a:ext cx="46101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 b="1" i="0">
                <a:solidFill>
                  <a:srgbClr val="142026"/>
                </a:solidFill>
              </a:defRPr>
            </a:pPr>
            <a:r>
              <a:rPr sz="1800" b="1" i="0">
                <a:solidFill>
                  <a:srgbClr val="142026"/>
                </a:solidFill>
              </a:rPr>
              <a:t>No meaningful V2 verdict/truth/confidence exposure beyond X4 blocking</a:t>
            </a:r>
          </a:p>
        </p:txBody>
      </p:sp>
      <p:sp>
        <p:nvSpPr>
          <p:cNvPr id="12" name="band-NO REAL-BYTE PARSE">
            <a:extLst xmlns:a="http://schemas.openxmlformats.org/drawingml/2006/main">
              <a:ext uri="{FF2B5EF4-FFF2-40B4-BE49-F238E27FC236}">
                <a16:creationId xmlns:a16="http://schemas.microsoft.com/office/drawing/2014/main" id="{C1233FFB-DB8F-4FE0-B8FA-B3B18846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9450" y="2003908"/>
            <a:ext cx="53975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2DAD9"/>
          </a:solidFill>
        </p:spPr>
      </p:sp>
      <p:sp>
        <p:nvSpPr>
          <p:cNvPr id="13" name="band-mark">
            <a:extLst xmlns:a="http://schemas.openxmlformats.org/drawingml/2006/main">
              <a:ext uri="{FF2B5EF4-FFF2-40B4-BE49-F238E27FC236}">
                <a16:creationId xmlns:a16="http://schemas.microsoft.com/office/drawing/2014/main" id="{CF7C030D-4959-424C-AF75-29CE82F2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220980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D3A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917A4E-F5EE-4AE5-9DAA-5A860F33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2190750"/>
            <a:ext cx="4610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 i="0">
                <a:solidFill>
                  <a:srgbClr val="9A3D3A"/>
                </a:solidFill>
              </a:defRPr>
            </a:pPr>
            <a:r>
              <a:rPr sz="1350" b="1" i="0">
                <a:solidFill>
                  <a:srgbClr val="9A3D3A"/>
                </a:solidFill>
              </a:rPr>
              <a:t>NO REAL-BYTE PARSE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BEAAAC-4896-4D17-9638-93680A38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2495550"/>
            <a:ext cx="46101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 b="1" i="0">
                <a:solidFill>
                  <a:srgbClr val="142026"/>
                </a:solidFill>
              </a:defRPr>
            </a:pPr>
            <a:r>
              <a:rPr sz="1800" b="1" i="0">
                <a:solidFill>
                  <a:srgbClr val="142026"/>
                </a:solidFill>
              </a:rPr>
              <a:t>Parser consumption of real fetched bytes remains blocked by later reviewed gates</a:t>
            </a:r>
          </a:p>
        </p:txBody>
      </p:sp>
      <p:sp>
        <p:nvSpPr>
          <p:cNvPr id="16" name="band-NO PROMPT DRIFT">
            <a:extLst xmlns:a="http://schemas.openxmlformats.org/drawingml/2006/main">
              <a:ext uri="{FF2B5EF4-FFF2-40B4-BE49-F238E27FC236}">
                <a16:creationId xmlns:a16="http://schemas.microsoft.com/office/drawing/2014/main" id="{480F96FC-17EF-4D89-AD9B-EF501ED3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88254"/>
            <a:ext cx="53975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2DED0"/>
          </a:solidFill>
        </p:spPr>
      </p:sp>
      <p:sp>
        <p:nvSpPr>
          <p:cNvPr id="17" name="band-mark">
            <a:extLst xmlns:a="http://schemas.openxmlformats.org/drawingml/2006/main">
              <a:ext uri="{FF2B5EF4-FFF2-40B4-BE49-F238E27FC236}">
                <a16:creationId xmlns:a16="http://schemas.microsoft.com/office/drawing/2014/main" id="{6C56742C-C573-401C-A825-D878EB20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6740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62A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001B31-5D6A-4230-8078-156DDB71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886450"/>
            <a:ext cx="4610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 i="0">
                <a:solidFill>
                  <a:srgbClr val="B8662A"/>
                </a:solidFill>
              </a:defRPr>
            </a:pPr>
            <a:r>
              <a:rPr sz="1350" b="1" i="0">
                <a:solidFill>
                  <a:srgbClr val="B8662A"/>
                </a:solidFill>
              </a:rPr>
              <a:t>NO PROMPT DRIFT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324160-0E9E-4E19-8FFE-F9F63D5D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191250"/>
            <a:ext cx="46101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 b="1" i="0">
                <a:solidFill>
                  <a:srgbClr val="142026"/>
                </a:solidFill>
              </a:defRPr>
            </a:pPr>
            <a:r>
              <a:rPr sz="1800" b="1" i="0">
                <a:solidFill>
                  <a:srgbClr val="142026"/>
                </a:solidFill>
              </a:rPr>
              <a:t>Prompt/model/config/schema edits require their own approval path</a:t>
            </a:r>
          </a:p>
        </p:txBody>
      </p:sp>
      <p:sp>
        <p:nvSpPr>
          <p:cNvPr id="20" name="band-NO CACHE OR SR">
            <a:extLst xmlns:a="http://schemas.openxmlformats.org/drawingml/2006/main">
              <a:ext uri="{FF2B5EF4-FFF2-40B4-BE49-F238E27FC236}">
                <a16:creationId xmlns:a16="http://schemas.microsoft.com/office/drawing/2014/main" id="{E8B3674E-7D0B-4A27-90A1-E81CC9AD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5688254"/>
            <a:ext cx="53975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2DED0"/>
          </a:solidFill>
        </p:spPr>
      </p:sp>
      <p:sp>
        <p:nvSpPr>
          <p:cNvPr id="21" name="band-mark">
            <a:extLst xmlns:a="http://schemas.openxmlformats.org/drawingml/2006/main">
              <a:ext uri="{FF2B5EF4-FFF2-40B4-BE49-F238E27FC236}">
                <a16:creationId xmlns:a16="http://schemas.microsoft.com/office/drawing/2014/main" id="{5DF156F3-5420-4073-B987-00C7D70E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86740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62A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EB79A7-92BF-494F-9312-07AA3C83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886450"/>
            <a:ext cx="4610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 i="0">
                <a:solidFill>
                  <a:srgbClr val="B8662A"/>
                </a:solidFill>
              </a:defRPr>
            </a:pPr>
            <a:r>
              <a:rPr sz="1350" b="1" i="0">
                <a:solidFill>
                  <a:srgbClr val="B8662A"/>
                </a:solidFill>
              </a:rPr>
              <a:t>NO CACHE OR SR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B83A15-DC97-43A2-A3BE-2FF173B1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191250"/>
            <a:ext cx="46101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 b="1" i="0">
                <a:solidFill>
                  <a:srgbClr val="142026"/>
                </a:solidFill>
              </a:defRPr>
            </a:pPr>
            <a:r>
              <a:rPr sz="1800" b="1" i="0">
                <a:solidFill>
                  <a:srgbClr val="142026"/>
                </a:solidFill>
              </a:rPr>
              <a:t>Cache IO and Source Reliability integration stay out of the next small slice</a:t>
            </a:r>
          </a:p>
        </p:txBody>
      </p:sp>
      <p:sp>
        <p:nvSpPr>
          <p:cNvPr id="24" name="band-NO V1 CLEANUP">
            <a:extLst xmlns:a="http://schemas.openxmlformats.org/drawingml/2006/main">
              <a:ext uri="{FF2B5EF4-FFF2-40B4-BE49-F238E27FC236}">
                <a16:creationId xmlns:a16="http://schemas.microsoft.com/office/drawing/2014/main" id="{DB72AED5-F6DC-4203-B7FF-440E83BA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9450" y="5688254"/>
            <a:ext cx="53975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2DED0"/>
          </a:solidFill>
        </p:spPr>
      </p:sp>
      <p:sp>
        <p:nvSpPr>
          <p:cNvPr id="25" name="band-mark">
            <a:extLst xmlns:a="http://schemas.openxmlformats.org/drawingml/2006/main">
              <a:ext uri="{FF2B5EF4-FFF2-40B4-BE49-F238E27FC236}">
                <a16:creationId xmlns:a16="http://schemas.microsoft.com/office/drawing/2014/main" id="{7C05574F-8E08-4E99-91A6-4AF8D6E8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586740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62A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791B39-7D86-46ED-82B0-B8830B0D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5886450"/>
            <a:ext cx="4610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 i="0">
                <a:solidFill>
                  <a:srgbClr val="B8662A"/>
                </a:solidFill>
              </a:defRPr>
            </a:pPr>
            <a:r>
              <a:rPr sz="1350" b="1" i="0">
                <a:solidFill>
                  <a:srgbClr val="B8662A"/>
                </a:solidFill>
              </a:rPr>
              <a:t>NO V1 CLEANUP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831B13-6EC6-4DE5-A917-AD3AC14F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6191250"/>
            <a:ext cx="46101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 b="1" i="0">
                <a:solidFill>
                  <a:srgbClr val="142026"/>
                </a:solidFill>
              </a:defRPr>
            </a:pPr>
            <a:r>
              <a:rPr sz="1800" b="1" i="0">
                <a:solidFill>
                  <a:srgbClr val="142026"/>
                </a:solidFill>
              </a:rPr>
              <a:t>V1 remains maintenance-only until V2 cutover readiness</a:t>
            </a:r>
          </a:p>
        </p:txBody>
      </p:sp>
      <p:sp>
        <p:nvSpPr>
          <p:cNvPr id="28" name="footer-text">
            <a:extLst xmlns:a="http://schemas.openxmlformats.org/drawingml/2006/main">
              <a:ext uri="{FF2B5EF4-FFF2-40B4-BE49-F238E27FC236}">
                <a16:creationId xmlns:a16="http://schemas.microsoft.com/office/drawing/2014/main" id="{5544BBC6-AD1B-4B01-8160-913ED812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10700"/>
            <a:ext cx="14687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 i="0">
                <a:solidFill>
                  <a:srgbClr val="819099"/>
                </a:solidFill>
              </a:defRPr>
            </a:pPr>
            <a:r>
              <a:rPr sz="1275" b="0" i="0">
                <a:solidFill>
                  <a:srgbClr val="819099"/>
                </a:solidFill>
              </a:rPr>
              <a:t>FactHarbor V2 Pipeline - Revision B - 2026-05-16</a:t>
            </a:r>
          </a:p>
        </p:txBody>
      </p:sp>
      <p:sp>
        <p:nvSpPr>
          <p:cNvPr id="29" name="footer-context">
            <a:extLst xmlns:a="http://schemas.openxmlformats.org/drawingml/2006/main">
              <a:ext uri="{FF2B5EF4-FFF2-40B4-BE49-F238E27FC236}">
                <a16:creationId xmlns:a16="http://schemas.microsoft.com/office/drawing/2014/main" id="{97046028-844C-47B2-AF61-92813282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9410700"/>
            <a:ext cx="18478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 i="0">
                <a:solidFill>
                  <a:srgbClr val="819099"/>
                </a:solidFill>
              </a:defRPr>
            </a:pPr>
            <a:r>
              <a:rPr sz="1275" b="0" i="0">
                <a:solidFill>
                  <a:srgbClr val="819099"/>
                </a:solidFill>
              </a:rPr>
              <a:t>Leadership execution bridge</a:t>
            </a:r>
          </a:p>
        </p:txBody>
      </p:sp>
    </p:spTree>
    <p:extLst>
      <p:ext uri="{BB962C8B-B14F-4D97-AF65-F5344CB8AC3E}">
        <p14:creationId xmlns:p14="http://schemas.microsoft.com/office/powerpoint/2010/main" val="175180536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C409C534-1198-475C-A4C3-2E09EEAF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8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CCB982-33C0-404F-AC6B-326CAA2C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"/>
            <a:ext cx="16725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975" b="1" i="0">
                <a:solidFill>
                  <a:srgbClr val="142026"/>
                </a:solidFill>
              </a:defRPr>
            </a:pPr>
            <a:r>
              <a:rPr sz="3975" b="1" i="0">
                <a:solidFill>
                  <a:srgbClr val="142026"/>
                </a:solidFill>
              </a:rPr>
              <a:t>Every next gate should fit on one execution packet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5263D60-F256-4FD4-AB61-A39F2F68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8648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0" i="0">
                <a:solidFill>
                  <a:srgbClr val="5D6B73"/>
                </a:solidFill>
              </a:defRPr>
            </a:pPr>
            <a:r>
              <a:rPr sz="1950" b="0" i="0">
                <a:solidFill>
                  <a:srgbClr val="5D6B73"/>
                </a:solidFill>
              </a:rPr>
              <a:t>This is the artifact that keeps leadership, architecture, and development synchronized.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4B4925-7335-4968-A3E1-3583C7B1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862"/>
            <a:ext cx="7620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D86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A936A0-DD36-4D5A-BF1B-FC09B99C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495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1EE856-23CC-4C39-9D8F-24B28E2B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32410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86"/>
          </a:solidFill>
          <a:ln xmlns:a="http://schemas.openxmlformats.org/drawingml/2006/main" w="0">
            <a:solidFill>
              <a:srgbClr val="315D8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FA39CC-4A0C-45BB-9A56-9B347054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81534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625" b="1" i="0">
                <a:solidFill>
                  <a:srgbClr val="142026"/>
                </a:solidFill>
              </a:defRPr>
            </a:pPr>
            <a:r>
              <a:rPr sz="2625" b="1" i="0">
                <a:solidFill>
                  <a:srgbClr val="142026"/>
                </a:solidFill>
              </a:rPr>
              <a:t>Scope envelope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D8C8F6-1A73-4AE6-BB2C-4E61906A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8153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3000"/>
              </a:lnSpc>
              <a:buNone/>
              <a:defRPr sz="1725" b="0" i="0">
                <a:solidFill>
                  <a:srgbClr val="5D6B73"/>
                </a:solidFill>
              </a:defRPr>
            </a:pPr>
            <a:r>
              <a:rPr sz="1725" b="0" i="0">
                <a:solidFill>
                  <a:srgbClr val="5D6B73"/>
                </a:solidFill>
              </a:rPr>
              <a:t>Allowed files, forbidden files, and exact source boundaries.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467D15-BD54-4D21-AA03-9C34409E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324862"/>
            <a:ext cx="7620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6A57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5DD318-050C-4FF9-8A96-25765772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38400"/>
            <a:ext cx="495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C5BC5E-F390-4ACA-8F27-B65927B5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2410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57"/>
          </a:solidFill>
          <a:ln xmlns:a="http://schemas.openxmlformats.org/drawingml/2006/main" w="0">
            <a:solidFill>
              <a:srgbClr val="246A5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23F70B-430F-4EB1-909C-819EC2A8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90850"/>
            <a:ext cx="81534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625" b="1" i="0">
                <a:solidFill>
                  <a:srgbClr val="142026"/>
                </a:solidFill>
              </a:defRPr>
            </a:pPr>
            <a:r>
              <a:rPr sz="2625" b="1" i="0">
                <a:solidFill>
                  <a:srgbClr val="142026"/>
                </a:solidFill>
              </a:rPr>
              <a:t>Acceptance criteria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CBC08E-E736-4B67-BAED-4D3AEE81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00450"/>
            <a:ext cx="8153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3000"/>
              </a:lnSpc>
              <a:buNone/>
              <a:defRPr sz="1725" b="0" i="0">
                <a:solidFill>
                  <a:srgbClr val="5D6B73"/>
                </a:solidFill>
              </a:defRPr>
            </a:pPr>
            <a:r>
              <a:rPr sz="1725" b="0" i="0">
                <a:solidFill>
                  <a:srgbClr val="5D6B73"/>
                </a:solidFill>
              </a:rPr>
              <a:t>Observable behavior plus explicit non-goals and blocked behaviors.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964A71-8763-4845-9944-C6112088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77306"/>
            <a:ext cx="7620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D86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39C529-1C7F-4F9F-AA25-6988B17D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81700"/>
            <a:ext cx="495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6A802E-E5BB-42D7-9EAD-07033940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88645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86"/>
          </a:solidFill>
          <a:ln xmlns:a="http://schemas.openxmlformats.org/drawingml/2006/main" w="0">
            <a:solidFill>
              <a:srgbClr val="315D8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E05062-C57C-4152-8D80-0D6C9AE1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53200"/>
            <a:ext cx="81534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625" b="1" i="0">
                <a:solidFill>
                  <a:srgbClr val="142026"/>
                </a:solidFill>
              </a:defRPr>
            </a:pPr>
            <a:r>
              <a:rPr sz="2625" b="1" i="0">
                <a:solidFill>
                  <a:srgbClr val="142026"/>
                </a:solidFill>
              </a:rPr>
              <a:t>Verifier 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F02A81-8E22-483D-A9F8-BFED3C2A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143750"/>
            <a:ext cx="8153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3000"/>
              </a:lnSpc>
              <a:buNone/>
              <a:defRPr sz="1725" b="0" i="0">
                <a:solidFill>
                  <a:srgbClr val="5D6B73"/>
                </a:solidFill>
              </a:defRPr>
            </a:pPr>
            <a:r>
              <a:rPr sz="1725" b="0" i="0">
                <a:solidFill>
                  <a:srgbClr val="5D6B73"/>
                </a:solidFill>
              </a:rPr>
              <a:t>Focused safe tests, build, gate checks, and diff hygiene.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0CBC2C-9C93-4432-94DD-E60E6541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5877306"/>
            <a:ext cx="7620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3D3A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C9EB42-0314-40EE-844A-C649C928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981700"/>
            <a:ext cx="495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17A259-B1D1-4A21-9771-9418E0D9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88645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D3A"/>
          </a:solidFill>
          <a:ln xmlns:a="http://schemas.openxmlformats.org/drawingml/2006/main" w="0">
            <a:solidFill>
              <a:srgbClr val="9A3D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63FE03-D724-4338-A7A2-7F9069D8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553200"/>
            <a:ext cx="81534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625" b="1" i="0">
                <a:solidFill>
                  <a:srgbClr val="142026"/>
                </a:solidFill>
              </a:defRPr>
            </a:pPr>
            <a:r>
              <a:rPr sz="2625" b="1" i="0">
                <a:solidFill>
                  <a:srgbClr val="142026"/>
                </a:solidFill>
              </a:rPr>
              <a:t>Stop conditions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B9207C-345D-4060-A799-460A1F5F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7143750"/>
            <a:ext cx="81534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3000"/>
              </a:lnSpc>
              <a:buNone/>
              <a:defRPr sz="1725" b="0" i="0">
                <a:solidFill>
                  <a:srgbClr val="5D6B73"/>
                </a:solidFill>
              </a:defRPr>
            </a:pPr>
            <a:r>
              <a:rPr sz="1725" b="0" i="0">
                <a:solidFill>
                  <a:srgbClr val="5D6B73"/>
                </a:solidFill>
              </a:rPr>
              <a:t>The moment the slice touches prompt, live, public, cache, SR, evidence, parser real-byte, or V1 cleanup scope.</a:t>
            </a:r>
          </a:p>
        </p:txBody>
      </p:sp>
      <p:sp>
        <p:nvSpPr>
          <p:cNvPr id="24" name="footer-text">
            <a:extLst xmlns:a="http://schemas.openxmlformats.org/drawingml/2006/main">
              <a:ext uri="{FF2B5EF4-FFF2-40B4-BE49-F238E27FC236}">
                <a16:creationId xmlns:a16="http://schemas.microsoft.com/office/drawing/2014/main" id="{EB8873F6-75D4-4330-A54D-C2371482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10700"/>
            <a:ext cx="14687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 i="0">
                <a:solidFill>
                  <a:srgbClr val="819099"/>
                </a:solidFill>
              </a:defRPr>
            </a:pPr>
            <a:r>
              <a:rPr sz="1275" b="0" i="0">
                <a:solidFill>
                  <a:srgbClr val="819099"/>
                </a:solidFill>
              </a:rPr>
              <a:t>FactHarbor V2 Pipeline - Revision B - 2026-05-16</a:t>
            </a:r>
          </a:p>
        </p:txBody>
      </p:sp>
      <p:sp>
        <p:nvSpPr>
          <p:cNvPr id="25" name="footer-context">
            <a:extLst xmlns:a="http://schemas.openxmlformats.org/drawingml/2006/main">
              <a:ext uri="{FF2B5EF4-FFF2-40B4-BE49-F238E27FC236}">
                <a16:creationId xmlns:a16="http://schemas.microsoft.com/office/drawing/2014/main" id="{34F30248-3C58-4490-B1E3-B5ED6050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9410700"/>
            <a:ext cx="18478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 i="0">
                <a:solidFill>
                  <a:srgbClr val="819099"/>
                </a:solidFill>
              </a:defRPr>
            </a:pPr>
            <a:r>
              <a:rPr sz="1275" b="0" i="0">
                <a:solidFill>
                  <a:srgbClr val="819099"/>
                </a:solidFill>
              </a:rPr>
              <a:t>Leadership execution bridge</a:t>
            </a:r>
          </a:p>
        </p:txBody>
      </p:sp>
    </p:spTree>
    <p:extLst>
      <p:ext uri="{BB962C8B-B14F-4D97-AF65-F5344CB8AC3E}">
        <p14:creationId xmlns:p14="http://schemas.microsoft.com/office/powerpoint/2010/main" val="189997857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F0A01151-071A-4CA6-8758-18B3B79C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8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5F5DC6-76DA-48EC-B69A-FE07019A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"/>
            <a:ext cx="16725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975" b="1" i="0">
                <a:solidFill>
                  <a:srgbClr val="142026"/>
                </a:solidFill>
              </a:defRPr>
            </a:pPr>
            <a:r>
              <a:rPr sz="3975" b="1" i="0">
                <a:solidFill>
                  <a:srgbClr val="142026"/>
                </a:solidFill>
              </a:rPr>
              <a:t>Recommendation for the next 48 hours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6D65C22-1DBB-4E99-BB53-192F86D3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49720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0" i="0">
                <a:solidFill>
                  <a:srgbClr val="5D6B73"/>
                </a:solidFill>
              </a:defRPr>
            </a:pPr>
            <a:r>
              <a:rPr sz="1950" b="0" i="0">
                <a:solidFill>
                  <a:srgbClr val="5D6B73"/>
                </a:solidFill>
              </a:rPr>
              <a:t>Make the decision small, explicit, and reviewable.</a:t>
            </a:r>
          </a:p>
        </p:txBody>
      </p:sp>
      <p:sp>
        <p:nvSpPr>
          <p:cNvPr id="4" name="band-1. Record X4 as complete in the leadership narrative">
            <a:extLst xmlns:a="http://schemas.openxmlformats.org/drawingml/2006/main">
              <a:ext uri="{FF2B5EF4-FFF2-40B4-BE49-F238E27FC236}">
                <a16:creationId xmlns:a16="http://schemas.microsoft.com/office/drawing/2014/main" id="{1026D0B9-D7B6-4B10-B526-83CFCFD2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862"/>
            <a:ext cx="167259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DDEBE5"/>
          </a:solidFill>
        </p:spPr>
      </p:sp>
      <p:sp>
        <p:nvSpPr>
          <p:cNvPr id="5" name="band-mark">
            <a:extLst xmlns:a="http://schemas.openxmlformats.org/drawingml/2006/main">
              <a:ext uri="{FF2B5EF4-FFF2-40B4-BE49-F238E27FC236}">
                <a16:creationId xmlns:a16="http://schemas.microsoft.com/office/drawing/2014/main" id="{96223B42-667A-4626-85C3-4766437D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1460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57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9EEFB7-ADB7-4793-A8CD-EE70FBE7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14600"/>
            <a:ext cx="15944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 i="0">
                <a:solidFill>
                  <a:srgbClr val="246A57"/>
                </a:solidFill>
              </a:defRPr>
            </a:pPr>
            <a:r>
              <a:rPr sz="1350" b="1" i="0">
                <a:solidFill>
                  <a:srgbClr val="246A57"/>
                </a:solidFill>
              </a:rPr>
              <a:t>1. Record X4 as complete in the leadership narrative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EA76A7-2246-4D01-8447-73AB7A0B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19400"/>
            <a:ext cx="15944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 b="1" i="0">
                <a:solidFill>
                  <a:srgbClr val="142026"/>
                </a:solidFill>
              </a:defRPr>
            </a:pPr>
            <a:r>
              <a:rPr sz="1800" b="1" i="0">
                <a:solidFill>
                  <a:srgbClr val="142026"/>
                </a:solidFill>
              </a:rPr>
              <a:t>Do not sell it as a launch gate. Sell it as a safety guard that prevents accidental public V2 metric exposure.</a:t>
            </a:r>
          </a:p>
        </p:txBody>
      </p:sp>
      <p:sp>
        <p:nvSpPr>
          <p:cNvPr id="8" name="band-2. Ask Captain/LLM Expert for X3-B prompt authority">
            <a:extLst xmlns:a="http://schemas.openxmlformats.org/drawingml/2006/main">
              <a:ext uri="{FF2B5EF4-FFF2-40B4-BE49-F238E27FC236}">
                <a16:creationId xmlns:a16="http://schemas.microsoft.com/office/drawing/2014/main" id="{5331AE11-6066-47C9-8C4E-F4D6460F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9362"/>
            <a:ext cx="167259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2DED0"/>
          </a:solidFill>
        </p:spPr>
      </p:sp>
      <p:sp>
        <p:nvSpPr>
          <p:cNvPr id="9" name="band-mark">
            <a:extLst xmlns:a="http://schemas.openxmlformats.org/drawingml/2006/main">
              <a:ext uri="{FF2B5EF4-FFF2-40B4-BE49-F238E27FC236}">
                <a16:creationId xmlns:a16="http://schemas.microsoft.com/office/drawing/2014/main" id="{1F5D6897-A383-43F7-9A03-F40B2702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62A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9B4789-0F55-4007-A7AA-752D57D7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15944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 i="0">
                <a:solidFill>
                  <a:srgbClr val="B8662A"/>
                </a:solidFill>
              </a:defRPr>
            </a:pPr>
            <a:r>
              <a:rPr sz="1350" b="1" i="0">
                <a:solidFill>
                  <a:srgbClr val="B8662A"/>
                </a:solidFill>
              </a:rPr>
              <a:t>2. Ask Captain/LLM Expert for X3-B prompt authority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CF6567-0E66-4194-940E-296E8F94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33900"/>
            <a:ext cx="15944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 b="1" i="0">
                <a:solidFill>
                  <a:srgbClr val="142026"/>
                </a:solidFill>
              </a:defRPr>
            </a:pPr>
            <a:r>
              <a:rPr sz="1800" b="1" i="0">
                <a:solidFill>
                  <a:srgbClr val="142026"/>
                </a:solidFill>
              </a:rPr>
              <a:t>If yes, draft the exact prompt package. If no, leave prompts frozen and move to the next code gate.</a:t>
            </a:r>
          </a:p>
        </p:txBody>
      </p:sp>
      <p:sp>
        <p:nvSpPr>
          <p:cNvPr id="12" name="band-3. Create the next-gate source package before coding">
            <a:extLst xmlns:a="http://schemas.openxmlformats.org/drawingml/2006/main">
              <a:ext uri="{FF2B5EF4-FFF2-40B4-BE49-F238E27FC236}">
                <a16:creationId xmlns:a16="http://schemas.microsoft.com/office/drawing/2014/main" id="{9434E826-5CE6-49B6-8107-0EC30CB3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53862"/>
            <a:ext cx="167259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DEEAF3"/>
          </a:solidFill>
        </p:spPr>
      </p:sp>
      <p:sp>
        <p:nvSpPr>
          <p:cNvPr id="13" name="band-mark">
            <a:extLst xmlns:a="http://schemas.openxmlformats.org/drawingml/2006/main">
              <a:ext uri="{FF2B5EF4-FFF2-40B4-BE49-F238E27FC236}">
                <a16:creationId xmlns:a16="http://schemas.microsoft.com/office/drawing/2014/main" id="{82621C2E-3C16-4B73-A242-5C0AE44E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4360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86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262FEE-CD73-4F11-90B4-8BD6E1E7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943600"/>
            <a:ext cx="15944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 i="0">
                <a:solidFill>
                  <a:srgbClr val="315D86"/>
                </a:solidFill>
              </a:defRPr>
            </a:pPr>
            <a:r>
              <a:rPr sz="1350" b="1" i="0">
                <a:solidFill>
                  <a:srgbClr val="315D86"/>
                </a:solidFill>
              </a:rPr>
              <a:t>3. Create the next-gate source package before coding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C32F86-1F45-4F05-99D2-ABBF0942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248400"/>
            <a:ext cx="15944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 b="1" i="0">
                <a:solidFill>
                  <a:srgbClr val="142026"/>
                </a:solidFill>
              </a:defRPr>
            </a:pPr>
            <a:r>
              <a:rPr sz="1800" b="1" i="0">
                <a:solidFill>
                  <a:srgbClr val="142026"/>
                </a:solidFill>
              </a:rPr>
              <a:t>Choose from the reviewed action plan only after verifying that it avoids every blocked capability.</a:t>
            </a:r>
          </a:p>
        </p:txBody>
      </p:sp>
      <p:sp>
        <p:nvSpPr>
          <p:cNvPr id="16" name="band-4. Require a red/green evidence artifact">
            <a:extLst xmlns:a="http://schemas.openxmlformats.org/drawingml/2006/main">
              <a:ext uri="{FF2B5EF4-FFF2-40B4-BE49-F238E27FC236}">
                <a16:creationId xmlns:a16="http://schemas.microsoft.com/office/drawing/2014/main" id="{BA2DB85C-DC36-473C-BF3D-498288A0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68362"/>
            <a:ext cx="167259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DDEBE5"/>
          </a:solidFill>
        </p:spPr>
      </p:sp>
      <p:sp>
        <p:nvSpPr>
          <p:cNvPr id="17" name="band-mark">
            <a:extLst xmlns:a="http://schemas.openxmlformats.org/drawingml/2006/main">
              <a:ext uri="{FF2B5EF4-FFF2-40B4-BE49-F238E27FC236}">
                <a16:creationId xmlns:a16="http://schemas.microsoft.com/office/drawing/2014/main" id="{9DB48BDF-6AC3-4DEC-8CD4-FF702E20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69620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57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657EC4-2836-40DD-8CF7-5265D795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658100"/>
            <a:ext cx="15944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 i="0">
                <a:solidFill>
                  <a:srgbClr val="246A57"/>
                </a:solidFill>
              </a:defRPr>
            </a:pPr>
            <a:r>
              <a:rPr sz="1350" b="1" i="0">
                <a:solidFill>
                  <a:srgbClr val="246A57"/>
                </a:solidFill>
              </a:rPr>
              <a:t>4. Require a red/green evidence artifact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E0A32A-3F81-45AF-82E3-71F078A7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962900"/>
            <a:ext cx="15944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 b="1" i="0">
                <a:solidFill>
                  <a:srgbClr val="142026"/>
                </a:solidFill>
              </a:defRPr>
            </a:pPr>
            <a:r>
              <a:rPr sz="1800" b="1" i="0">
                <a:solidFill>
                  <a:srgbClr val="142026"/>
                </a:solidFill>
              </a:rPr>
              <a:t>No next gate is complete without focused tests, build or gate checks, and a handoff that states residual risk.</a:t>
            </a:r>
          </a:p>
        </p:txBody>
      </p:sp>
      <p:sp>
        <p:nvSpPr>
          <p:cNvPr id="20" name="footer-text">
            <a:extLst xmlns:a="http://schemas.openxmlformats.org/drawingml/2006/main">
              <a:ext uri="{FF2B5EF4-FFF2-40B4-BE49-F238E27FC236}">
                <a16:creationId xmlns:a16="http://schemas.microsoft.com/office/drawing/2014/main" id="{77B26F5F-BEF9-4364-986B-5F8E8160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10700"/>
            <a:ext cx="14687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 i="0">
                <a:solidFill>
                  <a:srgbClr val="819099"/>
                </a:solidFill>
              </a:defRPr>
            </a:pPr>
            <a:r>
              <a:rPr sz="1275" b="0" i="0">
                <a:solidFill>
                  <a:srgbClr val="819099"/>
                </a:solidFill>
              </a:rPr>
              <a:t>FactHarbor V2 Pipeline - Revision B - 2026-05-16</a:t>
            </a:r>
          </a:p>
        </p:txBody>
      </p:sp>
      <p:sp>
        <p:nvSpPr>
          <p:cNvPr id="21" name="footer-context">
            <a:extLst xmlns:a="http://schemas.openxmlformats.org/drawingml/2006/main">
              <a:ext uri="{FF2B5EF4-FFF2-40B4-BE49-F238E27FC236}">
                <a16:creationId xmlns:a16="http://schemas.microsoft.com/office/drawing/2014/main" id="{47859902-54C6-4164-9172-A742D718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9410700"/>
            <a:ext cx="18478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 i="0">
                <a:solidFill>
                  <a:srgbClr val="819099"/>
                </a:solidFill>
              </a:defRPr>
            </a:pPr>
            <a:r>
              <a:rPr sz="1275" b="0" i="0">
                <a:solidFill>
                  <a:srgbClr val="819099"/>
                </a:solidFill>
              </a:rPr>
              <a:t>Leadership execution bridge</a:t>
            </a:r>
          </a:p>
        </p:txBody>
      </p:sp>
    </p:spTree>
    <p:extLst>
      <p:ext uri="{BB962C8B-B14F-4D97-AF65-F5344CB8AC3E}">
        <p14:creationId xmlns:p14="http://schemas.microsoft.com/office/powerpoint/2010/main" val="184243837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638B6ECF-EA48-457D-BE82-A9790B2F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8"/>
          </a:solidFill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A69427-6BFD-4DD6-90A4-53552E29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"/>
            <a:ext cx="16725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975" b="1" i="0">
                <a:solidFill>
                  <a:srgbClr val="142026"/>
                </a:solidFill>
              </a:defRPr>
            </a:pPr>
            <a:r>
              <a:rPr sz="3975" b="1" i="0">
                <a:solidFill>
                  <a:srgbClr val="142026"/>
                </a:solidFill>
              </a:rPr>
              <a:t>Leadership ask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1EA8BB3-C058-495D-8009-5D300CD8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71600"/>
            <a:ext cx="80581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0" i="0">
                <a:solidFill>
                  <a:srgbClr val="5D6B73"/>
                </a:solidFill>
              </a:defRPr>
            </a:pPr>
            <a:r>
              <a:rPr sz="1950" b="0" i="0">
                <a:solidFill>
                  <a:srgbClr val="5D6B73"/>
                </a:solidFill>
              </a:rPr>
              <a:t>A simple decision set keeps execution moving without weakening the guardrails.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2B5B70-52D5-45EB-A684-4106EAEA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88011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600" b="1" i="0">
                <a:solidFill>
                  <a:srgbClr val="142026"/>
                </a:solidFill>
              </a:defRPr>
            </a:pPr>
            <a:r>
              <a:rPr sz="3600" b="1" i="0">
                <a:solidFill>
                  <a:srgbClr val="142026"/>
                </a:solidFill>
              </a:rPr>
              <a:t>Decide these three items in order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4B52E8-5766-4E78-8DA0-EB2F9F20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8801100" cy="140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550" b="0" i="0">
                <a:solidFill>
                  <a:srgbClr val="142026"/>
                </a:solidFill>
              </a:defRPr>
            </a:pPr>
            <a:r>
              <a:rPr sz="2550" b="0" i="0">
                <a:solidFill>
                  <a:srgbClr val="142026"/>
                </a:solidFill>
              </a:rPr>
              <a:t>1. Is X3-B prompt alignment approved now?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2550" b="0" i="0">
                <a:solidFill>
                  <a:srgbClr val="142026"/>
                </a:solidFill>
              </a:defRPr>
            </a:pPr>
            <a:r>
              <a:rPr sz="2550" b="0" i="0">
                <a:solidFill>
                  <a:srgbClr val="142026"/>
                </a:solidFill>
              </a:rPr>
              <a:t>2. If not, which reviewed low-risk code gate is next?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2550" b="0" i="0">
                <a:solidFill>
                  <a:srgbClr val="142026"/>
                </a:solidFill>
              </a:defRPr>
            </a:pPr>
            <a:r>
              <a:rPr sz="2550" b="0" i="0">
                <a:solidFill>
                  <a:srgbClr val="142026"/>
                </a:solidFill>
              </a:rPr>
              <a:t>3. Who owns the acceptance artifact and who can stop the slice?</a:t>
            </a:r>
          </a:p>
        </p:txBody>
      </p:sp>
      <p:sp>
        <p:nvSpPr>
          <p:cNvPr id="6" name="band-DEFAULT RECOMMENDATION">
            <a:extLst xmlns:a="http://schemas.openxmlformats.org/drawingml/2006/main">
              <a:ext uri="{FF2B5EF4-FFF2-40B4-BE49-F238E27FC236}">
                <a16:creationId xmlns:a16="http://schemas.microsoft.com/office/drawing/2014/main" id="{7C3B47CD-42D2-4A4D-A57A-069F3963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324862"/>
            <a:ext cx="73342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DEEAF3"/>
          </a:solidFill>
        </p:spPr>
      </p:sp>
      <p:sp>
        <p:nvSpPr>
          <p:cNvPr id="7" name="band-mark">
            <a:extLst xmlns:a="http://schemas.openxmlformats.org/drawingml/2006/main">
              <a:ext uri="{FF2B5EF4-FFF2-40B4-BE49-F238E27FC236}">
                <a16:creationId xmlns:a16="http://schemas.microsoft.com/office/drawing/2014/main" id="{D1ACFDFC-F296-47CD-9ABA-DF1F366E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51460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86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DCEC6B-3F7B-4D8B-90BC-F7AEFCCB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514600"/>
            <a:ext cx="6553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 i="0">
                <a:solidFill>
                  <a:srgbClr val="315D86"/>
                </a:solidFill>
              </a:defRPr>
            </a:pPr>
            <a:r>
              <a:rPr sz="1350" b="1" i="0">
                <a:solidFill>
                  <a:srgbClr val="315D86"/>
                </a:solidFill>
              </a:rPr>
              <a:t>DEFAULT RECOMMENDATION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D75B32-8E41-470F-8B08-CC4C6979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819400"/>
            <a:ext cx="65532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 b="1" i="0">
                <a:solidFill>
                  <a:srgbClr val="142026"/>
                </a:solidFill>
              </a:defRPr>
            </a:pPr>
            <a:r>
              <a:rPr sz="1800" b="1" i="0">
                <a:solidFill>
                  <a:srgbClr val="142026"/>
                </a:solidFill>
              </a:rPr>
              <a:t>Do not edit prompts unless approval is explicit. Prepare the next source package and keep X4 as the public safety guard.</a:t>
            </a:r>
          </a:p>
        </p:txBody>
      </p:sp>
      <p:sp>
        <p:nvSpPr>
          <p:cNvPr id="10" name="band-NON-NEGOTIABLE">
            <a:extLst xmlns:a="http://schemas.openxmlformats.org/drawingml/2006/main">
              <a:ext uri="{FF2B5EF4-FFF2-40B4-BE49-F238E27FC236}">
                <a16:creationId xmlns:a16="http://schemas.microsoft.com/office/drawing/2014/main" id="{E47F6B56-99D6-4C76-BCE3-A95CD6D3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982212"/>
            <a:ext cx="73342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2DAD9"/>
          </a:solidFill>
        </p:spPr>
      </p:sp>
      <p:sp>
        <p:nvSpPr>
          <p:cNvPr id="11" name="band-mark">
            <a:extLst xmlns:a="http://schemas.openxmlformats.org/drawingml/2006/main">
              <a:ext uri="{FF2B5EF4-FFF2-40B4-BE49-F238E27FC236}">
                <a16:creationId xmlns:a16="http://schemas.microsoft.com/office/drawing/2014/main" id="{6FF6663E-67F3-4C29-AF11-1C455E71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19100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3D3A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A48E6E-27F5-4700-AEA4-5E1DE5A1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171950"/>
            <a:ext cx="6553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 i="0">
                <a:solidFill>
                  <a:srgbClr val="9A3D3A"/>
                </a:solidFill>
              </a:defRPr>
            </a:pPr>
            <a:r>
              <a:rPr sz="1350" b="1" i="0">
                <a:solidFill>
                  <a:srgbClr val="9A3D3A"/>
                </a:solidFill>
              </a:rPr>
              <a:t>NON-NEGOTIABLE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3B8F2E-4193-46DA-937E-10393130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476750"/>
            <a:ext cx="65532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800" b="1" i="0">
                <a:solidFill>
                  <a:srgbClr val="142026"/>
                </a:solidFill>
              </a:defRPr>
            </a:pPr>
            <a:r>
              <a:rPr sz="1800" b="1" i="0">
                <a:solidFill>
                  <a:srgbClr val="142026"/>
                </a:solidFill>
              </a:rPr>
              <a:t>No live jobs, public cutover, real-byte parser consumption, cache/SR, evidence/report generation, or V1 cleanup through this decision.</a:t>
            </a:r>
          </a:p>
        </p:txBody>
      </p:sp>
      <p:sp>
        <p:nvSpPr>
          <p:cNvPr id="14" name="footer-text">
            <a:extLst xmlns:a="http://schemas.openxmlformats.org/drawingml/2006/main">
              <a:ext uri="{FF2B5EF4-FFF2-40B4-BE49-F238E27FC236}">
                <a16:creationId xmlns:a16="http://schemas.microsoft.com/office/drawing/2014/main" id="{05360EB3-62D7-4A02-A688-F0C98AD9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410700"/>
            <a:ext cx="14687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 i="0">
                <a:solidFill>
                  <a:srgbClr val="819099"/>
                </a:solidFill>
              </a:defRPr>
            </a:pPr>
            <a:r>
              <a:rPr sz="1275" b="0" i="0">
                <a:solidFill>
                  <a:srgbClr val="819099"/>
                </a:solidFill>
              </a:rPr>
              <a:t>FactHarbor V2 Pipeline - Revision B - 2026-05-16</a:t>
            </a:r>
          </a:p>
        </p:txBody>
      </p:sp>
      <p:sp>
        <p:nvSpPr>
          <p:cNvPr id="15" name="footer-context">
            <a:extLst xmlns:a="http://schemas.openxmlformats.org/drawingml/2006/main">
              <a:ext uri="{FF2B5EF4-FFF2-40B4-BE49-F238E27FC236}">
                <a16:creationId xmlns:a16="http://schemas.microsoft.com/office/drawing/2014/main" id="{F9A7555C-BA55-4219-BC8E-53A36024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9100" y="9410700"/>
            <a:ext cx="18478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75" b="0" i="0">
                <a:solidFill>
                  <a:srgbClr val="819099"/>
                </a:solidFill>
              </a:defRPr>
            </a:pPr>
            <a:r>
              <a:rPr sz="1275" b="0" i="0">
                <a:solidFill>
                  <a:srgbClr val="819099"/>
                </a:solidFill>
              </a:rPr>
              <a:t>Leadership execution bridge</a:t>
            </a:r>
          </a:p>
        </p:txBody>
      </p:sp>
    </p:spTree>
    <p:extLst>
      <p:ext uri="{BB962C8B-B14F-4D97-AF65-F5344CB8AC3E}">
        <p14:creationId xmlns:p14="http://schemas.microsoft.com/office/powerpoint/2010/main" val="1666120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2026-05-16T10:37:51.0770000Z</dcterms:created>
  <dcterms:modified xsi:type="dcterms:W3CDTF">2026-05-16T10:37:51.0770000Z</dcterms:modified>
</coreProperties>
</file>