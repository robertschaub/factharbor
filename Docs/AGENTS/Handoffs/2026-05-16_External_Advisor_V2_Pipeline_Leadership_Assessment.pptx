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d5cf07e2f24754" /><Relationship Type="http://schemas.openxmlformats.org/officeDocument/2006/relationships/extended-properties" Target="/docProps/app.xml" Id="R1306cefd19064f0e" /><Relationship Type="http://schemas.openxmlformats.org/officeDocument/2006/relationships/officeDocument" Target="/ppt/presentation.xml" Id="Raf68df795d9145b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a404004f9f44ba"/>
  </p:sldMasterIdLst>
  <p:notesMasterIdLst>
    <p:notesMasterId xmlns:r="http://schemas.openxmlformats.org/officeDocument/2006/relationships" r:id="Rf46994ce8f93421c"/>
  </p:notesMasterIdLst>
  <p:sldIdLst>
    <p:sldId xmlns:r="http://schemas.openxmlformats.org/officeDocument/2006/relationships" id="256" r:id="Rad1f0ea5fa2e42b8"/>
    <p:sldId xmlns:r="http://schemas.openxmlformats.org/officeDocument/2006/relationships" id="257" r:id="R50f99727014d4bf0"/>
    <p:sldId xmlns:r="http://schemas.openxmlformats.org/officeDocument/2006/relationships" id="258" r:id="Rf90040e006034021"/>
    <p:sldId xmlns:r="http://schemas.openxmlformats.org/officeDocument/2006/relationships" id="259" r:id="Rdb1cb09488454ff6"/>
    <p:sldId xmlns:r="http://schemas.openxmlformats.org/officeDocument/2006/relationships" id="260" r:id="R462da9ec577049b7"/>
    <p:sldId xmlns:r="http://schemas.openxmlformats.org/officeDocument/2006/relationships" id="261" r:id="R37a6f76a52cc4a73"/>
    <p:sldId xmlns:r="http://schemas.openxmlformats.org/officeDocument/2006/relationships" id="262" r:id="R96cee0c015904f11"/>
    <p:sldId xmlns:r="http://schemas.openxmlformats.org/officeDocument/2006/relationships" id="263" r:id="Rdff713b5a9ac4667"/>
    <p:sldId xmlns:r="http://schemas.openxmlformats.org/officeDocument/2006/relationships" id="264" r:id="R5beb03fdb0fd48da"/>
    <p:sldId xmlns:r="http://schemas.openxmlformats.org/officeDocument/2006/relationships" id="265" r:id="R0a7b0d97cab34c6a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a404004f9f44ba" /><Relationship Type="http://schemas.openxmlformats.org/officeDocument/2006/relationships/theme" Target="/ppt/theme/theme1.xml" Id="Rc6dbc5048c2f40f4" /><Relationship Type="http://schemas.openxmlformats.org/officeDocument/2006/relationships/notesMaster" Target="/ppt/notesMasters/notesMaster1.xml" Id="Rf46994ce8f93421c" /><Relationship Type="http://schemas.openxmlformats.org/officeDocument/2006/relationships/presProps" Target="/ppt/presProps.xml" Id="R070f98ff436b46fb" /><Relationship Type="http://schemas.openxmlformats.org/officeDocument/2006/relationships/viewProps" Target="/ppt/viewProps.xml" Id="Ra6350b67526548a0" /><Relationship Type="http://schemas.openxmlformats.org/officeDocument/2006/relationships/tableStyles" Target="/ppt/tableStyles.xml" Id="R38c1cdcdf6be4f69" /><Relationship Type="http://schemas.openxmlformats.org/officeDocument/2006/relationships/slide" Target="/ppt/slides/slide1.xml" Id="Rad1f0ea5fa2e42b8" /><Relationship Type="http://schemas.openxmlformats.org/officeDocument/2006/relationships/slide" Target="/ppt/slides/slide2.xml" Id="R50f99727014d4bf0" /><Relationship Type="http://schemas.openxmlformats.org/officeDocument/2006/relationships/slide" Target="/ppt/slides/slide3.xml" Id="Rf90040e006034021" /><Relationship Type="http://schemas.openxmlformats.org/officeDocument/2006/relationships/slide" Target="/ppt/slides/slide4.xml" Id="Rdb1cb09488454ff6" /><Relationship Type="http://schemas.openxmlformats.org/officeDocument/2006/relationships/slide" Target="/ppt/slides/slide5.xml" Id="R462da9ec577049b7" /><Relationship Type="http://schemas.openxmlformats.org/officeDocument/2006/relationships/slide" Target="/ppt/slides/slide6.xml" Id="R37a6f76a52cc4a73" /><Relationship Type="http://schemas.openxmlformats.org/officeDocument/2006/relationships/slide" Target="/ppt/slides/slide7.xml" Id="R96cee0c015904f11" /><Relationship Type="http://schemas.openxmlformats.org/officeDocument/2006/relationships/slide" Target="/ppt/slides/slide8.xml" Id="Rdff713b5a9ac4667" /><Relationship Type="http://schemas.openxmlformats.org/officeDocument/2006/relationships/slide" Target="/ppt/slides/slide9.xml" Id="R5beb03fdb0fd48da" /><Relationship Type="http://schemas.openxmlformats.org/officeDocument/2006/relationships/slide" Target="/ppt/slides/slide10.xml" Id="R0a7b0d97cab34c6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04d148f289e48b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49752cbab140e0" /><Relationship Type="http://schemas.openxmlformats.org/officeDocument/2006/relationships/notesMaster" Target="/ppt/notesMasters/notesMaster1.xml" Id="Reb081cedb95247b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7c07517b434f1c" /><Relationship Type="http://schemas.openxmlformats.org/officeDocument/2006/relationships/notesMaster" Target="/ppt/notesMasters/notesMaster1.xml" Id="R5243f294b8ed4ac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a19e8a09c84ec9" /><Relationship Type="http://schemas.openxmlformats.org/officeDocument/2006/relationships/notesMaster" Target="/ppt/notesMasters/notesMaster1.xml" Id="Rbd46103d4611407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944a82a168e42e6" /><Relationship Type="http://schemas.openxmlformats.org/officeDocument/2006/relationships/notesMaster" Target="/ppt/notesMasters/notesMaster1.xml" Id="R6590b3a508614a7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4cc1171206d4a68" /><Relationship Type="http://schemas.openxmlformats.org/officeDocument/2006/relationships/notesMaster" Target="/ppt/notesMasters/notesMaster1.xml" Id="R26f74bcea4da491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11f1e94a6484891" /><Relationship Type="http://schemas.openxmlformats.org/officeDocument/2006/relationships/notesMaster" Target="/ppt/notesMasters/notesMaster1.xml" Id="Rbed27dc4e78d46d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0718ec765314b89" /><Relationship Type="http://schemas.openxmlformats.org/officeDocument/2006/relationships/notesMaster" Target="/ppt/notesMasters/notesMaster1.xml" Id="R8be37c65b4e8421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758ddf22cf941a6" /><Relationship Type="http://schemas.openxmlformats.org/officeDocument/2006/relationships/notesMaster" Target="/ppt/notesMasters/notesMaster1.xml" Id="Rf9294b115f894c0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f897baa24ce4928" /><Relationship Type="http://schemas.openxmlformats.org/officeDocument/2006/relationships/notesMaster" Target="/ppt/notesMasters/notesMaster1.xml" Id="Rd32f055ce855472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2f76eee2b60441b" /><Relationship Type="http://schemas.openxmlformats.org/officeDocument/2006/relationships/notesMaster" Target="/ppt/notesMasters/notesMaster1.xml" Id="R4cdb9f1319e54a5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7acfe1aaee4c55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c14e78519f54cf5" /><Relationship Type="http://schemas.openxmlformats.org/officeDocument/2006/relationships/slideLayout" Target="/ppt/slideLayouts/slideLayout2.xml" Id="R2a7d58362b3a4f9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7d58362b3a4f9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6a0b347d11445e2" /><Relationship Type="http://schemas.openxmlformats.org/officeDocument/2006/relationships/notesSlide" Target="/ppt/notesSlides/notesSlide1.xml" Id="Rc22b21fb7ad04d3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f7dd4d07c94dfc" /><Relationship Type="http://schemas.openxmlformats.org/officeDocument/2006/relationships/notesSlide" Target="/ppt/notesSlides/notesSlide2.xml" Id="R025bdc08c056460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476803484bf4409" /><Relationship Type="http://schemas.openxmlformats.org/officeDocument/2006/relationships/notesSlide" Target="/ppt/notesSlides/notesSlide3.xml" Id="R231bd00ae2c34cc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f21d52168f4110" /><Relationship Type="http://schemas.openxmlformats.org/officeDocument/2006/relationships/notesSlide" Target="/ppt/notesSlides/notesSlide4.xml" Id="Rb60a2f7ccee2475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a932de3e7224b1d" /><Relationship Type="http://schemas.openxmlformats.org/officeDocument/2006/relationships/notesSlide" Target="/ppt/notesSlides/notesSlide5.xml" Id="Rbdb00483901a4e0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a5504fd79549fc" /><Relationship Type="http://schemas.openxmlformats.org/officeDocument/2006/relationships/notesSlide" Target="/ppt/notesSlides/notesSlide6.xml" Id="Rb9351907b94946c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569cdb999724ba1" /><Relationship Type="http://schemas.openxmlformats.org/officeDocument/2006/relationships/notesSlide" Target="/ppt/notesSlides/notesSlide7.xml" Id="Rcc976488c82d4d4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330042162bc484c" /><Relationship Type="http://schemas.openxmlformats.org/officeDocument/2006/relationships/notesSlide" Target="/ppt/notesSlides/notesSlide8.xml" Id="Rf85de138e90b401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76451aa2d464b53" /><Relationship Type="http://schemas.openxmlformats.org/officeDocument/2006/relationships/notesSlide" Target="/ppt/notesSlides/notesSlide9.xml" Id="R4a5aed92895f4b3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495d817ed514d62" /><Relationship Type="http://schemas.openxmlformats.org/officeDocument/2006/relationships/notesSlide" Target="/ppt/notesSlides/notesSlide10.xml" Id="R3f2d70ff422a499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B06FA4A9-4499-4CD7-B35B-EFC4468B0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</p:spPr>
      </p:sp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3FA3C1A1-F974-42A7-B3B5-D36E4C193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23900"/>
            <a:ext cx="1619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FF3EA"/>
                </a:solidFill>
              </a:defRPr>
            </a:pPr>
            <a:r>
              <a:rPr sz="1800" b="1">
                <a:solidFill>
                  <a:srgbClr val="CFF3EA"/>
                </a:solidFill>
              </a:rPr>
              <a:t>External Architecture Review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D34A8B8C-2A65-450F-8D3A-C379755D2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257300"/>
            <a:ext cx="8324850" cy="2114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900" b="1">
                <a:solidFill>
                  <a:srgbClr val="FFFFFF"/>
                </a:solidFill>
              </a:defRPr>
            </a:pPr>
            <a:r>
              <a:rPr sz="6900" b="1">
                <a:solidFill>
                  <a:srgbClr val="FFFFFF"/>
                </a:solidFill>
              </a:rPr>
              <a:t>FactHarbor V2 Pipeline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5DF1541D-F0BF-4F35-B913-27FDB9CC9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38550"/>
            <a:ext cx="9906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D9E4EA"/>
                </a:solidFill>
              </a:defRPr>
            </a:pPr>
            <a:r>
              <a:rPr sz="2325">
                <a:solidFill>
                  <a:srgbClr val="D9E4EA"/>
                </a:solidFill>
              </a:rPr>
              <a:t>Leadership assessment of architecture, prompts, source code, and implementation process</a:t>
            </a:r>
          </a:p>
        </p:txBody>
      </p:sp>
      <p:sp>
        <p:nvSpPr>
          <p:cNvPr id="5" name="cover-rule">
            <a:extLst xmlns:a="http://schemas.openxmlformats.org/drawingml/2006/main">
              <a:ext uri="{FF2B5EF4-FFF2-40B4-BE49-F238E27FC236}">
                <a16:creationId xmlns:a16="http://schemas.microsoft.com/office/drawing/2014/main" id="{35546F6C-37A8-41BD-8469-84B33DDD9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10100"/>
            <a:ext cx="4191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A18"/>
          </a:solidFill>
          <a:ln xmlns:a="http://schemas.openxmlformats.org/drawingml/2006/main" w="0">
            <a:solidFill>
              <a:srgbClr val="D98A18"/>
            </a:solidFill>
            <a:prstDash val="solid"/>
          </a:ln>
        </p:spPr>
      </p:sp>
      <p:sp>
        <p:nvSpPr>
          <p:cNvPr id="6" name="chip-proceed-deliberately">
            <a:extLst xmlns:a="http://schemas.openxmlformats.org/drawingml/2006/main">
              <a:ext uri="{FF2B5EF4-FFF2-40B4-BE49-F238E27FC236}">
                <a16:creationId xmlns:a16="http://schemas.microsoft.com/office/drawing/2014/main" id="{D03357CA-48C3-4CCA-9DA1-D3767A77A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33950"/>
            <a:ext cx="23812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7E8"/>
          </a:solidFill>
        </p:spPr>
      </p:sp>
      <p:sp>
        <p:nvSpPr>
          <p:cNvPr id="7" name="chip-text-proceed-deliberately">
            <a:extLst xmlns:a="http://schemas.openxmlformats.org/drawingml/2006/main">
              <a:ext uri="{FF2B5EF4-FFF2-40B4-BE49-F238E27FC236}">
                <a16:creationId xmlns:a16="http://schemas.microsoft.com/office/drawing/2014/main" id="{882645F1-EFEA-4B07-9C31-D663724BE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067300"/>
            <a:ext cx="2057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8457"/>
                </a:solidFill>
              </a:defRPr>
            </a:pPr>
            <a:r>
              <a:rPr sz="1275" b="1">
                <a:solidFill>
                  <a:srgbClr val="168457"/>
                </a:solidFill>
              </a:rPr>
              <a:t>Proceed deliberately</a:t>
            </a:r>
          </a:p>
        </p:txBody>
      </p:sp>
      <p:sp>
        <p:nvSpPr>
          <p:cNvPr id="8" name="chip-no-public-cutover">
            <a:extLst xmlns:a="http://schemas.openxmlformats.org/drawingml/2006/main">
              <a:ext uri="{FF2B5EF4-FFF2-40B4-BE49-F238E27FC236}">
                <a16:creationId xmlns:a16="http://schemas.microsoft.com/office/drawing/2014/main" id="{5F58CA4B-BADD-46B0-BCBD-8FAED7C8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933950"/>
            <a:ext cx="22860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2DF"/>
          </a:solidFill>
        </p:spPr>
      </p:sp>
      <p:sp>
        <p:nvSpPr>
          <p:cNvPr id="9" name="chip-text-no-public-cutover">
            <a:extLst xmlns:a="http://schemas.openxmlformats.org/drawingml/2006/main">
              <a:ext uri="{FF2B5EF4-FFF2-40B4-BE49-F238E27FC236}">
                <a16:creationId xmlns:a16="http://schemas.microsoft.com/office/drawing/2014/main" id="{975B9451-07E5-4BF6-9A43-8AFB943D3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067300"/>
            <a:ext cx="1943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42318"/>
                </a:solidFill>
              </a:defRPr>
            </a:pPr>
            <a:r>
              <a:rPr sz="1275" b="1">
                <a:solidFill>
                  <a:srgbClr val="B42318"/>
                </a:solidFill>
              </a:rPr>
              <a:t>No public cutover</a:t>
            </a:r>
          </a:p>
        </p:txBody>
      </p:sp>
      <p:sp>
        <p:nvSpPr>
          <p:cNvPr id="10" name="chip-pre-cutover">
            <a:extLst xmlns:a="http://schemas.openxmlformats.org/drawingml/2006/main">
              <a:ext uri="{FF2B5EF4-FFF2-40B4-BE49-F238E27FC236}">
                <a16:creationId xmlns:a16="http://schemas.microsoft.com/office/drawing/2014/main" id="{73E51088-B6E0-4162-A652-716F9906E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933950"/>
            <a:ext cx="18097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7C2"/>
          </a:solidFill>
        </p:spPr>
      </p:sp>
      <p:sp>
        <p:nvSpPr>
          <p:cNvPr id="11" name="chip-text-pre-cutover">
            <a:extLst xmlns:a="http://schemas.openxmlformats.org/drawingml/2006/main">
              <a:ext uri="{FF2B5EF4-FFF2-40B4-BE49-F238E27FC236}">
                <a16:creationId xmlns:a16="http://schemas.microsoft.com/office/drawing/2014/main" id="{DCC894D8-6629-49BA-A9FE-CE80D040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067300"/>
            <a:ext cx="1485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98A18"/>
                </a:solidFill>
              </a:defRPr>
            </a:pPr>
            <a:r>
              <a:rPr sz="1275" b="1">
                <a:solidFill>
                  <a:srgbClr val="D98A18"/>
                </a:solidFill>
              </a:rPr>
              <a:t>Pre-cutover</a:t>
            </a:r>
          </a:p>
        </p:txBody>
      </p:sp>
      <p:sp>
        <p:nvSpPr>
          <p:cNvPr id="12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31F623E2-CC2A-41AD-B027-307D1EBD5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57850"/>
            <a:ext cx="1619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AB6C2"/>
                </a:solidFill>
              </a:defRPr>
            </a:pPr>
            <a:r>
              <a:rPr sz="1275">
                <a:solidFill>
                  <a:srgbClr val="AAB6C2"/>
                </a:solidFill>
              </a:rPr>
              <a:t>Prepared 2026-05-16 | External Advisor, Senior Architect and LLM Expert lens</a:t>
            </a:r>
          </a:p>
        </p:txBody>
      </p:sp>
    </p:spTree>
    <p:extLst>
      <p:ext uri="{BB962C8B-B14F-4D97-AF65-F5344CB8AC3E}">
        <p14:creationId xmlns:p14="http://schemas.microsoft.com/office/powerpoint/2010/main" val="213271131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D1F22F41-D772-499A-9153-949BE5BC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4520C3E-24DB-4676-8F8E-E21657765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"/>
            <a:ext cx="166116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33"/>
                </a:solidFill>
              </a:defRPr>
            </a:pPr>
            <a:r>
              <a:rPr sz="4050" b="1">
                <a:solidFill>
                  <a:srgbClr val="172033"/>
                </a:solidFill>
              </a:rPr>
              <a:t>Executive Verdict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42AB580-61D0-4B0F-BA4F-C33974905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95400"/>
            <a:ext cx="16611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7085"/>
                </a:solidFill>
              </a:defRPr>
            </a:pPr>
            <a:r>
              <a:rPr sz="1800">
                <a:solidFill>
                  <a:srgbClr val="667085"/>
                </a:solidFill>
              </a:rPr>
              <a:t>V2 is the right replacement strategy, but it is still infrastructure-stage and must not be treated as a product runtime.</a:t>
            </a:r>
          </a:p>
        </p:txBody>
      </p:sp>
      <p:sp>
        <p:nvSpPr>
          <p:cNvPr id="4" name="statement-label-Continue">
            <a:extLst xmlns:a="http://schemas.openxmlformats.org/drawingml/2006/main">
              <a:ext uri="{FF2B5EF4-FFF2-40B4-BE49-F238E27FC236}">
                <a16:creationId xmlns:a16="http://schemas.microsoft.com/office/drawing/2014/main" id="{E42E2CB6-219A-4B3C-8DE2-534191E24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7850"/>
            <a:ext cx="798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766E"/>
                </a:solidFill>
              </a:defRPr>
            </a:pPr>
            <a:r>
              <a:rPr sz="1275" b="1">
                <a:solidFill>
                  <a:srgbClr val="0F766E"/>
                </a:solidFill>
              </a:rPr>
              <a:t>Continue</a:t>
            </a:r>
          </a:p>
        </p:txBody>
      </p:sp>
      <p:sp>
        <p:nvSpPr>
          <p:cNvPr id="5" name="statement-value-Continue">
            <a:extLst xmlns:a="http://schemas.openxmlformats.org/drawingml/2006/main">
              <a:ext uri="{FF2B5EF4-FFF2-40B4-BE49-F238E27FC236}">
                <a16:creationId xmlns:a16="http://schemas.microsoft.com/office/drawing/2014/main" id="{3F2733AE-F591-4C06-8993-25FA760C5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52650"/>
            <a:ext cx="607695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The architecture fixes the right class of problems.</a:t>
            </a:r>
          </a:p>
        </p:txBody>
      </p:sp>
      <p:sp>
        <p:nvSpPr>
          <p:cNvPr id="6" name="bullet-mark">
            <a:extLst xmlns:a="http://schemas.openxmlformats.org/drawingml/2006/main">
              <a:ext uri="{FF2B5EF4-FFF2-40B4-BE49-F238E27FC236}">
                <a16:creationId xmlns:a16="http://schemas.microsoft.com/office/drawing/2014/main" id="{DDD01C0E-A8DA-48BE-9D79-424662B6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</p:spPr>
      </p:sp>
      <p:sp>
        <p:nvSpPr>
          <p:cNvPr id="7" name="bullet-text">
            <a:extLst xmlns:a="http://schemas.openxmlformats.org/drawingml/2006/main">
              <a:ext uri="{FF2B5EF4-FFF2-40B4-BE49-F238E27FC236}">
                <a16:creationId xmlns:a16="http://schemas.microsoft.com/office/drawing/2014/main" id="{090C9B0E-E550-40A7-8E13-AF3916AC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33750"/>
            <a:ext cx="5638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2033"/>
                </a:solidFill>
              </a:defRPr>
            </a:pPr>
            <a:r>
              <a:rPr sz="1875">
                <a:solidFill>
                  <a:srgbClr val="172033"/>
                </a:solidFill>
              </a:rPr>
              <a:t>Clean-room V2 boundary reduces inherited V1 complexity.</a:t>
            </a:r>
          </a:p>
        </p:txBody>
      </p:sp>
      <p:sp>
        <p:nvSpPr>
          <p:cNvPr id="8" name="bullet-mark">
            <a:extLst xmlns:a="http://schemas.openxmlformats.org/drawingml/2006/main">
              <a:ext uri="{FF2B5EF4-FFF2-40B4-BE49-F238E27FC236}">
                <a16:creationId xmlns:a16="http://schemas.microsoft.com/office/drawing/2014/main" id="{9913D94D-BE5E-4CB6-9684-89B8C5548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862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</p:spPr>
      </p:sp>
      <p:sp>
        <p:nvSpPr>
          <p:cNvPr id="9" name="bullet-text">
            <a:extLst xmlns:a="http://schemas.openxmlformats.org/drawingml/2006/main">
              <a:ext uri="{FF2B5EF4-FFF2-40B4-BE49-F238E27FC236}">
                <a16:creationId xmlns:a16="http://schemas.microsoft.com/office/drawing/2014/main" id="{572C37F4-1D21-418A-BB7A-FE4A719C4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86200"/>
            <a:ext cx="62103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2033"/>
                </a:solidFill>
              </a:defRPr>
            </a:pPr>
            <a:r>
              <a:rPr sz="1875">
                <a:solidFill>
                  <a:srgbClr val="172033"/>
                </a:solidFill>
              </a:rPr>
              <a:t>LLM-owned semantic tasks align with multilingual and neutrality rules.</a:t>
            </a:r>
          </a:p>
        </p:txBody>
      </p:sp>
      <p:sp>
        <p:nvSpPr>
          <p:cNvPr id="10" name="bullet-mark">
            <a:extLst xmlns:a="http://schemas.openxmlformats.org/drawingml/2006/main">
              <a:ext uri="{FF2B5EF4-FFF2-40B4-BE49-F238E27FC236}">
                <a16:creationId xmlns:a16="http://schemas.microsoft.com/office/drawing/2014/main" id="{F1BE8C99-DD85-4D1F-AFEE-F59015153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</p:spPr>
      </p:sp>
      <p:sp>
        <p:nvSpPr>
          <p:cNvPr id="11" name="bullet-text">
            <a:extLst xmlns:a="http://schemas.openxmlformats.org/drawingml/2006/main">
              <a:ext uri="{FF2B5EF4-FFF2-40B4-BE49-F238E27FC236}">
                <a16:creationId xmlns:a16="http://schemas.microsoft.com/office/drawing/2014/main" id="{24E21878-04BA-48D5-A3CF-A3F0B510C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24400"/>
            <a:ext cx="6286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2033"/>
                </a:solidFill>
              </a:defRPr>
            </a:pPr>
            <a:r>
              <a:rPr sz="1875">
                <a:solidFill>
                  <a:srgbClr val="172033"/>
                </a:solidFill>
              </a:rPr>
              <a:t>Hidden runtime and byte custody are appropriately conservative.</a:t>
            </a:r>
          </a:p>
        </p:txBody>
      </p:sp>
      <p:sp>
        <p:nvSpPr>
          <p:cNvPr id="12" name="statement-label-Do not cut over">
            <a:extLst xmlns:a="http://schemas.openxmlformats.org/drawingml/2006/main">
              <a:ext uri="{FF2B5EF4-FFF2-40B4-BE49-F238E27FC236}">
                <a16:creationId xmlns:a16="http://schemas.microsoft.com/office/drawing/2014/main" id="{DCB4C88C-FC07-4A42-AE56-A39283D8B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847850"/>
            <a:ext cx="798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42318"/>
                </a:solidFill>
              </a:defRPr>
            </a:pPr>
            <a:r>
              <a:rPr sz="1275" b="1">
                <a:solidFill>
                  <a:srgbClr val="B42318"/>
                </a:solidFill>
              </a:rPr>
              <a:t>Do not cut over</a:t>
            </a:r>
          </a:p>
        </p:txBody>
      </p:sp>
      <p:sp>
        <p:nvSpPr>
          <p:cNvPr id="13" name="statement-value-Do not cut over">
            <a:extLst xmlns:a="http://schemas.openxmlformats.org/drawingml/2006/main">
              <a:ext uri="{FF2B5EF4-FFF2-40B4-BE49-F238E27FC236}">
                <a16:creationId xmlns:a16="http://schemas.microsoft.com/office/drawing/2014/main" id="{ACEC5DD3-8460-45BC-B777-AA39007CF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152650"/>
            <a:ext cx="67056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End-to-end analytical quality is not proven yet.</a:t>
            </a:r>
          </a:p>
        </p:txBody>
      </p:sp>
      <p:sp>
        <p:nvSpPr>
          <p:cNvPr id="14" name="bullet-mark">
            <a:extLst xmlns:a="http://schemas.openxmlformats.org/drawingml/2006/main">
              <a:ext uri="{FF2B5EF4-FFF2-40B4-BE49-F238E27FC236}">
                <a16:creationId xmlns:a16="http://schemas.microsoft.com/office/drawing/2014/main" id="{5F8F8744-812B-40E8-AD4C-4A43E7777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3337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2318"/>
          </a:solidFill>
        </p:spPr>
      </p:sp>
      <p:sp>
        <p:nvSpPr>
          <p:cNvPr id="15" name="bullet-text">
            <a:extLst xmlns:a="http://schemas.openxmlformats.org/drawingml/2006/main">
              <a:ext uri="{FF2B5EF4-FFF2-40B4-BE49-F238E27FC236}">
                <a16:creationId xmlns:a16="http://schemas.microsoft.com/office/drawing/2014/main" id="{E3FE0942-E074-4B7A-BA94-D9D458649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333750"/>
            <a:ext cx="533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2033"/>
                </a:solidFill>
              </a:defRPr>
            </a:pPr>
            <a:r>
              <a:rPr sz="1875">
                <a:solidFill>
                  <a:srgbClr val="172033"/>
                </a:solidFill>
              </a:rPr>
              <a:t>Public V2 still returns a damaged pre-cutover envelope.</a:t>
            </a:r>
          </a:p>
        </p:txBody>
      </p:sp>
      <p:sp>
        <p:nvSpPr>
          <p:cNvPr id="16" name="bullet-mark">
            <a:extLst xmlns:a="http://schemas.openxmlformats.org/drawingml/2006/main">
              <a:ext uri="{FF2B5EF4-FFF2-40B4-BE49-F238E27FC236}">
                <a16:creationId xmlns:a16="http://schemas.microsoft.com/office/drawing/2014/main" id="{33F6CF48-7217-4EF2-956C-5F9B5B753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8862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2318"/>
          </a:solidFill>
        </p:spPr>
      </p:sp>
      <p:sp>
        <p:nvSpPr>
          <p:cNvPr id="17" name="bullet-text">
            <a:extLst xmlns:a="http://schemas.openxmlformats.org/drawingml/2006/main">
              <a:ext uri="{FF2B5EF4-FFF2-40B4-BE49-F238E27FC236}">
                <a16:creationId xmlns:a16="http://schemas.microsoft.com/office/drawing/2014/main" id="{FA7B6B0F-9B34-43CA-87B2-0181203C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886200"/>
            <a:ext cx="63246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2033"/>
                </a:solidFill>
              </a:defRPr>
            </a:pPr>
            <a:r>
              <a:rPr sz="1875">
                <a:solidFill>
                  <a:srgbClr val="172033"/>
                </a:solidFill>
              </a:rPr>
              <a:t>Evidence extraction, sufficiency, verdicting, and report generation are not V2-complete.</a:t>
            </a:r>
          </a:p>
        </p:txBody>
      </p:sp>
      <p:sp>
        <p:nvSpPr>
          <p:cNvPr id="18" name="bullet-mark">
            <a:extLst xmlns:a="http://schemas.openxmlformats.org/drawingml/2006/main">
              <a:ext uri="{FF2B5EF4-FFF2-40B4-BE49-F238E27FC236}">
                <a16:creationId xmlns:a16="http://schemas.microsoft.com/office/drawing/2014/main" id="{84E72C48-4430-44DA-B1F5-2D877823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7244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2318"/>
          </a:solidFill>
        </p:spPr>
      </p:sp>
      <p:sp>
        <p:nvSpPr>
          <p:cNvPr id="19" name="bullet-text">
            <a:extLst xmlns:a="http://schemas.openxmlformats.org/drawingml/2006/main">
              <a:ext uri="{FF2B5EF4-FFF2-40B4-BE49-F238E27FC236}">
                <a16:creationId xmlns:a16="http://schemas.microsoft.com/office/drawing/2014/main" id="{57E6D708-6201-44A7-94D4-A3E3BCAAA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724400"/>
            <a:ext cx="62293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2033"/>
                </a:solidFill>
              </a:defRPr>
            </a:pPr>
            <a:r>
              <a:rPr sz="1875">
                <a:solidFill>
                  <a:srgbClr val="172033"/>
                </a:solidFill>
              </a:rPr>
              <a:t>Static approvals and prompt/model policy must move to durable governance.</a:t>
            </a:r>
          </a:p>
        </p:txBody>
      </p:sp>
      <p:sp>
        <p:nvSpPr>
          <p:cNvPr id="20" name="source-rail">
            <a:extLst xmlns:a="http://schemas.openxmlformats.org/drawingml/2006/main">
              <a:ext uri="{FF2B5EF4-FFF2-40B4-BE49-F238E27FC236}">
                <a16:creationId xmlns:a16="http://schemas.microsoft.com/office/drawing/2014/main" id="{5AC2EF61-AD30-44AE-9E52-062A5907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44050"/>
            <a:ext cx="16611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8B8271"/>
                </a:solidFill>
              </a:defRPr>
            </a:pPr>
            <a:r>
              <a:rPr sz="975">
                <a:solidFill>
                  <a:srgbClr val="8B8271"/>
                </a:solidFill>
              </a:rPr>
              <a:t>FactHarbor V2 Pipeline Assessment | External Advisor Review | 2026-05-16</a:t>
            </a:r>
          </a:p>
        </p:txBody>
      </p:sp>
    </p:spTree>
    <p:extLst>
      <p:ext uri="{BB962C8B-B14F-4D97-AF65-F5344CB8AC3E}">
        <p14:creationId xmlns:p14="http://schemas.microsoft.com/office/powerpoint/2010/main" val="90594099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F2138B93-E26B-427D-89DA-60950D921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FAFB14A-42A9-48A9-A940-7A83D2D03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"/>
            <a:ext cx="166116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33"/>
                </a:solidFill>
              </a:defRPr>
            </a:pPr>
            <a:r>
              <a:rPr sz="4050" b="1">
                <a:solidFill>
                  <a:srgbClr val="172033"/>
                </a:solidFill>
              </a:rPr>
              <a:t>Current Maturity Map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12BA280-D698-4D99-9AD5-B9E1C6CE3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95400"/>
            <a:ext cx="16611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7085"/>
                </a:solidFill>
              </a:defRPr>
            </a:pPr>
            <a:r>
              <a:rPr sz="1800">
                <a:solidFill>
                  <a:srgbClr val="667085"/>
                </a:solidFill>
              </a:rPr>
              <a:t>Implemented slices are valuable, but they are not yet a functioning replacement pipeline.</a:t>
            </a:r>
          </a:p>
        </p:txBody>
      </p:sp>
      <p:sp>
        <p:nvSpPr>
          <p:cNvPr id="4" name="stage-claim-understanding">
            <a:extLst xmlns:a="http://schemas.openxmlformats.org/drawingml/2006/main">
              <a:ext uri="{FF2B5EF4-FFF2-40B4-BE49-F238E27FC236}">
                <a16:creationId xmlns:a16="http://schemas.microsoft.com/office/drawing/2014/main" id="{C32F915A-ECDE-464F-BA45-DBE485F17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4040"/>
            <a:ext cx="3200400" cy="16573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DDF7E8"/>
          </a:solidFill>
        </p:spPr>
      </p:sp>
      <p:sp>
        <p:nvSpPr>
          <p:cNvPr id="5" name="stage-label">
            <a:extLst xmlns:a="http://schemas.openxmlformats.org/drawingml/2006/main">
              <a:ext uri="{FF2B5EF4-FFF2-40B4-BE49-F238E27FC236}">
                <a16:creationId xmlns:a16="http://schemas.microsoft.com/office/drawing/2014/main" id="{BF92A3E3-FD06-4915-A058-CD6B03DF2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19300"/>
            <a:ext cx="2819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Claim Understanding</a:t>
            </a:r>
          </a:p>
        </p:txBody>
      </p:sp>
      <p:sp>
        <p:nvSpPr>
          <p:cNvPr id="6" name="stage-state">
            <a:extLst xmlns:a="http://schemas.openxmlformats.org/drawingml/2006/main">
              <a:ext uri="{FF2B5EF4-FFF2-40B4-BE49-F238E27FC236}">
                <a16:creationId xmlns:a16="http://schemas.microsoft.com/office/drawing/2014/main" id="{E5112758-16C1-46E4-9969-C76B133AD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24100"/>
            <a:ext cx="2819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68457"/>
                </a:solidFill>
              </a:defRPr>
            </a:pPr>
            <a:r>
              <a:rPr sz="1275" b="1">
                <a:solidFill>
                  <a:srgbClr val="168457"/>
                </a:solidFill>
              </a:rPr>
              <a:t>Hidden executable</a:t>
            </a:r>
          </a:p>
        </p:txBody>
      </p:sp>
      <p:sp>
        <p:nvSpPr>
          <p:cNvPr id="7" name="stage-detail">
            <a:extLst xmlns:a="http://schemas.openxmlformats.org/drawingml/2006/main">
              <a:ext uri="{FF2B5EF4-FFF2-40B4-BE49-F238E27FC236}">
                <a16:creationId xmlns:a16="http://schemas.microsoft.com/office/drawing/2014/main" id="{F59CF6B4-15DE-47F7-B39F-BD6FAB2BF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09850"/>
            <a:ext cx="2819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085"/>
                </a:solidFill>
              </a:defRPr>
            </a:pPr>
            <a:r>
              <a:rPr sz="1050">
                <a:solidFill>
                  <a:srgbClr val="667085"/>
                </a:solidFill>
              </a:rPr>
              <a:t>Direct text only; internal artifacts.</a:t>
            </a:r>
          </a:p>
        </p:txBody>
      </p:sp>
      <p:sp>
        <p:nvSpPr>
          <p:cNvPr id="8" name="stage-query-planning">
            <a:extLst xmlns:a="http://schemas.openxmlformats.org/drawingml/2006/main">
              <a:ext uri="{FF2B5EF4-FFF2-40B4-BE49-F238E27FC236}">
                <a16:creationId xmlns:a16="http://schemas.microsoft.com/office/drawing/2014/main" id="{8786AAB8-EEC4-4A65-A0B2-2F8538B18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844040"/>
            <a:ext cx="3200400" cy="16573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BE7C2"/>
          </a:solidFill>
        </p:spPr>
      </p:sp>
      <p:sp>
        <p:nvSpPr>
          <p:cNvPr id="9" name="stage-label">
            <a:extLst xmlns:a="http://schemas.openxmlformats.org/drawingml/2006/main">
              <a:ext uri="{FF2B5EF4-FFF2-40B4-BE49-F238E27FC236}">
                <a16:creationId xmlns:a16="http://schemas.microsoft.com/office/drawing/2014/main" id="{E44DDEB8-6A5C-4CE1-B10C-BF4F61548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19300"/>
            <a:ext cx="2819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Query Planning</a:t>
            </a:r>
          </a:p>
        </p:txBody>
      </p:sp>
      <p:sp>
        <p:nvSpPr>
          <p:cNvPr id="10" name="stage-state">
            <a:extLst xmlns:a="http://schemas.openxmlformats.org/drawingml/2006/main">
              <a:ext uri="{FF2B5EF4-FFF2-40B4-BE49-F238E27FC236}">
                <a16:creationId xmlns:a16="http://schemas.microsoft.com/office/drawing/2014/main" id="{5D266286-71AA-478C-BE32-7E39867C3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24100"/>
            <a:ext cx="2819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98A18"/>
                </a:solidFill>
              </a:defRPr>
            </a:pPr>
            <a:r>
              <a:rPr sz="1275" b="1">
                <a:solidFill>
                  <a:srgbClr val="D98A18"/>
                </a:solidFill>
              </a:rPr>
              <a:t>Hidden executable</a:t>
            </a:r>
          </a:p>
        </p:txBody>
      </p:sp>
      <p:sp>
        <p:nvSpPr>
          <p:cNvPr id="11" name="stage-detail">
            <a:extLst xmlns:a="http://schemas.openxmlformats.org/drawingml/2006/main">
              <a:ext uri="{FF2B5EF4-FFF2-40B4-BE49-F238E27FC236}">
                <a16:creationId xmlns:a16="http://schemas.microsoft.com/office/drawing/2014/main" id="{10E85BCD-16F0-49DC-8890-5E8207B72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09850"/>
            <a:ext cx="2819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085"/>
                </a:solidFill>
              </a:defRPr>
            </a:pPr>
            <a:r>
              <a:rPr sz="1050">
                <a:solidFill>
                  <a:srgbClr val="667085"/>
                </a:solidFill>
              </a:rPr>
              <a:t>Approved internally; not orchestrator-integrated.</a:t>
            </a:r>
          </a:p>
        </p:txBody>
      </p:sp>
      <p:sp>
        <p:nvSpPr>
          <p:cNvPr id="12" name="stage-source-acquisition">
            <a:extLst xmlns:a="http://schemas.openxmlformats.org/drawingml/2006/main">
              <a:ext uri="{FF2B5EF4-FFF2-40B4-BE49-F238E27FC236}">
                <a16:creationId xmlns:a16="http://schemas.microsoft.com/office/drawing/2014/main" id="{BE6AC519-FF18-45B5-B0E4-3D0889116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844040"/>
            <a:ext cx="3200400" cy="16573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DCEBFF"/>
          </a:solidFill>
        </p:spPr>
      </p:sp>
      <p:sp>
        <p:nvSpPr>
          <p:cNvPr id="13" name="stage-label">
            <a:extLst xmlns:a="http://schemas.openxmlformats.org/drawingml/2006/main">
              <a:ext uri="{FF2B5EF4-FFF2-40B4-BE49-F238E27FC236}">
                <a16:creationId xmlns:a16="http://schemas.microsoft.com/office/drawing/2014/main" id="{F649F013-F304-435E-940D-0AA7884E0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19300"/>
            <a:ext cx="2819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Source Acquisition</a:t>
            </a:r>
          </a:p>
        </p:txBody>
      </p:sp>
      <p:sp>
        <p:nvSpPr>
          <p:cNvPr id="14" name="stage-state">
            <a:extLst xmlns:a="http://schemas.openxmlformats.org/drawingml/2006/main">
              <a:ext uri="{FF2B5EF4-FFF2-40B4-BE49-F238E27FC236}">
                <a16:creationId xmlns:a16="http://schemas.microsoft.com/office/drawing/2014/main" id="{9BD6B0F4-DA50-4D88-9551-B9C3A3AA9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324100"/>
            <a:ext cx="2819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563EB"/>
                </a:solidFill>
              </a:defRPr>
            </a:pPr>
            <a:r>
              <a:rPr sz="1275" b="1">
                <a:solidFill>
                  <a:srgbClr val="2563EB"/>
                </a:solidFill>
              </a:rPr>
              <a:t>Transport/security slice</a:t>
            </a:r>
          </a:p>
        </p:txBody>
      </p:sp>
      <p:sp>
        <p:nvSpPr>
          <p:cNvPr id="15" name="stage-detail">
            <a:extLst xmlns:a="http://schemas.openxmlformats.org/drawingml/2006/main">
              <a:ext uri="{FF2B5EF4-FFF2-40B4-BE49-F238E27FC236}">
                <a16:creationId xmlns:a16="http://schemas.microsoft.com/office/drawing/2014/main" id="{1287A971-F447-49EC-A1EF-AA7AFDB18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09850"/>
            <a:ext cx="2819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085"/>
                </a:solidFill>
              </a:defRPr>
            </a:pPr>
            <a:r>
              <a:rPr sz="1050">
                <a:solidFill>
                  <a:srgbClr val="667085"/>
                </a:solidFill>
              </a:rPr>
              <a:t>Candidate and byte handoff; no evidence output.</a:t>
            </a:r>
          </a:p>
        </p:txBody>
      </p:sp>
      <p:sp>
        <p:nvSpPr>
          <p:cNvPr id="16" name="stage-parser-evidence">
            <a:extLst xmlns:a="http://schemas.openxmlformats.org/drawingml/2006/main">
              <a:ext uri="{FF2B5EF4-FFF2-40B4-BE49-F238E27FC236}">
                <a16:creationId xmlns:a16="http://schemas.microsoft.com/office/drawing/2014/main" id="{986AD3F4-4030-4EFA-B074-EB34234E2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1844040"/>
            <a:ext cx="3200400" cy="16573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DE2DF"/>
          </a:solidFill>
        </p:spPr>
      </p:sp>
      <p:sp>
        <p:nvSpPr>
          <p:cNvPr id="17" name="stage-label">
            <a:extLst xmlns:a="http://schemas.openxmlformats.org/drawingml/2006/main">
              <a:ext uri="{FF2B5EF4-FFF2-40B4-BE49-F238E27FC236}">
                <a16:creationId xmlns:a16="http://schemas.microsoft.com/office/drawing/2014/main" id="{4FBA31AA-59A1-4D6C-B3CC-153A039A6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019300"/>
            <a:ext cx="2819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Parser + Evidence</a:t>
            </a:r>
          </a:p>
        </p:txBody>
      </p:sp>
      <p:sp>
        <p:nvSpPr>
          <p:cNvPr id="18" name="stage-state">
            <a:extLst xmlns:a="http://schemas.openxmlformats.org/drawingml/2006/main">
              <a:ext uri="{FF2B5EF4-FFF2-40B4-BE49-F238E27FC236}">
                <a16:creationId xmlns:a16="http://schemas.microsoft.com/office/drawing/2014/main" id="{A48A0070-8E02-49DC-8ACC-F9A4AB27D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324100"/>
            <a:ext cx="2819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42318"/>
                </a:solidFill>
              </a:defRPr>
            </a:pPr>
            <a:r>
              <a:rPr sz="1275" b="1">
                <a:solidFill>
                  <a:srgbClr val="B42318"/>
                </a:solidFill>
              </a:rPr>
              <a:t>Blocked</a:t>
            </a:r>
          </a:p>
        </p:txBody>
      </p:sp>
      <p:sp>
        <p:nvSpPr>
          <p:cNvPr id="19" name="stage-detail">
            <a:extLst xmlns:a="http://schemas.openxmlformats.org/drawingml/2006/main">
              <a:ext uri="{FF2B5EF4-FFF2-40B4-BE49-F238E27FC236}">
                <a16:creationId xmlns:a16="http://schemas.microsoft.com/office/drawing/2014/main" id="{715B5484-5647-4467-BAEA-6FD400609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609850"/>
            <a:ext cx="2819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085"/>
                </a:solidFill>
              </a:defRPr>
            </a:pPr>
            <a:r>
              <a:rPr sz="1050">
                <a:solidFill>
                  <a:srgbClr val="667085"/>
                </a:solidFill>
              </a:rPr>
              <a:t>No real-byte parser consumption or extraction.</a:t>
            </a:r>
          </a:p>
        </p:txBody>
      </p:sp>
      <p:sp>
        <p:nvSpPr>
          <p:cNvPr id="20" name="stage-boundary-verdict">
            <a:extLst xmlns:a="http://schemas.openxmlformats.org/drawingml/2006/main">
              <a:ext uri="{FF2B5EF4-FFF2-40B4-BE49-F238E27FC236}">
                <a16:creationId xmlns:a16="http://schemas.microsoft.com/office/drawing/2014/main" id="{53D4D883-0152-4CB7-8841-3537B9553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9400" y="1844040"/>
            <a:ext cx="3200400" cy="16573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DE2DF"/>
          </a:solidFill>
        </p:spPr>
      </p:sp>
      <p:sp>
        <p:nvSpPr>
          <p:cNvPr id="21" name="stage-label">
            <a:extLst xmlns:a="http://schemas.openxmlformats.org/drawingml/2006/main">
              <a:ext uri="{FF2B5EF4-FFF2-40B4-BE49-F238E27FC236}">
                <a16:creationId xmlns:a16="http://schemas.microsoft.com/office/drawing/2014/main" id="{18649FAD-A427-4933-A633-6D934B2CB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2019300"/>
            <a:ext cx="2819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Boundary + Verdict</a:t>
            </a:r>
          </a:p>
        </p:txBody>
      </p:sp>
      <p:sp>
        <p:nvSpPr>
          <p:cNvPr id="22" name="stage-state">
            <a:extLst xmlns:a="http://schemas.openxmlformats.org/drawingml/2006/main">
              <a:ext uri="{FF2B5EF4-FFF2-40B4-BE49-F238E27FC236}">
                <a16:creationId xmlns:a16="http://schemas.microsoft.com/office/drawing/2014/main" id="{A3BBC803-6ADE-4D0A-A52D-D57720503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2324100"/>
            <a:ext cx="2819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42318"/>
                </a:solidFill>
              </a:defRPr>
            </a:pPr>
            <a:r>
              <a:rPr sz="1275" b="1">
                <a:solidFill>
                  <a:srgbClr val="B42318"/>
                </a:solidFill>
              </a:rPr>
              <a:t>Blocked</a:t>
            </a:r>
          </a:p>
        </p:txBody>
      </p:sp>
      <p:sp>
        <p:nvSpPr>
          <p:cNvPr id="23" name="stage-detail">
            <a:extLst xmlns:a="http://schemas.openxmlformats.org/drawingml/2006/main">
              <a:ext uri="{FF2B5EF4-FFF2-40B4-BE49-F238E27FC236}">
                <a16:creationId xmlns:a16="http://schemas.microsoft.com/office/drawing/2014/main" id="{8D170D5F-0397-49AA-98DE-D80F46D2A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2609850"/>
            <a:ext cx="2819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085"/>
                </a:solidFill>
              </a:defRPr>
            </a:pPr>
            <a:r>
              <a:rPr sz="1050">
                <a:solidFill>
                  <a:srgbClr val="667085"/>
                </a:solidFill>
              </a:rPr>
              <a:t>No V2 Gate 4, aggregation, or report writer.</a:t>
            </a:r>
          </a:p>
        </p:txBody>
      </p:sp>
      <p:sp>
        <p:nvSpPr>
          <p:cNvPr id="24" name="maturity-bottom-line">
            <a:extLst xmlns:a="http://schemas.openxmlformats.org/drawingml/2006/main">
              <a:ext uri="{FF2B5EF4-FFF2-40B4-BE49-F238E27FC236}">
                <a16:creationId xmlns:a16="http://schemas.microsoft.com/office/drawing/2014/main" id="{76AE8FD9-2A64-4EB0-8648-656A9141E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117729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Bottom line: V2 has credible foundations. Leadership should judge it by readiness gates, not by the number of completed infrastructure slices.</a:t>
            </a:r>
          </a:p>
        </p:txBody>
      </p:sp>
      <p:sp>
        <p:nvSpPr>
          <p:cNvPr id="25" name="source-rail">
            <a:extLst xmlns:a="http://schemas.openxmlformats.org/drawingml/2006/main">
              <a:ext uri="{FF2B5EF4-FFF2-40B4-BE49-F238E27FC236}">
                <a16:creationId xmlns:a16="http://schemas.microsoft.com/office/drawing/2014/main" id="{54A2B113-8C87-4BE5-85DF-F1DEEA821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19650"/>
            <a:ext cx="16611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8B8271"/>
                </a:solidFill>
              </a:defRPr>
            </a:pPr>
            <a:r>
              <a:rPr sz="975">
                <a:solidFill>
                  <a:srgbClr val="8B8271"/>
                </a:solidFill>
              </a:rPr>
              <a:t>FactHarbor V2 Pipeline Assessment | External Advisor Review | 2026-05-16</a:t>
            </a:r>
          </a:p>
        </p:txBody>
      </p:sp>
    </p:spTree>
    <p:extLst>
      <p:ext uri="{BB962C8B-B14F-4D97-AF65-F5344CB8AC3E}">
        <p14:creationId xmlns:p14="http://schemas.microsoft.com/office/powerpoint/2010/main" val="201334589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D07CB571-7837-4A47-8FDD-D180002C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E16E111-B28B-4D2B-A24D-79BA4F7D4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"/>
            <a:ext cx="166116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33"/>
                </a:solidFill>
              </a:defRPr>
            </a:pPr>
            <a:r>
              <a:rPr sz="4050" b="1">
                <a:solidFill>
                  <a:srgbClr val="172033"/>
                </a:solidFill>
              </a:rPr>
              <a:t>What Is Working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5532AF2-2378-4080-AD3A-1A77F9396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95400"/>
            <a:ext cx="16611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7085"/>
                </a:solidFill>
              </a:defRPr>
            </a:pPr>
            <a:r>
              <a:rPr sz="1800">
                <a:solidFill>
                  <a:srgbClr val="667085"/>
                </a:solidFill>
              </a:rPr>
              <a:t>The design choices that deserve protection as V2 moves toward end-to-end execution.</a:t>
            </a:r>
          </a:p>
        </p:txBody>
      </p:sp>
      <p:sp>
        <p:nvSpPr>
          <p:cNvPr id="4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D6396C54-028D-4E6D-92F8-2C5DE0C07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404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</p:spPr>
      </p:sp>
      <p:sp>
        <p:nvSpPr>
          <p:cNvPr id="5" name="step-number-text-1">
            <a:extLst xmlns:a="http://schemas.openxmlformats.org/drawingml/2006/main">
              <a:ext uri="{FF2B5EF4-FFF2-40B4-BE49-F238E27FC236}">
                <a16:creationId xmlns:a16="http://schemas.microsoft.com/office/drawing/2014/main" id="{4562C9BE-930E-4B11-BC67-0AE0289EE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81200"/>
            <a:ext cx="533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158B2356-603E-4E7B-809D-3431D3D1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847850"/>
            <a:ext cx="723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Clean replacement boundary</a:t>
            </a:r>
          </a:p>
        </p:txBody>
      </p:sp>
      <p:sp>
        <p:nvSpPr>
          <p:cNvPr id="7" name="step-detail-1">
            <a:extLst xmlns:a="http://schemas.openxmlformats.org/drawingml/2006/main">
              <a:ext uri="{FF2B5EF4-FFF2-40B4-BE49-F238E27FC236}">
                <a16:creationId xmlns:a16="http://schemas.microsoft.com/office/drawing/2014/main" id="{767DE272-EE90-4533-9DFB-A67ACA86E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171700"/>
            <a:ext cx="55626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7085"/>
                </a:solidFill>
              </a:defRPr>
            </a:pPr>
            <a:r>
              <a:rPr sz="1350">
                <a:solidFill>
                  <a:srgbClr val="667085"/>
                </a:solidFill>
              </a:rPr>
              <a:t>No V1 analyzer imports or mechanism carry-forward inside V2 runtime surfaces.</a:t>
            </a:r>
          </a:p>
        </p:txBody>
      </p:sp>
      <p:sp>
        <p:nvSpPr>
          <p:cNvPr id="8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9185CFC5-436D-4265-87F2-F3C037320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84404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</p:spPr>
      </p:sp>
      <p:sp>
        <p:nvSpPr>
          <p:cNvPr id="9" name="step-number-text-2">
            <a:extLst xmlns:a="http://schemas.openxmlformats.org/drawingml/2006/main">
              <a:ext uri="{FF2B5EF4-FFF2-40B4-BE49-F238E27FC236}">
                <a16:creationId xmlns:a16="http://schemas.microsoft.com/office/drawing/2014/main" id="{1487FCE1-A386-4D13-A25F-44CC2AE2D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981200"/>
            <a:ext cx="533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CF8D3D7C-7111-4DC9-B5C2-4166CDC3C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1847850"/>
            <a:ext cx="723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Typed stage contracts</a:t>
            </a:r>
          </a:p>
        </p:txBody>
      </p:sp>
      <p:sp>
        <p:nvSpPr>
          <p:cNvPr id="11" name="step-detail-2">
            <a:extLst xmlns:a="http://schemas.openxmlformats.org/drawingml/2006/main">
              <a:ext uri="{FF2B5EF4-FFF2-40B4-BE49-F238E27FC236}">
                <a16:creationId xmlns:a16="http://schemas.microsoft.com/office/drawing/2014/main" id="{89A8160E-2C16-47B9-A5E1-A457A43F7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171700"/>
            <a:ext cx="7429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7085"/>
                </a:solidFill>
              </a:defRPr>
            </a:pPr>
            <a:r>
              <a:rPr sz="1350">
                <a:solidFill>
                  <a:srgbClr val="667085"/>
                </a:solidFill>
              </a:rPr>
              <a:t>ClaimContract, EvidenceCorpus, BoundarySet, VerdictSet, and ReportResult are the right ownership model.</a:t>
            </a:r>
          </a:p>
        </p:txBody>
      </p:sp>
      <p:sp>
        <p:nvSpPr>
          <p:cNvPr id="12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CE9A4287-C79F-41B9-9D54-DEEB4BAED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1833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</p:spPr>
      </p:sp>
      <p:sp>
        <p:nvSpPr>
          <p:cNvPr id="13" name="step-number-text-3">
            <a:extLst xmlns:a="http://schemas.openxmlformats.org/drawingml/2006/main">
              <a:ext uri="{FF2B5EF4-FFF2-40B4-BE49-F238E27FC236}">
                <a16:creationId xmlns:a16="http://schemas.microsoft.com/office/drawing/2014/main" id="{0087BECF-15C5-4A94-B957-E5922DAA0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52950"/>
            <a:ext cx="533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step-title-3">
            <a:extLst xmlns:a="http://schemas.openxmlformats.org/drawingml/2006/main">
              <a:ext uri="{FF2B5EF4-FFF2-40B4-BE49-F238E27FC236}">
                <a16:creationId xmlns:a16="http://schemas.microsoft.com/office/drawing/2014/main" id="{59017A39-ADE0-4E33-977B-AF1EFE3BD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419600"/>
            <a:ext cx="723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LLM-owned semantics</a:t>
            </a:r>
          </a:p>
        </p:txBody>
      </p:sp>
      <p:sp>
        <p:nvSpPr>
          <p:cNvPr id="15" name="step-detail-3">
            <a:extLst xmlns:a="http://schemas.openxmlformats.org/drawingml/2006/main">
              <a:ext uri="{FF2B5EF4-FFF2-40B4-BE49-F238E27FC236}">
                <a16:creationId xmlns:a16="http://schemas.microsoft.com/office/drawing/2014/main" id="{3E534F51-CA6A-49D5-84C0-E93B66AB1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743450"/>
            <a:ext cx="6400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7085"/>
                </a:solidFill>
              </a:defRPr>
            </a:pPr>
            <a:r>
              <a:rPr sz="1350">
                <a:solidFill>
                  <a:srgbClr val="667085"/>
                </a:solidFill>
              </a:rPr>
              <a:t>Prompted tasks own meaning, relevance, probative value, sufficiency, and verdict reasoning.</a:t>
            </a:r>
          </a:p>
        </p:txBody>
      </p:sp>
      <p:sp>
        <p:nvSpPr>
          <p:cNvPr id="16" name="step-number-4">
            <a:extLst xmlns:a="http://schemas.openxmlformats.org/drawingml/2006/main">
              <a:ext uri="{FF2B5EF4-FFF2-40B4-BE49-F238E27FC236}">
                <a16:creationId xmlns:a16="http://schemas.microsoft.com/office/drawing/2014/main" id="{3401D46C-1B7F-4E7D-8CBC-6E30CD552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41833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</p:spPr>
      </p:sp>
      <p:sp>
        <p:nvSpPr>
          <p:cNvPr id="17" name="step-number-text-4">
            <a:extLst xmlns:a="http://schemas.openxmlformats.org/drawingml/2006/main">
              <a:ext uri="{FF2B5EF4-FFF2-40B4-BE49-F238E27FC236}">
                <a16:creationId xmlns:a16="http://schemas.microsoft.com/office/drawing/2014/main" id="{170F47F3-AD19-4602-AADD-A19688665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552950"/>
            <a:ext cx="533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step-title-4">
            <a:extLst xmlns:a="http://schemas.openxmlformats.org/drawingml/2006/main">
              <a:ext uri="{FF2B5EF4-FFF2-40B4-BE49-F238E27FC236}">
                <a16:creationId xmlns:a16="http://schemas.microsoft.com/office/drawing/2014/main" id="{1F95AB1A-3BFF-4443-9144-A32A030D2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419600"/>
            <a:ext cx="723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Hidden execution posture</a:t>
            </a:r>
          </a:p>
        </p:txBody>
      </p:sp>
      <p:sp>
        <p:nvSpPr>
          <p:cNvPr id="19" name="step-detail-4">
            <a:extLst xmlns:a="http://schemas.openxmlformats.org/drawingml/2006/main">
              <a:ext uri="{FF2B5EF4-FFF2-40B4-BE49-F238E27FC236}">
                <a16:creationId xmlns:a16="http://schemas.microsoft.com/office/drawing/2014/main" id="{6A57AE02-DA74-4897-A173-0C6BF42FF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743450"/>
            <a:ext cx="70866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7085"/>
                </a:solidFill>
              </a:defRPr>
            </a:pPr>
            <a:r>
              <a:rPr sz="1350">
                <a:solidFill>
                  <a:srgbClr val="667085"/>
                </a:solidFill>
              </a:rPr>
              <a:t>Provider calls, source acquisition, and real-byte handoff remain non-public while quality gates mature.</a:t>
            </a:r>
          </a:p>
        </p:txBody>
      </p:sp>
      <p:sp>
        <p:nvSpPr>
          <p:cNvPr id="20" name="step-number-5">
            <a:extLst xmlns:a="http://schemas.openxmlformats.org/drawingml/2006/main">
              <a:ext uri="{FF2B5EF4-FFF2-40B4-BE49-F238E27FC236}">
                <a16:creationId xmlns:a16="http://schemas.microsoft.com/office/drawing/2014/main" id="{285A6029-6FE9-4FE6-AF6B-0547B14AF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99262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</p:spPr>
      </p:sp>
      <p:sp>
        <p:nvSpPr>
          <p:cNvPr id="21" name="step-number-text-5">
            <a:extLst xmlns:a="http://schemas.openxmlformats.org/drawingml/2006/main">
              <a:ext uri="{FF2B5EF4-FFF2-40B4-BE49-F238E27FC236}">
                <a16:creationId xmlns:a16="http://schemas.microsoft.com/office/drawing/2014/main" id="{4612FA6E-A8F1-435F-A9E6-0B4A81780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124700"/>
            <a:ext cx="533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step-title-5">
            <a:extLst xmlns:a="http://schemas.openxmlformats.org/drawingml/2006/main">
              <a:ext uri="{FF2B5EF4-FFF2-40B4-BE49-F238E27FC236}">
                <a16:creationId xmlns:a16="http://schemas.microsoft.com/office/drawing/2014/main" id="{26B37919-DD1B-49FA-A0AF-4DB4EC702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991350"/>
            <a:ext cx="723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Warning materiality doctrine</a:t>
            </a:r>
          </a:p>
        </p:txBody>
      </p:sp>
      <p:sp>
        <p:nvSpPr>
          <p:cNvPr id="23" name="step-detail-5">
            <a:extLst xmlns:a="http://schemas.openxmlformats.org/drawingml/2006/main">
              <a:ext uri="{FF2B5EF4-FFF2-40B4-BE49-F238E27FC236}">
                <a16:creationId xmlns:a16="http://schemas.microsoft.com/office/drawing/2014/main" id="{0E9D9382-9B28-429C-A947-221C2480A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73152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7085"/>
                </a:solidFill>
              </a:defRPr>
            </a:pPr>
            <a:r>
              <a:rPr sz="1350">
                <a:solidFill>
                  <a:srgbClr val="667085"/>
                </a:solidFill>
              </a:rPr>
              <a:t>Warnings are intended to reflect verdict impact, not internal plumbing noise.</a:t>
            </a:r>
          </a:p>
        </p:txBody>
      </p:sp>
      <p:sp>
        <p:nvSpPr>
          <p:cNvPr id="24" name="step-number-6">
            <a:extLst xmlns:a="http://schemas.openxmlformats.org/drawingml/2006/main">
              <a:ext uri="{FF2B5EF4-FFF2-40B4-BE49-F238E27FC236}">
                <a16:creationId xmlns:a16="http://schemas.microsoft.com/office/drawing/2014/main" id="{C66C6406-2262-4864-8027-B619FE36F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699262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</p:spPr>
      </p:sp>
      <p:sp>
        <p:nvSpPr>
          <p:cNvPr id="25" name="step-number-text-6">
            <a:extLst xmlns:a="http://schemas.openxmlformats.org/drawingml/2006/main">
              <a:ext uri="{FF2B5EF4-FFF2-40B4-BE49-F238E27FC236}">
                <a16:creationId xmlns:a16="http://schemas.microsoft.com/office/drawing/2014/main" id="{F311F9EC-098F-4307-956D-8AEA90F8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7124700"/>
            <a:ext cx="533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6" name="step-title-6">
            <a:extLst xmlns:a="http://schemas.openxmlformats.org/drawingml/2006/main">
              <a:ext uri="{FF2B5EF4-FFF2-40B4-BE49-F238E27FC236}">
                <a16:creationId xmlns:a16="http://schemas.microsoft.com/office/drawing/2014/main" id="{9F8EC24A-53E4-4974-94C4-EE8BA5487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991350"/>
            <a:ext cx="723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Source transport hardening</a:t>
            </a:r>
          </a:p>
        </p:txBody>
      </p:sp>
      <p:sp>
        <p:nvSpPr>
          <p:cNvPr id="27" name="step-detail-6">
            <a:extLst xmlns:a="http://schemas.openxmlformats.org/drawingml/2006/main">
              <a:ext uri="{FF2B5EF4-FFF2-40B4-BE49-F238E27FC236}">
                <a16:creationId xmlns:a16="http://schemas.microsoft.com/office/drawing/2014/main" id="{38E3A2C0-BEF0-4837-8B96-A49ECB7BE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7315200"/>
            <a:ext cx="77724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7085"/>
                </a:solidFill>
              </a:defRPr>
            </a:pPr>
            <a:r>
              <a:rPr sz="1350">
                <a:solidFill>
                  <a:srgbClr val="667085"/>
                </a:solidFill>
              </a:rPr>
              <a:t>SSRF controls, redirect denial, byte caps, JSON/content checks, and no-cache defaults are unusually strong early.</a:t>
            </a:r>
          </a:p>
        </p:txBody>
      </p:sp>
      <p:sp>
        <p:nvSpPr>
          <p:cNvPr id="28" name="source-rail">
            <a:extLst xmlns:a="http://schemas.openxmlformats.org/drawingml/2006/main">
              <a:ext uri="{FF2B5EF4-FFF2-40B4-BE49-F238E27FC236}">
                <a16:creationId xmlns:a16="http://schemas.microsoft.com/office/drawing/2014/main" id="{C1A8413E-F190-4477-88D0-B4116D494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44050"/>
            <a:ext cx="16611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8B8271"/>
                </a:solidFill>
              </a:defRPr>
            </a:pPr>
            <a:r>
              <a:rPr sz="975">
                <a:solidFill>
                  <a:srgbClr val="8B8271"/>
                </a:solidFill>
              </a:rPr>
              <a:t>FactHarbor V2 Pipeline Assessment | External Advisor Review | 2026-05-16</a:t>
            </a:r>
          </a:p>
        </p:txBody>
      </p:sp>
    </p:spTree>
    <p:extLst>
      <p:ext uri="{BB962C8B-B14F-4D97-AF65-F5344CB8AC3E}">
        <p14:creationId xmlns:p14="http://schemas.microsoft.com/office/powerpoint/2010/main" val="180690516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C7AB9B97-D0F6-4207-9850-045360261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7EAB4C3-207C-4A24-B7B5-9576C631A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"/>
            <a:ext cx="166116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33"/>
                </a:solidFill>
              </a:defRPr>
            </a:pPr>
            <a:r>
              <a:rPr sz="4050" b="1">
                <a:solidFill>
                  <a:srgbClr val="172033"/>
                </a:solidFill>
              </a:rPr>
              <a:t>Principal Risks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F0F9E75-8AF9-4BC8-9C10-7C53AC89B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95400"/>
            <a:ext cx="16611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7085"/>
                </a:solidFill>
              </a:defRPr>
            </a:pPr>
            <a:r>
              <a:rPr sz="1800">
                <a:solidFill>
                  <a:srgbClr val="667085"/>
                </a:solidFill>
              </a:rPr>
              <a:t>The risks are manageable, but only if they are treated as launch blockers rather than cleanup items.</a:t>
            </a:r>
          </a:p>
        </p:txBody>
      </p:sp>
      <p:sp>
        <p:nvSpPr>
          <p:cNvPr id="4" name="risk-name">
            <a:extLst xmlns:a="http://schemas.openxmlformats.org/drawingml/2006/main">
              <a:ext uri="{FF2B5EF4-FFF2-40B4-BE49-F238E27FC236}">
                <a16:creationId xmlns:a16="http://schemas.microsoft.com/office/drawing/2014/main" id="{08D1BB3C-61A8-4323-A572-B3372A313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81200"/>
            <a:ext cx="40386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42318"/>
                </a:solidFill>
              </a:defRPr>
            </a:pPr>
            <a:r>
              <a:rPr sz="1500" b="1">
                <a:solidFill>
                  <a:srgbClr val="B42318"/>
                </a:solidFill>
              </a:rPr>
              <a:t>Governance drift</a:t>
            </a:r>
          </a:p>
        </p:txBody>
      </p:sp>
      <p:sp>
        <p:nvSpPr>
          <p:cNvPr id="5" name="risk-impact">
            <a:extLst xmlns:a="http://schemas.openxmlformats.org/drawingml/2006/main">
              <a:ext uri="{FF2B5EF4-FFF2-40B4-BE49-F238E27FC236}">
                <a16:creationId xmlns:a16="http://schemas.microsoft.com/office/drawing/2014/main" id="{B816506B-3567-459E-8F71-EF00C5D97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981200"/>
            <a:ext cx="60579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033"/>
                </a:solidFill>
              </a:defRPr>
            </a:pPr>
            <a:r>
              <a:rPr sz="1350">
                <a:solidFill>
                  <a:srgbClr val="172033"/>
                </a:solidFill>
              </a:rPr>
              <a:t>Approvals, task state, and slice status are spread across WIP docs, handoffs, code constants, and status files.</a:t>
            </a:r>
          </a:p>
        </p:txBody>
      </p:sp>
      <p:sp>
        <p:nvSpPr>
          <p:cNvPr id="6" name="risk-action">
            <a:extLst xmlns:a="http://schemas.openxmlformats.org/drawingml/2006/main">
              <a:ext uri="{FF2B5EF4-FFF2-40B4-BE49-F238E27FC236}">
                <a16:creationId xmlns:a16="http://schemas.microsoft.com/office/drawing/2014/main" id="{2D1A0FD7-EBF3-4950-8D0E-951D81DBC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1981200"/>
            <a:ext cx="60579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033"/>
                </a:solidFill>
              </a:defRPr>
            </a:pPr>
            <a:r>
              <a:rPr sz="1350">
                <a:solidFill>
                  <a:srgbClr val="172033"/>
                </a:solidFill>
              </a:rPr>
              <a:t>Create one V2 Gate Register with approvals, commit, allowed files, blocked surfaces, verifier commands.</a:t>
            </a:r>
          </a:p>
        </p:txBody>
      </p:sp>
      <p:sp>
        <p:nvSpPr>
          <p:cNvPr id="7" name="risk-rule-1">
            <a:extLst xmlns:a="http://schemas.openxmlformats.org/drawingml/2006/main">
              <a:ext uri="{FF2B5EF4-FFF2-40B4-BE49-F238E27FC236}">
                <a16:creationId xmlns:a16="http://schemas.microsoft.com/office/drawing/2014/main" id="{6401C220-A4AB-4387-8557-CD2E6362A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1661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2C4"/>
          </a:solidFill>
          <a:ln xmlns:a="http://schemas.openxmlformats.org/drawingml/2006/main" w="0">
            <a:solidFill>
              <a:srgbClr val="D7D2C4"/>
            </a:solidFill>
            <a:prstDash val="solid"/>
          </a:ln>
        </p:spPr>
      </p:sp>
      <p:sp>
        <p:nvSpPr>
          <p:cNvPr id="8" name="risk-name">
            <a:extLst xmlns:a="http://schemas.openxmlformats.org/drawingml/2006/main">
              <a:ext uri="{FF2B5EF4-FFF2-40B4-BE49-F238E27FC236}">
                <a16:creationId xmlns:a16="http://schemas.microsoft.com/office/drawing/2014/main" id="{55368E7D-067D-4203-BA3C-C496B2FDC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40386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42318"/>
                </a:solidFill>
              </a:defRPr>
            </a:pPr>
            <a:r>
              <a:rPr sz="1500" b="1">
                <a:solidFill>
                  <a:srgbClr val="B42318"/>
                </a:solidFill>
              </a:rPr>
              <a:t>Prompt authority gap</a:t>
            </a:r>
          </a:p>
        </p:txBody>
      </p:sp>
      <p:sp>
        <p:nvSpPr>
          <p:cNvPr id="9" name="risk-impact">
            <a:extLst xmlns:a="http://schemas.openxmlformats.org/drawingml/2006/main">
              <a:ext uri="{FF2B5EF4-FFF2-40B4-BE49-F238E27FC236}">
                <a16:creationId xmlns:a16="http://schemas.microsoft.com/office/drawing/2014/main" id="{A33766A1-9E96-495D-8308-6294D9687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667000"/>
            <a:ext cx="60579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033"/>
                </a:solidFill>
              </a:defRPr>
            </a:pPr>
            <a:r>
              <a:rPr sz="1350">
                <a:solidFill>
                  <a:srgbClr val="172033"/>
                </a:solidFill>
              </a:rPr>
              <a:t>Runtime loaders read disk prompt files while V2 prompt governance is supposed to be UCM/task-policy owned.</a:t>
            </a:r>
          </a:p>
        </p:txBody>
      </p:sp>
      <p:sp>
        <p:nvSpPr>
          <p:cNvPr id="10" name="risk-action">
            <a:extLst xmlns:a="http://schemas.openxmlformats.org/drawingml/2006/main">
              <a:ext uri="{FF2B5EF4-FFF2-40B4-BE49-F238E27FC236}">
                <a16:creationId xmlns:a16="http://schemas.microsoft.com/office/drawing/2014/main" id="{A643EF61-4604-432E-A27A-705F45AFB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2667000"/>
            <a:ext cx="60579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033"/>
                </a:solidFill>
              </a:defRPr>
            </a:pPr>
            <a:r>
              <a:rPr sz="1350">
                <a:solidFill>
                  <a:srgbClr val="172033"/>
                </a:solidFill>
              </a:rPr>
              <a:t>Execute approved UCM prompt blobs by hash, or enforce disk-to-UCM hash equality as a temporary bridge.</a:t>
            </a:r>
          </a:p>
        </p:txBody>
      </p:sp>
      <p:sp>
        <p:nvSpPr>
          <p:cNvPr id="11" name="risk-rule-2">
            <a:extLst xmlns:a="http://schemas.openxmlformats.org/drawingml/2006/main">
              <a:ext uri="{FF2B5EF4-FFF2-40B4-BE49-F238E27FC236}">
                <a16:creationId xmlns:a16="http://schemas.microsoft.com/office/drawing/2014/main" id="{EF3609F1-3B86-482A-AE8A-FB9F7F53D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00400"/>
            <a:ext cx="1661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2C4"/>
          </a:solidFill>
          <a:ln xmlns:a="http://schemas.openxmlformats.org/drawingml/2006/main" w="0">
            <a:solidFill>
              <a:srgbClr val="D7D2C4"/>
            </a:solidFill>
            <a:prstDash val="solid"/>
          </a:ln>
        </p:spPr>
      </p:sp>
      <p:sp>
        <p:nvSpPr>
          <p:cNvPr id="12" name="risk-name">
            <a:extLst xmlns:a="http://schemas.openxmlformats.org/drawingml/2006/main">
              <a:ext uri="{FF2B5EF4-FFF2-40B4-BE49-F238E27FC236}">
                <a16:creationId xmlns:a16="http://schemas.microsoft.com/office/drawing/2014/main" id="{CEDD37BE-EDC3-412C-98D1-13315ADB7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52800"/>
            <a:ext cx="40386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98A18"/>
                </a:solidFill>
              </a:defRPr>
            </a:pPr>
            <a:r>
              <a:rPr sz="1500" b="1">
                <a:solidFill>
                  <a:srgbClr val="D98A18"/>
                </a:solidFill>
              </a:rPr>
              <a:t>Integration gap</a:t>
            </a:r>
          </a:p>
        </p:txBody>
      </p:sp>
      <p:sp>
        <p:nvSpPr>
          <p:cNvPr id="13" name="risk-impact">
            <a:extLst xmlns:a="http://schemas.openxmlformats.org/drawingml/2006/main">
              <a:ext uri="{FF2B5EF4-FFF2-40B4-BE49-F238E27FC236}">
                <a16:creationId xmlns:a16="http://schemas.microsoft.com/office/drawing/2014/main" id="{56B3A9C9-8A4E-40B8-BE86-1F297C2E7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52800"/>
            <a:ext cx="60579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033"/>
                </a:solidFill>
              </a:defRPr>
            </a:pPr>
            <a:r>
              <a:rPr sz="1350">
                <a:solidFill>
                  <a:srgbClr val="172033"/>
                </a:solidFill>
              </a:rPr>
              <a:t>Hidden units exist, but Claim Understanding, Query Planning, Source Acquisition, and Evidence are not integrated end-to-end.</a:t>
            </a:r>
          </a:p>
        </p:txBody>
      </p:sp>
      <p:sp>
        <p:nvSpPr>
          <p:cNvPr id="14" name="risk-action">
            <a:extLst xmlns:a="http://schemas.openxmlformats.org/drawingml/2006/main">
              <a:ext uri="{FF2B5EF4-FFF2-40B4-BE49-F238E27FC236}">
                <a16:creationId xmlns:a16="http://schemas.microsoft.com/office/drawing/2014/main" id="{C568D2BC-28EA-46EB-852F-804516920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3352800"/>
            <a:ext cx="60579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033"/>
                </a:solidFill>
              </a:defRPr>
            </a:pPr>
            <a:r>
              <a:rPr sz="1350">
                <a:solidFill>
                  <a:srgbClr val="172033"/>
                </a:solidFill>
              </a:rPr>
              <a:t>Build a hidden integration harness that still returns damaged public output.</a:t>
            </a:r>
          </a:p>
        </p:txBody>
      </p:sp>
      <p:sp>
        <p:nvSpPr>
          <p:cNvPr id="15" name="risk-rule-3">
            <a:extLst xmlns:a="http://schemas.openxmlformats.org/drawingml/2006/main">
              <a:ext uri="{FF2B5EF4-FFF2-40B4-BE49-F238E27FC236}">
                <a16:creationId xmlns:a16="http://schemas.microsoft.com/office/drawing/2014/main" id="{5AF120E9-31E2-42C9-A04E-41469CFD3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1661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2C4"/>
          </a:solidFill>
          <a:ln xmlns:a="http://schemas.openxmlformats.org/drawingml/2006/main" w="0">
            <a:solidFill>
              <a:srgbClr val="D7D2C4"/>
            </a:solidFill>
            <a:prstDash val="solid"/>
          </a:ln>
        </p:spPr>
      </p:sp>
      <p:sp>
        <p:nvSpPr>
          <p:cNvPr id="16" name="risk-name">
            <a:extLst xmlns:a="http://schemas.openxmlformats.org/drawingml/2006/main">
              <a:ext uri="{FF2B5EF4-FFF2-40B4-BE49-F238E27FC236}">
                <a16:creationId xmlns:a16="http://schemas.microsoft.com/office/drawing/2014/main" id="{548B0F49-F6BC-47D5-B3D1-FE80B063A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38600"/>
            <a:ext cx="403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98A18"/>
                </a:solidFill>
              </a:defRPr>
            </a:pPr>
            <a:r>
              <a:rPr sz="1500" b="1">
                <a:solidFill>
                  <a:srgbClr val="D98A18"/>
                </a:solidFill>
              </a:rPr>
              <a:t>Public leakage risk</a:t>
            </a:r>
          </a:p>
        </p:txBody>
      </p:sp>
      <p:sp>
        <p:nvSpPr>
          <p:cNvPr id="17" name="risk-impact">
            <a:extLst xmlns:a="http://schemas.openxmlformats.org/drawingml/2006/main">
              <a:ext uri="{FF2B5EF4-FFF2-40B4-BE49-F238E27FC236}">
                <a16:creationId xmlns:a16="http://schemas.microsoft.com/office/drawing/2014/main" id="{3F28D6E8-558B-432D-BE11-DC5AF0FB5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038600"/>
            <a:ext cx="6057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033"/>
                </a:solidFill>
              </a:defRPr>
            </a:pPr>
            <a:r>
              <a:rPr sz="1350">
                <a:solidFill>
                  <a:srgbClr val="172033"/>
                </a:solidFill>
              </a:rPr>
              <a:t>Compatibility code can read V2 verdict fields before product cutover is complete.</a:t>
            </a:r>
          </a:p>
        </p:txBody>
      </p:sp>
      <p:sp>
        <p:nvSpPr>
          <p:cNvPr id="18" name="risk-action">
            <a:extLst xmlns:a="http://schemas.openxmlformats.org/drawingml/2006/main">
              <a:ext uri="{FF2B5EF4-FFF2-40B4-BE49-F238E27FC236}">
                <a16:creationId xmlns:a16="http://schemas.microsoft.com/office/drawing/2014/main" id="{722230ED-7990-41CD-B963-EAB67D490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4038600"/>
            <a:ext cx="6057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033"/>
                </a:solidFill>
              </a:defRPr>
            </a:pPr>
            <a:r>
              <a:rPr sz="1350">
                <a:solidFill>
                  <a:srgbClr val="172033"/>
                </a:solidFill>
              </a:rPr>
              <a:t>Add explicit public cutover approval in the result contract and API/UI adapters.</a:t>
            </a:r>
          </a:p>
        </p:txBody>
      </p:sp>
      <p:sp>
        <p:nvSpPr>
          <p:cNvPr id="19" name="risk-rule-4">
            <a:extLst xmlns:a="http://schemas.openxmlformats.org/drawingml/2006/main">
              <a:ext uri="{FF2B5EF4-FFF2-40B4-BE49-F238E27FC236}">
                <a16:creationId xmlns:a16="http://schemas.microsoft.com/office/drawing/2014/main" id="{11BBD35B-FE5B-4EC9-9098-C5BF60D4D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00550"/>
            <a:ext cx="1661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2C4"/>
          </a:solidFill>
          <a:ln xmlns:a="http://schemas.openxmlformats.org/drawingml/2006/main" w="0">
            <a:solidFill>
              <a:srgbClr val="D7D2C4"/>
            </a:solidFill>
            <a:prstDash val="solid"/>
          </a:ln>
        </p:spPr>
      </p:sp>
      <p:sp>
        <p:nvSpPr>
          <p:cNvPr id="20" name="risk-name">
            <a:extLst xmlns:a="http://schemas.openxmlformats.org/drawingml/2006/main">
              <a:ext uri="{FF2B5EF4-FFF2-40B4-BE49-F238E27FC236}">
                <a16:creationId xmlns:a16="http://schemas.microsoft.com/office/drawing/2014/main" id="{8DDEE3E9-0947-453D-8DB3-C5C90E6BD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52950"/>
            <a:ext cx="403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42318"/>
                </a:solidFill>
              </a:defRPr>
            </a:pPr>
            <a:r>
              <a:rPr sz="1500" b="1">
                <a:solidFill>
                  <a:srgbClr val="B42318"/>
                </a:solidFill>
              </a:rPr>
              <a:t>V1 semantic debt</a:t>
            </a:r>
          </a:p>
        </p:txBody>
      </p:sp>
      <p:sp>
        <p:nvSpPr>
          <p:cNvPr id="21" name="risk-impact">
            <a:extLst xmlns:a="http://schemas.openxmlformats.org/drawingml/2006/main">
              <a:ext uri="{FF2B5EF4-FFF2-40B4-BE49-F238E27FC236}">
                <a16:creationId xmlns:a16="http://schemas.microsoft.com/office/drawing/2014/main" id="{80D68E54-EA51-4C70-A595-50991E6FE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552950"/>
            <a:ext cx="6057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033"/>
                </a:solidFill>
              </a:defRPr>
            </a:pPr>
            <a:r>
              <a:rPr sz="1350">
                <a:solidFill>
                  <a:srgbClr val="172033"/>
                </a:solidFill>
              </a:rPr>
              <a:t>V1 still contains deterministic semantic heuristics that V2 must not inherit.</a:t>
            </a:r>
          </a:p>
        </p:txBody>
      </p:sp>
      <p:sp>
        <p:nvSpPr>
          <p:cNvPr id="22" name="risk-action">
            <a:extLst xmlns:a="http://schemas.openxmlformats.org/drawingml/2006/main">
              <a:ext uri="{FF2B5EF4-FFF2-40B4-BE49-F238E27FC236}">
                <a16:creationId xmlns:a16="http://schemas.microsoft.com/office/drawing/2014/main" id="{CC5B545D-4DC1-4AFE-B0D1-34956AEA5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4552950"/>
            <a:ext cx="6057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033"/>
                </a:solidFill>
              </a:defRPr>
            </a:pPr>
            <a:r>
              <a:rPr sz="1350">
                <a:solidFill>
                  <a:srgbClr val="172033"/>
                </a:solidFill>
              </a:rPr>
              <a:t>Quarantine or migrate to batched LLM assessors before migration.</a:t>
            </a:r>
          </a:p>
        </p:txBody>
      </p:sp>
      <p:sp>
        <p:nvSpPr>
          <p:cNvPr id="23" name="source-rail">
            <a:extLst xmlns:a="http://schemas.openxmlformats.org/drawingml/2006/main">
              <a:ext uri="{FF2B5EF4-FFF2-40B4-BE49-F238E27FC236}">
                <a16:creationId xmlns:a16="http://schemas.microsoft.com/office/drawing/2014/main" id="{0B461779-D2D6-48E3-9606-88C749FF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44050"/>
            <a:ext cx="16611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8B8271"/>
                </a:solidFill>
              </a:defRPr>
            </a:pPr>
            <a:r>
              <a:rPr sz="975">
                <a:solidFill>
                  <a:srgbClr val="8B8271"/>
                </a:solidFill>
              </a:rPr>
              <a:t>FactHarbor V2 Pipeline Assessment | External Advisor Review | 2026-05-16</a:t>
            </a:r>
          </a:p>
        </p:txBody>
      </p:sp>
    </p:spTree>
    <p:extLst>
      <p:ext uri="{BB962C8B-B14F-4D97-AF65-F5344CB8AC3E}">
        <p14:creationId xmlns:p14="http://schemas.microsoft.com/office/powerpoint/2010/main" val="172144100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CE68D922-4F19-46FD-AE1A-7602A0070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28D3CDB-05E8-4AE3-A30A-214EE14BA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"/>
            <a:ext cx="166116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33"/>
                </a:solidFill>
              </a:defRPr>
            </a:pPr>
            <a:r>
              <a:rPr sz="4050" b="1">
                <a:solidFill>
                  <a:srgbClr val="172033"/>
                </a:solidFill>
              </a:rPr>
              <a:t>Prompt and Model Governance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7B42A7A-291E-4141-A9DE-E17D0DF17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95400"/>
            <a:ext cx="16611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7085"/>
                </a:solidFill>
              </a:defRPr>
            </a:pPr>
            <a:r>
              <a:rPr sz="1800">
                <a:solidFill>
                  <a:srgbClr val="667085"/>
                </a:solidFill>
              </a:rPr>
              <a:t>Prompt hygiene is strong; execution authority is the weak point to fix before broader LLM tasks run.</a:t>
            </a:r>
          </a:p>
        </p:txBody>
      </p:sp>
      <p:sp>
        <p:nvSpPr>
          <p:cNvPr id="4" name="statement-label-Strong baseline">
            <a:extLst xmlns:a="http://schemas.openxmlformats.org/drawingml/2006/main">
              <a:ext uri="{FF2B5EF4-FFF2-40B4-BE49-F238E27FC236}">
                <a16:creationId xmlns:a16="http://schemas.microsoft.com/office/drawing/2014/main" id="{FEDD45A5-1F5D-478D-85FD-AB9FAC647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7850"/>
            <a:ext cx="7962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766E"/>
                </a:solidFill>
              </a:defRPr>
            </a:pPr>
            <a:r>
              <a:rPr sz="1275" b="1">
                <a:solidFill>
                  <a:srgbClr val="0F766E"/>
                </a:solidFill>
              </a:rPr>
              <a:t>Strong baseline</a:t>
            </a:r>
          </a:p>
        </p:txBody>
      </p:sp>
      <p:sp>
        <p:nvSpPr>
          <p:cNvPr id="5" name="statement-value-Strong baseline">
            <a:extLst xmlns:a="http://schemas.openxmlformats.org/drawingml/2006/main">
              <a:ext uri="{FF2B5EF4-FFF2-40B4-BE49-F238E27FC236}">
                <a16:creationId xmlns:a16="http://schemas.microsoft.com/office/drawing/2014/main" id="{BCBFF28A-B311-4D95-A718-70A7C176C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52650"/>
            <a:ext cx="676275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The V2 prompt is generic, task-scoped, and language-preserving.</a:t>
            </a:r>
          </a:p>
        </p:txBody>
      </p:sp>
      <p:sp>
        <p:nvSpPr>
          <p:cNvPr id="6" name="bullet-mark">
            <a:extLst xmlns:a="http://schemas.openxmlformats.org/drawingml/2006/main">
              <a:ext uri="{FF2B5EF4-FFF2-40B4-BE49-F238E27FC236}">
                <a16:creationId xmlns:a16="http://schemas.microsoft.com/office/drawing/2014/main" id="{E0E4B394-0307-4667-9664-E26AA86CE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</p:spPr>
      </p:sp>
      <p:sp>
        <p:nvSpPr>
          <p:cNvPr id="7" name="bullet-text">
            <a:extLst xmlns:a="http://schemas.openxmlformats.org/drawingml/2006/main">
              <a:ext uri="{FF2B5EF4-FFF2-40B4-BE49-F238E27FC236}">
                <a16:creationId xmlns:a16="http://schemas.microsoft.com/office/drawing/2014/main" id="{FCDA6C35-B429-4ABE-A3BC-78F9523C1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95650"/>
            <a:ext cx="64960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2033"/>
                </a:solidFill>
              </a:defRPr>
            </a:pPr>
            <a:r>
              <a:rPr sz="1875">
                <a:solidFill>
                  <a:srgbClr val="172033"/>
                </a:solidFill>
              </a:rPr>
              <a:t>No topic-specific examples were found in the reviewed V2 sections.</a:t>
            </a:r>
          </a:p>
        </p:txBody>
      </p:sp>
      <p:sp>
        <p:nvSpPr>
          <p:cNvPr id="8" name="bullet-mark">
            <a:extLst xmlns:a="http://schemas.openxmlformats.org/drawingml/2006/main">
              <a:ext uri="{FF2B5EF4-FFF2-40B4-BE49-F238E27FC236}">
                <a16:creationId xmlns:a16="http://schemas.microsoft.com/office/drawing/2014/main" id="{67062E5C-3317-414D-8FD6-D2D4F774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</p:spPr>
      </p:sp>
      <p:sp>
        <p:nvSpPr>
          <p:cNvPr id="9" name="bullet-text">
            <a:extLst xmlns:a="http://schemas.openxmlformats.org/drawingml/2006/main">
              <a:ext uri="{FF2B5EF4-FFF2-40B4-BE49-F238E27FC236}">
                <a16:creationId xmlns:a16="http://schemas.microsoft.com/office/drawing/2014/main" id="{B833D03C-E1B3-459F-B91E-89E048F62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95750"/>
            <a:ext cx="64960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2033"/>
                </a:solidFill>
              </a:defRPr>
            </a:pPr>
            <a:r>
              <a:rPr sz="1875">
                <a:solidFill>
                  <a:srgbClr val="172033"/>
                </a:solidFill>
              </a:rPr>
              <a:t>Gate 1 excludes research, truth assessment, confidence, and report writing.</a:t>
            </a:r>
          </a:p>
        </p:txBody>
      </p:sp>
      <p:sp>
        <p:nvSpPr>
          <p:cNvPr id="10" name="bullet-mark">
            <a:extLst xmlns:a="http://schemas.openxmlformats.org/drawingml/2006/main">
              <a:ext uri="{FF2B5EF4-FFF2-40B4-BE49-F238E27FC236}">
                <a16:creationId xmlns:a16="http://schemas.microsoft.com/office/drawing/2014/main" id="{8D36B200-5471-4606-B5B5-FD5EAC815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958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</p:spPr>
      </p:sp>
      <p:sp>
        <p:nvSpPr>
          <p:cNvPr id="11" name="bullet-text">
            <a:extLst xmlns:a="http://schemas.openxmlformats.org/drawingml/2006/main">
              <a:ext uri="{FF2B5EF4-FFF2-40B4-BE49-F238E27FC236}">
                <a16:creationId xmlns:a16="http://schemas.microsoft.com/office/drawing/2014/main" id="{70881B04-0B28-4D11-9DC2-3BED456D2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895850"/>
            <a:ext cx="58483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2033"/>
                </a:solidFill>
              </a:defRPr>
            </a:pPr>
            <a:r>
              <a:rPr sz="1875">
                <a:solidFill>
                  <a:srgbClr val="172033"/>
                </a:solidFill>
              </a:rPr>
              <a:t>Evidence prompts explicitly reject provider rank and wording overlap as semantic proxies.</a:t>
            </a:r>
          </a:p>
        </p:txBody>
      </p:sp>
      <p:sp>
        <p:nvSpPr>
          <p:cNvPr id="12" name="statement-label-Required fix">
            <a:extLst xmlns:a="http://schemas.openxmlformats.org/drawingml/2006/main">
              <a:ext uri="{FF2B5EF4-FFF2-40B4-BE49-F238E27FC236}">
                <a16:creationId xmlns:a16="http://schemas.microsoft.com/office/drawing/2014/main" id="{14263A93-E17C-4F5E-B5ED-D79083B8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847850"/>
            <a:ext cx="7962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42318"/>
                </a:solidFill>
              </a:defRPr>
            </a:pPr>
            <a:r>
              <a:rPr sz="1275" b="1">
                <a:solidFill>
                  <a:srgbClr val="B42318"/>
                </a:solidFill>
              </a:rPr>
              <a:t>Required fix</a:t>
            </a:r>
          </a:p>
        </p:txBody>
      </p:sp>
      <p:sp>
        <p:nvSpPr>
          <p:cNvPr id="13" name="statement-value-Required fix">
            <a:extLst xmlns:a="http://schemas.openxmlformats.org/drawingml/2006/main">
              <a:ext uri="{FF2B5EF4-FFF2-40B4-BE49-F238E27FC236}">
                <a16:creationId xmlns:a16="http://schemas.microsoft.com/office/drawing/2014/main" id="{B003104C-BAE4-4EE7-AAF7-EA01C8B7E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152650"/>
            <a:ext cx="661035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Move execution authority from static files to versioned task policy.</a:t>
            </a:r>
          </a:p>
        </p:txBody>
      </p:sp>
      <p:sp>
        <p:nvSpPr>
          <p:cNvPr id="14" name="bullet-mark">
            <a:extLst xmlns:a="http://schemas.openxmlformats.org/drawingml/2006/main">
              <a:ext uri="{FF2B5EF4-FFF2-40B4-BE49-F238E27FC236}">
                <a16:creationId xmlns:a16="http://schemas.microsoft.com/office/drawing/2014/main" id="{E1DD60EB-A45B-40F6-AC1D-A37032F5C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2956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2318"/>
          </a:solidFill>
        </p:spPr>
      </p:sp>
      <p:sp>
        <p:nvSpPr>
          <p:cNvPr id="15" name="bullet-text">
            <a:extLst xmlns:a="http://schemas.openxmlformats.org/drawingml/2006/main">
              <a:ext uri="{FF2B5EF4-FFF2-40B4-BE49-F238E27FC236}">
                <a16:creationId xmlns:a16="http://schemas.microsoft.com/office/drawing/2014/main" id="{2C0F8F5E-1A7D-4D86-B616-168BEB371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295650"/>
            <a:ext cx="62103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2033"/>
                </a:solidFill>
              </a:defRPr>
            </a:pPr>
            <a:r>
              <a:rPr sz="1875">
                <a:solidFill>
                  <a:srgbClr val="172033"/>
                </a:solidFill>
              </a:rPr>
              <a:t>Query planning is executable, but prompt frontmatter still marks only Claim Understanding as required.</a:t>
            </a:r>
          </a:p>
        </p:txBody>
      </p:sp>
      <p:sp>
        <p:nvSpPr>
          <p:cNvPr id="16" name="bullet-mark">
            <a:extLst xmlns:a="http://schemas.openxmlformats.org/drawingml/2006/main">
              <a:ext uri="{FF2B5EF4-FFF2-40B4-BE49-F238E27FC236}">
                <a16:creationId xmlns:a16="http://schemas.microsoft.com/office/drawing/2014/main" id="{05362732-4D20-442A-BED1-485A02FA9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0957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2318"/>
          </a:solidFill>
        </p:spPr>
      </p:sp>
      <p:sp>
        <p:nvSpPr>
          <p:cNvPr id="17" name="bullet-text">
            <a:extLst xmlns:a="http://schemas.openxmlformats.org/drawingml/2006/main">
              <a:ext uri="{FF2B5EF4-FFF2-40B4-BE49-F238E27FC236}">
                <a16:creationId xmlns:a16="http://schemas.microsoft.com/office/drawing/2014/main" id="{2306D2FB-E8F6-455D-B7E0-169A1023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095750"/>
            <a:ext cx="60198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2033"/>
                </a:solidFill>
              </a:defRPr>
            </a:pPr>
            <a:r>
              <a:rPr sz="1875">
                <a:solidFill>
                  <a:srgbClr val="172033"/>
                </a:solidFill>
              </a:rPr>
              <a:t>Model tier, temperature, retry, token, and timeout settings are hardcoded TypeScript today.</a:t>
            </a:r>
          </a:p>
        </p:txBody>
      </p:sp>
      <p:sp>
        <p:nvSpPr>
          <p:cNvPr id="18" name="bullet-mark">
            <a:extLst xmlns:a="http://schemas.openxmlformats.org/drawingml/2006/main">
              <a:ext uri="{FF2B5EF4-FFF2-40B4-BE49-F238E27FC236}">
                <a16:creationId xmlns:a16="http://schemas.microsoft.com/office/drawing/2014/main" id="{6722E383-BD1A-417D-B3CF-BB1A47936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8958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2318"/>
          </a:solidFill>
        </p:spPr>
      </p:sp>
      <p:sp>
        <p:nvSpPr>
          <p:cNvPr id="19" name="bullet-text">
            <a:extLst xmlns:a="http://schemas.openxmlformats.org/drawingml/2006/main">
              <a:ext uri="{FF2B5EF4-FFF2-40B4-BE49-F238E27FC236}">
                <a16:creationId xmlns:a16="http://schemas.microsoft.com/office/drawing/2014/main" id="{51D6F493-A1C4-4E5B-A20D-FC768869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895850"/>
            <a:ext cx="59817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2033"/>
                </a:solidFill>
              </a:defRPr>
            </a:pPr>
            <a:r>
              <a:rPr sz="1875">
                <a:solidFill>
                  <a:srgbClr val="172033"/>
                </a:solidFill>
              </a:rPr>
              <a:t>Language readiness needs an explicit non-und contract before broader query planning.</a:t>
            </a:r>
          </a:p>
        </p:txBody>
      </p:sp>
      <p:sp>
        <p:nvSpPr>
          <p:cNvPr id="20" name="source-rail">
            <a:extLst xmlns:a="http://schemas.openxmlformats.org/drawingml/2006/main">
              <a:ext uri="{FF2B5EF4-FFF2-40B4-BE49-F238E27FC236}">
                <a16:creationId xmlns:a16="http://schemas.microsoft.com/office/drawing/2014/main" id="{FFE1C733-5E63-42B3-8B34-72355CF8C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44050"/>
            <a:ext cx="16611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8B8271"/>
                </a:solidFill>
              </a:defRPr>
            </a:pPr>
            <a:r>
              <a:rPr sz="975">
                <a:solidFill>
                  <a:srgbClr val="8B8271"/>
                </a:solidFill>
              </a:rPr>
              <a:t>FactHarbor V2 Pipeline Assessment | External Advisor Review | 2026-05-16</a:t>
            </a:r>
          </a:p>
        </p:txBody>
      </p:sp>
    </p:spTree>
    <p:extLst>
      <p:ext uri="{BB962C8B-B14F-4D97-AF65-F5344CB8AC3E}">
        <p14:creationId xmlns:p14="http://schemas.microsoft.com/office/powerpoint/2010/main" val="113003740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F16DFAFB-A336-499C-9C18-66CA97F5B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163F13A-5C78-43A0-8F30-945423054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"/>
            <a:ext cx="166116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33"/>
                </a:solidFill>
              </a:defRPr>
            </a:pPr>
            <a:r>
              <a:rPr sz="4050" b="1">
                <a:solidFill>
                  <a:srgbClr val="172033"/>
                </a:solidFill>
              </a:rPr>
              <a:t>Source Acquisition and Parser Boundary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AE2F100-9DB0-4903-9C1E-CCB2089F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95400"/>
            <a:ext cx="16611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7085"/>
                </a:solidFill>
              </a:defRPr>
            </a:pPr>
            <a:r>
              <a:rPr sz="1800">
                <a:solidFill>
                  <a:srgbClr val="667085"/>
                </a:solidFill>
              </a:rPr>
              <a:t>The transport slice is disciplined; the parser step is the next security and architecture inflection point.</a:t>
            </a:r>
          </a:p>
        </p:txBody>
      </p:sp>
      <p:sp>
        <p:nvSpPr>
          <p:cNvPr id="4" name="source-callout">
            <a:extLst xmlns:a="http://schemas.openxmlformats.org/drawingml/2006/main">
              <a:ext uri="{FF2B5EF4-FFF2-40B4-BE49-F238E27FC236}">
                <a16:creationId xmlns:a16="http://schemas.microsoft.com/office/drawing/2014/main" id="{9F56C578-FC38-437D-AA00-5A2038AC5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7850"/>
            <a:ext cx="87439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033"/>
                </a:solidFill>
              </a:defRPr>
            </a:pPr>
            <a:r>
              <a:rPr sz="3150" b="1">
                <a:solidFill>
                  <a:srgbClr val="172033"/>
                </a:solidFill>
              </a:rPr>
              <a:t>Boundary stays structural</a:t>
            </a:r>
          </a:p>
        </p:txBody>
      </p:sp>
      <p:sp>
        <p:nvSpPr>
          <p:cNvPr id="5" name="bullet-mark">
            <a:extLst xmlns:a="http://schemas.openxmlformats.org/drawingml/2006/main">
              <a:ext uri="{FF2B5EF4-FFF2-40B4-BE49-F238E27FC236}">
                <a16:creationId xmlns:a16="http://schemas.microsoft.com/office/drawing/2014/main" id="{D141B5A8-4779-44ED-B346-D349B919A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52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</p:spPr>
      </p:sp>
      <p:sp>
        <p:nvSpPr>
          <p:cNvPr id="6" name="bullet-text">
            <a:extLst xmlns:a="http://schemas.openxmlformats.org/drawingml/2006/main">
              <a:ext uri="{FF2B5EF4-FFF2-40B4-BE49-F238E27FC236}">
                <a16:creationId xmlns:a16="http://schemas.microsoft.com/office/drawing/2014/main" id="{C679DEBE-664D-438E-AC11-1F948864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52700"/>
            <a:ext cx="6572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2033"/>
                </a:solidFill>
              </a:defRPr>
            </a:pPr>
            <a:r>
              <a:rPr sz="1875">
                <a:solidFill>
                  <a:srgbClr val="172033"/>
                </a:solidFill>
              </a:rPr>
              <a:t>Source acquisition may fetch and structure, but must not decide relevance, credibility, probative value, warnings, or verdict meaning.</a:t>
            </a:r>
          </a:p>
        </p:txBody>
      </p:sp>
      <p:sp>
        <p:nvSpPr>
          <p:cNvPr id="7" name="bullet-mark">
            <a:extLst xmlns:a="http://schemas.openxmlformats.org/drawingml/2006/main">
              <a:ext uri="{FF2B5EF4-FFF2-40B4-BE49-F238E27FC236}">
                <a16:creationId xmlns:a16="http://schemas.microsoft.com/office/drawing/2014/main" id="{18DFE5AC-7B18-4F53-B1E9-F565F5535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528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</p:spPr>
      </p:sp>
      <p:sp>
        <p:nvSpPr>
          <p:cNvPr id="8" name="bullet-text">
            <a:extLst xmlns:a="http://schemas.openxmlformats.org/drawingml/2006/main">
              <a:ext uri="{FF2B5EF4-FFF2-40B4-BE49-F238E27FC236}">
                <a16:creationId xmlns:a16="http://schemas.microsoft.com/office/drawing/2014/main" id="{5669ACA0-8F69-408A-A472-40A31E30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52800"/>
            <a:ext cx="651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2033"/>
                </a:solidFill>
              </a:defRPr>
            </a:pPr>
            <a:r>
              <a:rPr sz="1875">
                <a:solidFill>
                  <a:srgbClr val="172033"/>
                </a:solidFill>
              </a:rPr>
              <a:t>Real bytes are HMAC/provenance-bound and disposed after hidden handoff; parser consumption remains blocked.</a:t>
            </a:r>
          </a:p>
        </p:txBody>
      </p:sp>
      <p:sp>
        <p:nvSpPr>
          <p:cNvPr id="9" name="bullet-mark">
            <a:extLst xmlns:a="http://schemas.openxmlformats.org/drawingml/2006/main">
              <a:ext uri="{FF2B5EF4-FFF2-40B4-BE49-F238E27FC236}">
                <a16:creationId xmlns:a16="http://schemas.microsoft.com/office/drawing/2014/main" id="{414D10A5-0B8B-435B-B3DA-5CE159803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529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</p:spPr>
      </p:sp>
      <p:sp>
        <p:nvSpPr>
          <p:cNvPr id="10" name="bullet-text">
            <a:extLst xmlns:a="http://schemas.openxmlformats.org/drawingml/2006/main">
              <a:ext uri="{FF2B5EF4-FFF2-40B4-BE49-F238E27FC236}">
                <a16:creationId xmlns:a16="http://schemas.microsoft.com/office/drawing/2014/main" id="{930F9535-55AC-4506-B6C7-CC8C27476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52900"/>
            <a:ext cx="65341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2033"/>
                </a:solidFill>
              </a:defRPr>
            </a:pPr>
            <a:r>
              <a:rPr sz="1875">
                <a:solidFill>
                  <a:srgbClr val="172033"/>
                </a:solidFill>
              </a:rPr>
              <a:t>The next parser design should prove no network, env, file, secret, or public-surface leakage.</a:t>
            </a:r>
          </a:p>
        </p:txBody>
      </p:sp>
      <p:sp>
        <p:nvSpPr>
          <p:cNvPr id="11" name="chip-approve-parser-isolation">
            <a:extLst xmlns:a="http://schemas.openxmlformats.org/drawingml/2006/main">
              <a:ext uri="{FF2B5EF4-FFF2-40B4-BE49-F238E27FC236}">
                <a16:creationId xmlns:a16="http://schemas.microsoft.com/office/drawing/2014/main" id="{30C9D7FD-6CA1-43E6-91C8-F2C5D0C2F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0335" y="1844040"/>
            <a:ext cx="27622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7C2"/>
          </a:solidFill>
        </p:spPr>
      </p:sp>
      <p:sp>
        <p:nvSpPr>
          <p:cNvPr id="12" name="chip-text-approve-parser-isolation">
            <a:extLst xmlns:a="http://schemas.openxmlformats.org/drawingml/2006/main">
              <a:ext uri="{FF2B5EF4-FFF2-40B4-BE49-F238E27FC236}">
                <a16:creationId xmlns:a16="http://schemas.microsoft.com/office/drawing/2014/main" id="{8CFFEA1D-D047-40AD-845E-45763F6C1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981200"/>
            <a:ext cx="2438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98A18"/>
                </a:solidFill>
              </a:defRPr>
            </a:pPr>
            <a:r>
              <a:rPr sz="1275" b="1">
                <a:solidFill>
                  <a:srgbClr val="D98A18"/>
                </a:solidFill>
              </a:rPr>
              <a:t>Approve parser isolation</a:t>
            </a:r>
          </a:p>
        </p:txBody>
      </p:sp>
      <p:sp>
        <p:nvSpPr>
          <p:cNvPr id="13" name="chip-no-in-process-parser-trust">
            <a:extLst xmlns:a="http://schemas.openxmlformats.org/drawingml/2006/main">
              <a:ext uri="{FF2B5EF4-FFF2-40B4-BE49-F238E27FC236}">
                <a16:creationId xmlns:a16="http://schemas.microsoft.com/office/drawing/2014/main" id="{F4C27A9F-686B-4D08-BF69-D003F6FC9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0335" y="2491740"/>
            <a:ext cx="3000375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2DF"/>
          </a:solidFill>
        </p:spPr>
      </p:sp>
      <p:sp>
        <p:nvSpPr>
          <p:cNvPr id="14" name="chip-text-no-in-process-parser-trust">
            <a:extLst xmlns:a="http://schemas.openxmlformats.org/drawingml/2006/main">
              <a:ext uri="{FF2B5EF4-FFF2-40B4-BE49-F238E27FC236}">
                <a16:creationId xmlns:a16="http://schemas.microsoft.com/office/drawing/2014/main" id="{ED089F71-4B72-49E4-9BF9-858731C15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628900"/>
            <a:ext cx="2667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42318"/>
                </a:solidFill>
              </a:defRPr>
            </a:pPr>
            <a:r>
              <a:rPr sz="1275" b="1">
                <a:solidFill>
                  <a:srgbClr val="B42318"/>
                </a:solidFill>
              </a:rPr>
              <a:t>No in-process parser trust</a:t>
            </a:r>
          </a:p>
        </p:txBody>
      </p:sp>
      <p:sp>
        <p:nvSpPr>
          <p:cNvPr id="15" name="chip-no-semantic-parser-output">
            <a:extLst xmlns:a="http://schemas.openxmlformats.org/drawingml/2006/main">
              <a:ext uri="{FF2B5EF4-FFF2-40B4-BE49-F238E27FC236}">
                <a16:creationId xmlns:a16="http://schemas.microsoft.com/office/drawing/2014/main" id="{278FF269-AEA9-4E43-872B-082190103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0335" y="3139440"/>
            <a:ext cx="3000375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2DF"/>
          </a:solidFill>
        </p:spPr>
      </p:sp>
      <p:sp>
        <p:nvSpPr>
          <p:cNvPr id="16" name="chip-text-no-semantic-parser-output">
            <a:extLst xmlns:a="http://schemas.openxmlformats.org/drawingml/2006/main">
              <a:ext uri="{FF2B5EF4-FFF2-40B4-BE49-F238E27FC236}">
                <a16:creationId xmlns:a16="http://schemas.microsoft.com/office/drawing/2014/main" id="{17E5D8A2-4EBC-4E3A-8FCD-316A6ACFD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276600"/>
            <a:ext cx="2667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42318"/>
                </a:solidFill>
              </a:defRPr>
            </a:pPr>
            <a:r>
              <a:rPr sz="1275" b="1">
                <a:solidFill>
                  <a:srgbClr val="B42318"/>
                </a:solidFill>
              </a:rPr>
              <a:t>No semantic parser output</a:t>
            </a:r>
          </a:p>
        </p:txBody>
      </p:sp>
      <p:sp>
        <p:nvSpPr>
          <p:cNvPr id="17" name="chip-add-id-prefix-contract-tests">
            <a:extLst xmlns:a="http://schemas.openxmlformats.org/drawingml/2006/main">
              <a:ext uri="{FF2B5EF4-FFF2-40B4-BE49-F238E27FC236}">
                <a16:creationId xmlns:a16="http://schemas.microsoft.com/office/drawing/2014/main" id="{5B06A8DC-6501-4F8A-9C2A-04B0C8B8D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0335" y="3787140"/>
            <a:ext cx="3095625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BFF"/>
          </a:solidFill>
        </p:spPr>
      </p:sp>
      <p:sp>
        <p:nvSpPr>
          <p:cNvPr id="18" name="chip-text-add-id-prefix-contract-tests">
            <a:extLst xmlns:a="http://schemas.openxmlformats.org/drawingml/2006/main">
              <a:ext uri="{FF2B5EF4-FFF2-40B4-BE49-F238E27FC236}">
                <a16:creationId xmlns:a16="http://schemas.microsoft.com/office/drawing/2014/main" id="{3C836F73-DF93-4962-913E-424581989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924300"/>
            <a:ext cx="2743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63EB"/>
                </a:solidFill>
              </a:defRPr>
            </a:pPr>
            <a:r>
              <a:rPr sz="1275" b="1">
                <a:solidFill>
                  <a:srgbClr val="2563EB"/>
                </a:solidFill>
              </a:rPr>
              <a:t>Add ID-prefix contract tests</a:t>
            </a:r>
          </a:p>
        </p:txBody>
      </p:sp>
      <p:sp>
        <p:nvSpPr>
          <p:cNvPr id="19" name="chip-preserve-byte-free-public-outcomes">
            <a:extLst xmlns:a="http://schemas.openxmlformats.org/drawingml/2006/main">
              <a:ext uri="{FF2B5EF4-FFF2-40B4-BE49-F238E27FC236}">
                <a16:creationId xmlns:a16="http://schemas.microsoft.com/office/drawing/2014/main" id="{6BF49D04-2BC1-492D-9A74-B36B6130B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0335" y="4434840"/>
            <a:ext cx="33337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7E8"/>
          </a:solidFill>
        </p:spPr>
      </p:sp>
      <p:sp>
        <p:nvSpPr>
          <p:cNvPr id="20" name="chip-text-preserve-byte-free-public-outcomes">
            <a:extLst xmlns:a="http://schemas.openxmlformats.org/drawingml/2006/main">
              <a:ext uri="{FF2B5EF4-FFF2-40B4-BE49-F238E27FC236}">
                <a16:creationId xmlns:a16="http://schemas.microsoft.com/office/drawing/2014/main" id="{861078B5-01C7-47D1-A9AE-48428E902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572000"/>
            <a:ext cx="3009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8457"/>
                </a:solidFill>
              </a:defRPr>
            </a:pPr>
            <a:r>
              <a:rPr sz="1275" b="1">
                <a:solidFill>
                  <a:srgbClr val="168457"/>
                </a:solidFill>
              </a:rPr>
              <a:t>Preserve byte-free public outcomes</a:t>
            </a:r>
          </a:p>
        </p:txBody>
      </p:sp>
      <p:sp>
        <p:nvSpPr>
          <p:cNvPr id="21" name="source-rail">
            <a:extLst xmlns:a="http://schemas.openxmlformats.org/drawingml/2006/main">
              <a:ext uri="{FF2B5EF4-FFF2-40B4-BE49-F238E27FC236}">
                <a16:creationId xmlns:a16="http://schemas.microsoft.com/office/drawing/2014/main" id="{B97B7714-F449-4189-B505-912EDD58B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44050"/>
            <a:ext cx="16611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8B8271"/>
                </a:solidFill>
              </a:defRPr>
            </a:pPr>
            <a:r>
              <a:rPr sz="975">
                <a:solidFill>
                  <a:srgbClr val="8B8271"/>
                </a:solidFill>
              </a:rPr>
              <a:t>FactHarbor V2 Pipeline Assessment | External Advisor Review | 2026-05-16</a:t>
            </a:r>
          </a:p>
        </p:txBody>
      </p:sp>
    </p:spTree>
    <p:extLst>
      <p:ext uri="{BB962C8B-B14F-4D97-AF65-F5344CB8AC3E}">
        <p14:creationId xmlns:p14="http://schemas.microsoft.com/office/powerpoint/2010/main" val="201941778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D3771F27-1252-4065-8B7A-1DD5D2524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67E4D0B-1031-4C67-9775-25CBD9C98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"/>
            <a:ext cx="166116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33"/>
                </a:solidFill>
              </a:defRPr>
            </a:pPr>
            <a:r>
              <a:rPr sz="4050" b="1">
                <a:solidFill>
                  <a:srgbClr val="172033"/>
                </a:solidFill>
              </a:rPr>
              <a:t>Implementation Process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7585889-C09C-472C-973D-5C445A41A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95400"/>
            <a:ext cx="16611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7085"/>
                </a:solidFill>
              </a:defRPr>
            </a:pPr>
            <a:r>
              <a:rPr sz="1800">
                <a:solidFill>
                  <a:srgbClr val="667085"/>
                </a:solidFill>
              </a:rPr>
              <a:t>The process is protecting quality, but it now needs consolidation to stay operable.</a:t>
            </a:r>
          </a:p>
        </p:txBody>
      </p:sp>
      <p:sp>
        <p:nvSpPr>
          <p:cNvPr id="4" name="statement-label-Keep">
            <a:extLst xmlns:a="http://schemas.openxmlformats.org/drawingml/2006/main">
              <a:ext uri="{FF2B5EF4-FFF2-40B4-BE49-F238E27FC236}">
                <a16:creationId xmlns:a16="http://schemas.microsoft.com/office/drawing/2014/main" id="{639462A0-2DDC-44A9-BE7E-9A5FCC3B2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7850"/>
            <a:ext cx="7924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766E"/>
                </a:solidFill>
              </a:defRPr>
            </a:pPr>
            <a:r>
              <a:rPr sz="1275" b="1">
                <a:solidFill>
                  <a:srgbClr val="0F766E"/>
                </a:solidFill>
              </a:rPr>
              <a:t>Keep</a:t>
            </a:r>
          </a:p>
        </p:txBody>
      </p:sp>
      <p:sp>
        <p:nvSpPr>
          <p:cNvPr id="5" name="statement-value-Keep">
            <a:extLst xmlns:a="http://schemas.openxmlformats.org/drawingml/2006/main">
              <a:ext uri="{FF2B5EF4-FFF2-40B4-BE49-F238E27FC236}">
                <a16:creationId xmlns:a16="http://schemas.microsoft.com/office/drawing/2014/main" id="{88D5D8B7-8BDB-4C49-B0F1-6A07C2BAD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52650"/>
            <a:ext cx="581025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Slice gates, source packages, focused verification, debt-guard recovery.</a:t>
            </a:r>
          </a:p>
        </p:txBody>
      </p:sp>
      <p:sp>
        <p:nvSpPr>
          <p:cNvPr id="6" name="bullet-mark">
            <a:extLst xmlns:a="http://schemas.openxmlformats.org/drawingml/2006/main">
              <a:ext uri="{FF2B5EF4-FFF2-40B4-BE49-F238E27FC236}">
                <a16:creationId xmlns:a16="http://schemas.microsoft.com/office/drawing/2014/main" id="{77914484-5575-4F9D-83FF-18A35C27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</p:spPr>
      </p:sp>
      <p:sp>
        <p:nvSpPr>
          <p:cNvPr id="7" name="bullet-text">
            <a:extLst xmlns:a="http://schemas.openxmlformats.org/drawingml/2006/main">
              <a:ext uri="{FF2B5EF4-FFF2-40B4-BE49-F238E27FC236}">
                <a16:creationId xmlns:a16="http://schemas.microsoft.com/office/drawing/2014/main" id="{3DF5933F-2BB8-42B7-83B7-E2CFE9C01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76600"/>
            <a:ext cx="6286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2033"/>
                </a:solidFill>
              </a:defRPr>
            </a:pPr>
            <a:r>
              <a:rPr sz="1875">
                <a:solidFill>
                  <a:srgbClr val="172033"/>
                </a:solidFill>
              </a:rPr>
              <a:t>The gated replacement model is the right posture for a high-trust LLM pipeline.</a:t>
            </a:r>
          </a:p>
        </p:txBody>
      </p:sp>
      <p:sp>
        <p:nvSpPr>
          <p:cNvPr id="8" name="bullet-mark">
            <a:extLst xmlns:a="http://schemas.openxmlformats.org/drawingml/2006/main">
              <a:ext uri="{FF2B5EF4-FFF2-40B4-BE49-F238E27FC236}">
                <a16:creationId xmlns:a16="http://schemas.microsoft.com/office/drawing/2014/main" id="{5DF795BD-64E9-4155-AF6F-D0AA4C5E0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576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</p:spPr>
      </p:sp>
      <p:sp>
        <p:nvSpPr>
          <p:cNvPr id="9" name="bullet-text">
            <a:extLst xmlns:a="http://schemas.openxmlformats.org/drawingml/2006/main">
              <a:ext uri="{FF2B5EF4-FFF2-40B4-BE49-F238E27FC236}">
                <a16:creationId xmlns:a16="http://schemas.microsoft.com/office/drawing/2014/main" id="{79FA9A9D-8185-4F68-8FF6-758FB284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57650"/>
            <a:ext cx="64960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2033"/>
                </a:solidFill>
              </a:defRPr>
            </a:pPr>
            <a:r>
              <a:rPr sz="1875">
                <a:solidFill>
                  <a:srgbClr val="172033"/>
                </a:solidFill>
              </a:rPr>
              <a:t>Sub-slice reviews have already caught real capability-channel issues before public exposure.</a:t>
            </a:r>
          </a:p>
        </p:txBody>
      </p:sp>
      <p:sp>
        <p:nvSpPr>
          <p:cNvPr id="10" name="statement-label-Change">
            <a:extLst xmlns:a="http://schemas.openxmlformats.org/drawingml/2006/main">
              <a:ext uri="{FF2B5EF4-FFF2-40B4-BE49-F238E27FC236}">
                <a16:creationId xmlns:a16="http://schemas.microsoft.com/office/drawing/2014/main" id="{66D0AFB3-8832-475F-8234-16E2CAC47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847850"/>
            <a:ext cx="7924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98A18"/>
                </a:solidFill>
              </a:defRPr>
            </a:pPr>
            <a:r>
              <a:rPr sz="1275" b="1">
                <a:solidFill>
                  <a:srgbClr val="D98A18"/>
                </a:solidFill>
              </a:rPr>
              <a:t>Change</a:t>
            </a:r>
          </a:p>
        </p:txBody>
      </p:sp>
      <p:sp>
        <p:nvSpPr>
          <p:cNvPr id="11" name="statement-value-Change">
            <a:extLst xmlns:a="http://schemas.openxmlformats.org/drawingml/2006/main">
              <a:ext uri="{FF2B5EF4-FFF2-40B4-BE49-F238E27FC236}">
                <a16:creationId xmlns:a16="http://schemas.microsoft.com/office/drawing/2014/main" id="{F645C128-002F-40EA-A1E6-373DDCB1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152650"/>
            <a:ext cx="6781800" cy="137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Make state machine-readable before governance becomes its own failure mode.</a:t>
            </a:r>
          </a:p>
        </p:txBody>
      </p:sp>
      <p:sp>
        <p:nvSpPr>
          <p:cNvPr id="12" name="bullet-mark">
            <a:extLst xmlns:a="http://schemas.openxmlformats.org/drawingml/2006/main">
              <a:ext uri="{FF2B5EF4-FFF2-40B4-BE49-F238E27FC236}">
                <a16:creationId xmlns:a16="http://schemas.microsoft.com/office/drawing/2014/main" id="{41507A25-2C85-4D0F-833B-F96E6A04C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7338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8A18"/>
          </a:solidFill>
        </p:spPr>
      </p:sp>
      <p:sp>
        <p:nvSpPr>
          <p:cNvPr id="13" name="bullet-text">
            <a:extLst xmlns:a="http://schemas.openxmlformats.org/drawingml/2006/main">
              <a:ext uri="{FF2B5EF4-FFF2-40B4-BE49-F238E27FC236}">
                <a16:creationId xmlns:a16="http://schemas.microsoft.com/office/drawing/2014/main" id="{5462D8AE-EC49-4177-9F03-4991C46F0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733800"/>
            <a:ext cx="61150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2033"/>
                </a:solidFill>
              </a:defRPr>
            </a:pPr>
            <a:r>
              <a:rPr sz="1875">
                <a:solidFill>
                  <a:srgbClr val="172033"/>
                </a:solidFill>
              </a:rPr>
              <a:t>Generate WIP checklist sections from a Gate Register instead of repeating blocked-scope prose.</a:t>
            </a:r>
          </a:p>
        </p:txBody>
      </p:sp>
      <p:sp>
        <p:nvSpPr>
          <p:cNvPr id="14" name="bullet-mark">
            <a:extLst xmlns:a="http://schemas.openxmlformats.org/drawingml/2006/main">
              <a:ext uri="{FF2B5EF4-FFF2-40B4-BE49-F238E27FC236}">
                <a16:creationId xmlns:a16="http://schemas.microsoft.com/office/drawing/2014/main" id="{4CFAA01A-1019-4A37-BC13-A185C2C4E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148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8A18"/>
          </a:solidFill>
        </p:spPr>
      </p:sp>
      <p:sp>
        <p:nvSpPr>
          <p:cNvPr id="15" name="bullet-text">
            <a:extLst xmlns:a="http://schemas.openxmlformats.org/drawingml/2006/main">
              <a:ext uri="{FF2B5EF4-FFF2-40B4-BE49-F238E27FC236}">
                <a16:creationId xmlns:a16="http://schemas.microsoft.com/office/drawing/2014/main" id="{8374C01D-6074-43E7-8915-240ACBF46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514850"/>
            <a:ext cx="6286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2033"/>
                </a:solidFill>
              </a:defRPr>
            </a:pPr>
            <a:r>
              <a:rPr sz="1875">
                <a:solidFill>
                  <a:srgbClr val="172033"/>
                </a:solidFill>
              </a:rPr>
              <a:t>Record approval body, approval pointer, commit, verifier, allowed files, and live-job eligibility in one register.</a:t>
            </a:r>
          </a:p>
        </p:txBody>
      </p:sp>
      <p:sp>
        <p:nvSpPr>
          <p:cNvPr id="16" name="source-rail">
            <a:extLst xmlns:a="http://schemas.openxmlformats.org/drawingml/2006/main">
              <a:ext uri="{FF2B5EF4-FFF2-40B4-BE49-F238E27FC236}">
                <a16:creationId xmlns:a16="http://schemas.microsoft.com/office/drawing/2014/main" id="{233048BC-D55F-4BE1-AAFB-A2C810DA4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44050"/>
            <a:ext cx="16611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8B8271"/>
                </a:solidFill>
              </a:defRPr>
            </a:pPr>
            <a:r>
              <a:rPr sz="975">
                <a:solidFill>
                  <a:srgbClr val="8B8271"/>
                </a:solidFill>
              </a:rPr>
              <a:t>FactHarbor V2 Pipeline Assessment | External Advisor Review | 2026-05-16</a:t>
            </a:r>
          </a:p>
        </p:txBody>
      </p:sp>
    </p:spTree>
    <p:extLst>
      <p:ext uri="{BB962C8B-B14F-4D97-AF65-F5344CB8AC3E}">
        <p14:creationId xmlns:p14="http://schemas.microsoft.com/office/powerpoint/2010/main" val="50190420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86291BDB-4C6C-4A1D-8A28-B120007D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2DDDB4D-A124-4296-9D4E-13B0CD0E8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"/>
            <a:ext cx="166116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33"/>
                </a:solidFill>
              </a:defRPr>
            </a:pPr>
            <a:r>
              <a:rPr sz="4050" b="1">
                <a:solidFill>
                  <a:srgbClr val="172033"/>
                </a:solidFill>
              </a:rPr>
              <a:t>Pre-Cutover Readiness Gates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553CBF2-A8C9-49F5-A723-D0B5EC0BD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95400"/>
            <a:ext cx="16611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7085"/>
                </a:solidFill>
              </a:defRPr>
            </a:pPr>
            <a:r>
              <a:rPr sz="1800">
                <a:solidFill>
                  <a:srgbClr val="667085"/>
                </a:solidFill>
              </a:rPr>
              <a:t>A leadership checkpoint should require these gates before public V2, V1 cleanup, or broad validation spend.</a:t>
            </a:r>
          </a:p>
        </p:txBody>
      </p:sp>
      <p:sp>
        <p:nvSpPr>
          <p:cNvPr id="4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8B8F561F-2927-4B1B-93CE-47C3CCE96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404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2318"/>
          </a:solidFill>
        </p:spPr>
      </p:sp>
      <p:sp>
        <p:nvSpPr>
          <p:cNvPr id="5" name="step-number-text-1">
            <a:extLst xmlns:a="http://schemas.openxmlformats.org/drawingml/2006/main">
              <a:ext uri="{FF2B5EF4-FFF2-40B4-BE49-F238E27FC236}">
                <a16:creationId xmlns:a16="http://schemas.microsoft.com/office/drawing/2014/main" id="{D490D2B1-3CBE-482C-8FC1-74F9DD1C7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81200"/>
            <a:ext cx="533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6C3CD200-CF38-448B-8E2D-95F4C721A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847850"/>
            <a:ext cx="7219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Task policy and UCM authority</a:t>
            </a:r>
          </a:p>
        </p:txBody>
      </p:sp>
      <p:sp>
        <p:nvSpPr>
          <p:cNvPr id="7" name="step-detail-1">
            <a:extLst xmlns:a="http://schemas.openxmlformats.org/drawingml/2006/main">
              <a:ext uri="{FF2B5EF4-FFF2-40B4-BE49-F238E27FC236}">
                <a16:creationId xmlns:a16="http://schemas.microsoft.com/office/drawing/2014/main" id="{B76BFBA7-4177-4010-8021-46776F530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171700"/>
            <a:ext cx="7715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7085"/>
                </a:solidFill>
              </a:defRPr>
            </a:pPr>
            <a:r>
              <a:rPr sz="1350">
                <a:solidFill>
                  <a:srgbClr val="667085"/>
                </a:solidFill>
              </a:rPr>
              <a:t>Prompt content, model settings, cache policy, approval, and active hashes are one versioned runtime snapshot.</a:t>
            </a:r>
          </a:p>
        </p:txBody>
      </p:sp>
      <p:sp>
        <p:nvSpPr>
          <p:cNvPr id="8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9D41BC03-C506-4132-A0B4-22D331110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84404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8A18"/>
          </a:solidFill>
        </p:spPr>
      </p:sp>
      <p:sp>
        <p:nvSpPr>
          <p:cNvPr id="9" name="step-number-text-2">
            <a:extLst xmlns:a="http://schemas.openxmlformats.org/drawingml/2006/main">
              <a:ext uri="{FF2B5EF4-FFF2-40B4-BE49-F238E27FC236}">
                <a16:creationId xmlns:a16="http://schemas.microsoft.com/office/drawing/2014/main" id="{34C367A6-411F-4275-B5E4-5D78AE8E8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981200"/>
            <a:ext cx="533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309928FB-D19D-46B5-815E-AAD6FF312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847850"/>
            <a:ext cx="7219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Hidden end-to-end evidence flow</a:t>
            </a:r>
          </a:p>
        </p:txBody>
      </p:sp>
      <p:sp>
        <p:nvSpPr>
          <p:cNvPr id="11" name="step-detail-2">
            <a:extLst xmlns:a="http://schemas.openxmlformats.org/drawingml/2006/main">
              <a:ext uri="{FF2B5EF4-FFF2-40B4-BE49-F238E27FC236}">
                <a16:creationId xmlns:a16="http://schemas.microsoft.com/office/drawing/2014/main" id="{04C8244E-134C-4E02-8DA5-47425DB03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171700"/>
            <a:ext cx="8553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7085"/>
                </a:solidFill>
              </a:defRPr>
            </a:pPr>
            <a:r>
              <a:rPr sz="1350">
                <a:solidFill>
                  <a:srgbClr val="667085"/>
                </a:solidFill>
              </a:rPr>
              <a:t>Claim Understanding to Query Planning to Acquisition to Evidence Corpus runs internally while public output stays blocked.</a:t>
            </a:r>
          </a:p>
        </p:txBody>
      </p:sp>
      <p:sp>
        <p:nvSpPr>
          <p:cNvPr id="12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6CDF187D-384E-4467-83BF-37C2470B3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1198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8A18"/>
          </a:solidFill>
        </p:spPr>
      </p:sp>
      <p:sp>
        <p:nvSpPr>
          <p:cNvPr id="13" name="step-number-text-3">
            <a:extLst xmlns:a="http://schemas.openxmlformats.org/drawingml/2006/main">
              <a:ext uri="{FF2B5EF4-FFF2-40B4-BE49-F238E27FC236}">
                <a16:creationId xmlns:a16="http://schemas.microsoft.com/office/drawing/2014/main" id="{CD27B2EC-8BEB-4E26-903A-2B752DE35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52950"/>
            <a:ext cx="533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step-title-3">
            <a:extLst xmlns:a="http://schemas.openxmlformats.org/drawingml/2006/main">
              <a:ext uri="{FF2B5EF4-FFF2-40B4-BE49-F238E27FC236}">
                <a16:creationId xmlns:a16="http://schemas.microsoft.com/office/drawing/2014/main" id="{1E615D72-F27D-4600-A247-BAF7B3715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419600"/>
            <a:ext cx="7219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Parser isolation approved</a:t>
            </a:r>
          </a:p>
        </p:txBody>
      </p:sp>
      <p:sp>
        <p:nvSpPr>
          <p:cNvPr id="15" name="step-detail-3">
            <a:extLst xmlns:a="http://schemas.openxmlformats.org/drawingml/2006/main">
              <a:ext uri="{FF2B5EF4-FFF2-40B4-BE49-F238E27FC236}">
                <a16:creationId xmlns:a16="http://schemas.microsoft.com/office/drawing/2014/main" id="{1B65D8E4-71BE-4771-B743-429E44AD3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724400"/>
            <a:ext cx="6858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7085"/>
                </a:solidFill>
              </a:defRPr>
            </a:pPr>
            <a:r>
              <a:rPr sz="1350">
                <a:solidFill>
                  <a:srgbClr val="667085"/>
                </a:solidFill>
              </a:rPr>
              <a:t>Child process or stronger isolation with no network/env/file/secret leakage and byte lifecycle tests.</a:t>
            </a:r>
          </a:p>
        </p:txBody>
      </p:sp>
      <p:sp>
        <p:nvSpPr>
          <p:cNvPr id="16" name="step-number-4">
            <a:extLst xmlns:a="http://schemas.openxmlformats.org/drawingml/2006/main">
              <a:ext uri="{FF2B5EF4-FFF2-40B4-BE49-F238E27FC236}">
                <a16:creationId xmlns:a16="http://schemas.microsoft.com/office/drawing/2014/main" id="{FB4C11A4-ADC7-478B-96B9-7CDF143A3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41198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</p:spPr>
      </p:sp>
      <p:sp>
        <p:nvSpPr>
          <p:cNvPr id="17" name="step-number-text-4">
            <a:extLst xmlns:a="http://schemas.openxmlformats.org/drawingml/2006/main">
              <a:ext uri="{FF2B5EF4-FFF2-40B4-BE49-F238E27FC236}">
                <a16:creationId xmlns:a16="http://schemas.microsoft.com/office/drawing/2014/main" id="{3DC377BC-12F8-42D5-9B01-E700D7804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552950"/>
            <a:ext cx="533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step-title-4">
            <a:extLst xmlns:a="http://schemas.openxmlformats.org/drawingml/2006/main">
              <a:ext uri="{FF2B5EF4-FFF2-40B4-BE49-F238E27FC236}">
                <a16:creationId xmlns:a16="http://schemas.microsoft.com/office/drawing/2014/main" id="{A0476839-F99E-40ED-AF78-C8D4594A8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419600"/>
            <a:ext cx="7219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LLM-owned evidence semantics</a:t>
            </a:r>
          </a:p>
        </p:txBody>
      </p:sp>
      <p:sp>
        <p:nvSpPr>
          <p:cNvPr id="19" name="step-detail-4">
            <a:extLst xmlns:a="http://schemas.openxmlformats.org/drawingml/2006/main">
              <a:ext uri="{FF2B5EF4-FFF2-40B4-BE49-F238E27FC236}">
                <a16:creationId xmlns:a16="http://schemas.microsoft.com/office/drawing/2014/main" id="{2F585F4F-C70B-499B-8E07-45169A404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724400"/>
            <a:ext cx="6629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7085"/>
                </a:solidFill>
              </a:defRPr>
            </a:pPr>
            <a:r>
              <a:rPr sz="1350">
                <a:solidFill>
                  <a:srgbClr val="667085"/>
                </a:solidFill>
              </a:rPr>
              <a:t>Applicability, extraction, sufficiency, probative value, and scarcity stay out of deterministic code.</a:t>
            </a:r>
          </a:p>
        </p:txBody>
      </p:sp>
      <p:sp>
        <p:nvSpPr>
          <p:cNvPr id="20" name="step-number-5">
            <a:extLst xmlns:a="http://schemas.openxmlformats.org/drawingml/2006/main">
              <a:ext uri="{FF2B5EF4-FFF2-40B4-BE49-F238E27FC236}">
                <a16:creationId xmlns:a16="http://schemas.microsoft.com/office/drawing/2014/main" id="{D92A9F9D-2F80-4BE7-9063-E2C6C31B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97992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</p:spPr>
      </p:sp>
      <p:sp>
        <p:nvSpPr>
          <p:cNvPr id="21" name="step-number-text-5">
            <a:extLst xmlns:a="http://schemas.openxmlformats.org/drawingml/2006/main">
              <a:ext uri="{FF2B5EF4-FFF2-40B4-BE49-F238E27FC236}">
                <a16:creationId xmlns:a16="http://schemas.microsoft.com/office/drawing/2014/main" id="{6500BF1A-2A68-46E6-A5CE-68C391215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105650"/>
            <a:ext cx="533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step-title-5">
            <a:extLst xmlns:a="http://schemas.openxmlformats.org/drawingml/2006/main">
              <a:ext uri="{FF2B5EF4-FFF2-40B4-BE49-F238E27FC236}">
                <a16:creationId xmlns:a16="http://schemas.microsoft.com/office/drawing/2014/main" id="{58C6785F-A2E1-4A8A-90D3-FA31F7D18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972300"/>
            <a:ext cx="7219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ReportResult authority</a:t>
            </a:r>
          </a:p>
        </p:txBody>
      </p:sp>
      <p:sp>
        <p:nvSpPr>
          <p:cNvPr id="23" name="step-detail-5">
            <a:extLst xmlns:a="http://schemas.openxmlformats.org/drawingml/2006/main">
              <a:ext uri="{FF2B5EF4-FFF2-40B4-BE49-F238E27FC236}">
                <a16:creationId xmlns:a16="http://schemas.microsoft.com/office/drawing/2014/main" id="{7AA8308F-0174-46E9-88D6-133F91CF6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7296150"/>
            <a:ext cx="6858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7085"/>
                </a:solidFill>
              </a:defRPr>
            </a:pPr>
            <a:r>
              <a:rPr sz="1350">
                <a:solidFill>
                  <a:srgbClr val="667085"/>
                </a:solidFill>
              </a:rPr>
              <a:t>One writer owns verdict, confidence, warnings, evidence transparency, and compatibility adapters.</a:t>
            </a:r>
          </a:p>
        </p:txBody>
      </p:sp>
      <p:sp>
        <p:nvSpPr>
          <p:cNvPr id="24" name="step-number-6">
            <a:extLst xmlns:a="http://schemas.openxmlformats.org/drawingml/2006/main">
              <a:ext uri="{FF2B5EF4-FFF2-40B4-BE49-F238E27FC236}">
                <a16:creationId xmlns:a16="http://schemas.microsoft.com/office/drawing/2014/main" id="{547974F5-906F-4259-A1B2-122443FF9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697992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</p:spPr>
      </p:sp>
      <p:sp>
        <p:nvSpPr>
          <p:cNvPr id="25" name="step-number-text-6">
            <a:extLst xmlns:a="http://schemas.openxmlformats.org/drawingml/2006/main">
              <a:ext uri="{FF2B5EF4-FFF2-40B4-BE49-F238E27FC236}">
                <a16:creationId xmlns:a16="http://schemas.microsoft.com/office/drawing/2014/main" id="{EA7C7F69-BA5E-48C8-9DC9-784D00CD5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7105650"/>
            <a:ext cx="533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6" name="step-title-6">
            <a:extLst xmlns:a="http://schemas.openxmlformats.org/drawingml/2006/main">
              <a:ext uri="{FF2B5EF4-FFF2-40B4-BE49-F238E27FC236}">
                <a16:creationId xmlns:a16="http://schemas.microsoft.com/office/drawing/2014/main" id="{BA6139A0-C351-48FD-A193-53C9F3D8C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6972300"/>
            <a:ext cx="7219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Replay and comparator validation</a:t>
            </a:r>
          </a:p>
        </p:txBody>
      </p:sp>
      <p:sp>
        <p:nvSpPr>
          <p:cNvPr id="27" name="step-detail-6">
            <a:extLst xmlns:a="http://schemas.openxmlformats.org/drawingml/2006/main">
              <a:ext uri="{FF2B5EF4-FFF2-40B4-BE49-F238E27FC236}">
                <a16:creationId xmlns:a16="http://schemas.microsoft.com/office/drawing/2014/main" id="{7FDD2303-62B9-41CD-B212-CA85835D1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7296150"/>
            <a:ext cx="7258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7085"/>
                </a:solidFill>
              </a:defRPr>
            </a:pPr>
            <a:r>
              <a:rPr sz="1350">
                <a:solidFill>
                  <a:srgbClr val="667085"/>
                </a:solidFill>
              </a:rPr>
              <a:t>Captain-defined inputs, comparator reports, Q-code checks, multilingual neutrality, and rollback profiles.</a:t>
            </a:r>
          </a:p>
        </p:txBody>
      </p:sp>
      <p:sp>
        <p:nvSpPr>
          <p:cNvPr id="28" name="source-rail">
            <a:extLst xmlns:a="http://schemas.openxmlformats.org/drawingml/2006/main">
              <a:ext uri="{FF2B5EF4-FFF2-40B4-BE49-F238E27FC236}">
                <a16:creationId xmlns:a16="http://schemas.microsoft.com/office/drawing/2014/main" id="{763CC34A-DA2E-4155-96CA-91C5DC76D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44050"/>
            <a:ext cx="16611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8B8271"/>
                </a:solidFill>
              </a:defRPr>
            </a:pPr>
            <a:r>
              <a:rPr sz="975">
                <a:solidFill>
                  <a:srgbClr val="8B8271"/>
                </a:solidFill>
              </a:rPr>
              <a:t>FactHarbor V2 Pipeline Assessment | External Advisor Review | 2026-05-16</a:t>
            </a:r>
          </a:p>
        </p:txBody>
      </p:sp>
    </p:spTree>
    <p:extLst>
      <p:ext uri="{BB962C8B-B14F-4D97-AF65-F5344CB8AC3E}">
        <p14:creationId xmlns:p14="http://schemas.microsoft.com/office/powerpoint/2010/main" val="180662197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B1DB62E8-7C5B-46C3-AFCE-C899F1E57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F54C80F-BF4C-420E-9F71-EBABEA79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"/>
            <a:ext cx="166116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33"/>
                </a:solidFill>
              </a:defRPr>
            </a:pPr>
            <a:r>
              <a:rPr sz="4050" b="1">
                <a:solidFill>
                  <a:srgbClr val="172033"/>
                </a:solidFill>
              </a:rPr>
              <a:t>Leadership Decisions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12369A8-EFF9-4C4C-B9EF-B89CB2931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95400"/>
            <a:ext cx="16611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7085"/>
                </a:solidFill>
              </a:defRPr>
            </a:pPr>
            <a:r>
              <a:rPr sz="1800">
                <a:solidFill>
                  <a:srgbClr val="667085"/>
                </a:solidFill>
              </a:rPr>
              <a:t>The next operating decision is not whether V2 is worthwhile. It is how to keep it from inheriting V1 complexity in a new form.</a:t>
            </a:r>
          </a:p>
        </p:txBody>
      </p:sp>
      <p:sp>
        <p:nvSpPr>
          <p:cNvPr id="4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BD9927E4-B3A8-470C-94ED-E4EF8EC32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404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</p:spPr>
      </p:sp>
      <p:sp>
        <p:nvSpPr>
          <p:cNvPr id="5" name="step-number-text-1">
            <a:extLst xmlns:a="http://schemas.openxmlformats.org/drawingml/2006/main">
              <a:ext uri="{FF2B5EF4-FFF2-40B4-BE49-F238E27FC236}">
                <a16:creationId xmlns:a16="http://schemas.microsoft.com/office/drawing/2014/main" id="{0E9E6ED1-1FE5-4F61-88BB-06617BDCF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81200"/>
            <a:ext cx="533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DB609AF4-1A59-4AFB-B343-C7E1A67B8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847850"/>
            <a:ext cx="15887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Continue V2 as the strategic path</a:t>
            </a:r>
          </a:p>
        </p:txBody>
      </p:sp>
      <p:sp>
        <p:nvSpPr>
          <p:cNvPr id="7" name="step-detail-1">
            <a:extLst xmlns:a="http://schemas.openxmlformats.org/drawingml/2006/main">
              <a:ext uri="{FF2B5EF4-FFF2-40B4-BE49-F238E27FC236}">
                <a16:creationId xmlns:a16="http://schemas.microsoft.com/office/drawing/2014/main" id="{E333A997-ED42-468A-861C-D5663ADCD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171700"/>
            <a:ext cx="7658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7085"/>
                </a:solidFill>
              </a:defRPr>
            </a:pPr>
            <a:r>
              <a:rPr sz="1350">
                <a:solidFill>
                  <a:srgbClr val="667085"/>
                </a:solidFill>
              </a:rPr>
              <a:t>The replacement architecture is directionally correct and materially better aligned with FactHarbor trust goals.</a:t>
            </a:r>
          </a:p>
        </p:txBody>
      </p:sp>
      <p:sp>
        <p:nvSpPr>
          <p:cNvPr id="8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679E7DB5-4BAD-461D-9F6D-18A6ED9F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6131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2318"/>
          </a:solidFill>
        </p:spPr>
      </p:sp>
      <p:sp>
        <p:nvSpPr>
          <p:cNvPr id="9" name="step-number-text-2">
            <a:extLst xmlns:a="http://schemas.openxmlformats.org/drawingml/2006/main">
              <a:ext uri="{FF2B5EF4-FFF2-40B4-BE49-F238E27FC236}">
                <a16:creationId xmlns:a16="http://schemas.microsoft.com/office/drawing/2014/main" id="{1904B845-FEBB-423A-B985-39682C8E8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90850"/>
            <a:ext cx="533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71ED06C4-A7FB-40BA-94B2-1F708A270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857500"/>
            <a:ext cx="15887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Declare static approval/model policy removal a P1 milestone</a:t>
            </a:r>
          </a:p>
        </p:txBody>
      </p:sp>
      <p:sp>
        <p:nvSpPr>
          <p:cNvPr id="11" name="step-detail-2">
            <a:extLst xmlns:a="http://schemas.openxmlformats.org/drawingml/2006/main">
              <a:ext uri="{FF2B5EF4-FFF2-40B4-BE49-F238E27FC236}">
                <a16:creationId xmlns:a16="http://schemas.microsoft.com/office/drawing/2014/main" id="{C9C5C865-80E9-495D-AA1A-57B2B20C9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181350"/>
            <a:ext cx="51244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7085"/>
                </a:solidFill>
              </a:defRPr>
            </a:pPr>
            <a:r>
              <a:rPr sz="1350">
                <a:solidFill>
                  <a:srgbClr val="667085"/>
                </a:solidFill>
              </a:rPr>
              <a:t>Do not let temporary code constants cross the broad-execution boundary.</a:t>
            </a:r>
          </a:p>
        </p:txBody>
      </p:sp>
      <p:sp>
        <p:nvSpPr>
          <p:cNvPr id="12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2A1789B1-FD41-433D-A33C-CEFE1D0C6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7858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8A18"/>
          </a:solidFill>
        </p:spPr>
      </p:sp>
      <p:sp>
        <p:nvSpPr>
          <p:cNvPr id="13" name="step-number-text-3">
            <a:extLst xmlns:a="http://schemas.openxmlformats.org/drawingml/2006/main">
              <a:ext uri="{FF2B5EF4-FFF2-40B4-BE49-F238E27FC236}">
                <a16:creationId xmlns:a16="http://schemas.microsoft.com/office/drawing/2014/main" id="{181D0625-EEC8-4C01-988F-EE65928D5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19550"/>
            <a:ext cx="533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step-title-3">
            <a:extLst xmlns:a="http://schemas.openxmlformats.org/drawingml/2006/main">
              <a:ext uri="{FF2B5EF4-FFF2-40B4-BE49-F238E27FC236}">
                <a16:creationId xmlns:a16="http://schemas.microsoft.com/office/drawing/2014/main" id="{DDAE4DA9-88AE-4533-8CFE-2B519E32A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886200"/>
            <a:ext cx="15887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Fund the readiness register and drift tests</a:t>
            </a:r>
          </a:p>
        </p:txBody>
      </p:sp>
      <p:sp>
        <p:nvSpPr>
          <p:cNvPr id="15" name="step-detail-3">
            <a:extLst xmlns:a="http://schemas.openxmlformats.org/drawingml/2006/main">
              <a:ext uri="{FF2B5EF4-FFF2-40B4-BE49-F238E27FC236}">
                <a16:creationId xmlns:a16="http://schemas.microsoft.com/office/drawing/2014/main" id="{D89505A0-8CCD-4742-BA57-8FD758B6C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191000"/>
            <a:ext cx="83058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7085"/>
                </a:solidFill>
              </a:defRPr>
            </a:pPr>
            <a:r>
              <a:rPr sz="1350">
                <a:solidFill>
                  <a:srgbClr val="667085"/>
                </a:solidFill>
              </a:rPr>
              <a:t>One manifest should join prompt section, schema, gateway policy, model policy, cache policy, approval, and active hash.</a:t>
            </a:r>
          </a:p>
        </p:txBody>
      </p:sp>
      <p:sp>
        <p:nvSpPr>
          <p:cNvPr id="16" name="step-number-4">
            <a:extLst xmlns:a="http://schemas.openxmlformats.org/drawingml/2006/main">
              <a:ext uri="{FF2B5EF4-FFF2-40B4-BE49-F238E27FC236}">
                <a16:creationId xmlns:a16="http://schemas.microsoft.com/office/drawing/2014/main" id="{34F9F098-208F-4F0F-B40F-FD65E2992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9585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</p:spPr>
      </p:sp>
      <p:sp>
        <p:nvSpPr>
          <p:cNvPr id="17" name="step-number-text-4">
            <a:extLst xmlns:a="http://schemas.openxmlformats.org/drawingml/2006/main">
              <a:ext uri="{FF2B5EF4-FFF2-40B4-BE49-F238E27FC236}">
                <a16:creationId xmlns:a16="http://schemas.microsoft.com/office/drawing/2014/main" id="{D3535E60-A068-4419-81CC-43746458D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29200"/>
            <a:ext cx="533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step-title-4">
            <a:extLst xmlns:a="http://schemas.openxmlformats.org/drawingml/2006/main">
              <a:ext uri="{FF2B5EF4-FFF2-40B4-BE49-F238E27FC236}">
                <a16:creationId xmlns:a16="http://schemas.microsoft.com/office/drawing/2014/main" id="{6A6CE4C9-16C8-45FC-8EE3-B245A0672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895850"/>
            <a:ext cx="15887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Require a launch-quality validation phase</a:t>
            </a:r>
          </a:p>
        </p:txBody>
      </p:sp>
      <p:sp>
        <p:nvSpPr>
          <p:cNvPr id="19" name="step-detail-4">
            <a:extLst xmlns:a="http://schemas.openxmlformats.org/drawingml/2006/main">
              <a:ext uri="{FF2B5EF4-FFF2-40B4-BE49-F238E27FC236}">
                <a16:creationId xmlns:a16="http://schemas.microsoft.com/office/drawing/2014/main" id="{96D05F02-57AB-4E34-A675-443B19A2F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219700"/>
            <a:ext cx="84582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7085"/>
                </a:solidFill>
              </a:defRPr>
            </a:pPr>
            <a:r>
              <a:rPr sz="1350">
                <a:solidFill>
                  <a:srgbClr val="667085"/>
                </a:solidFill>
              </a:rPr>
              <a:t>Stored-packet replay, comparator reports, input neutrality, multilingual scenarios, warning materiality, and rollback before public cutover.</a:t>
            </a:r>
          </a:p>
        </p:txBody>
      </p:sp>
      <p:sp>
        <p:nvSpPr>
          <p:cNvPr id="20" name="source-rail">
            <a:extLst xmlns:a="http://schemas.openxmlformats.org/drawingml/2006/main">
              <a:ext uri="{FF2B5EF4-FFF2-40B4-BE49-F238E27FC236}">
                <a16:creationId xmlns:a16="http://schemas.microsoft.com/office/drawing/2014/main" id="{CDD655EA-3FF0-45EC-8F13-026F7DEFA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44050"/>
            <a:ext cx="16611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8B8271"/>
                </a:solidFill>
              </a:defRPr>
            </a:pPr>
            <a:r>
              <a:rPr sz="975">
                <a:solidFill>
                  <a:srgbClr val="8B8271"/>
                </a:solidFill>
              </a:rPr>
              <a:t>FactHarbor V2 Pipeline Assessment | External Advisor Review | 2026-05-16</a:t>
            </a:r>
          </a:p>
        </p:txBody>
      </p:sp>
    </p:spTree>
    <p:extLst>
      <p:ext uri="{BB962C8B-B14F-4D97-AF65-F5344CB8AC3E}">
        <p14:creationId xmlns:p14="http://schemas.microsoft.com/office/powerpoint/2010/main" val="15260483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2026-05-16T08:17:25.9310000Z</dcterms:created>
  <dcterms:modified xsi:type="dcterms:W3CDTF">2026-05-16T08:17:25.9310000Z</dcterms:modified>
</coreProperties>
</file>